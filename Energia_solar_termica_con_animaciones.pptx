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308" r:id="rId59"/>
    <p:sldId id="267" r:id="rId13"/>
    <p:sldId id="268" r:id="rId14"/>
    <p:sldId id="269" r:id="rId15"/>
    <p:sldId id="270" r:id="rId16"/>
    <p:sldId id="271" r:id="rId17"/>
    <p:sldId id="272" r:id="rId18"/>
    <p:sldId id="273" r:id="rId19"/>
    <p:sldId id="307" r:id="rId58"/>
    <p:sldId id="274" r:id="rId20"/>
    <p:sldId id="275" r:id="rId21"/>
    <p:sldId id="276" r:id="rId22"/>
    <p:sldId id="306" r:id="rId57"/>
    <p:sldId id="277" r:id="rId23"/>
    <p:sldId id="305" r:id="rId56"/>
    <p:sldId id="278" r:id="rId24"/>
    <p:sldId id="279" r:id="rId25"/>
    <p:sldId id="280" r:id="rId26"/>
    <p:sldId id="281" r:id="rId27"/>
    <p:sldId id="282" r:id="rId28"/>
    <p:sldId id="283" r:id="rId29"/>
    <p:sldId id="284" r:id="rId30"/>
    <p:sldId id="285" r:id="rId31"/>
    <p:sldId id="286" r:id="rId32"/>
    <p:sldId id="304" r:id="rId55"/>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buenos días, profesor y compañeros. Soy María Carolina Cantillo y él es Pablo Forero. Hoy vamos a hablar de energía solar térmica: cómo la radiación solar se convierte en calor útil, cómo se diseña un sistema para Barranquilla y cómo se prueba según la norma. Al final hay un taller de 30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una hora llega a la Tierra más energía solar de la que la humanidad consume en un año (Thomson, 2006). ¿Quién ha abierto la manguera del patio al mediodía y le ha salido agua casi hirviendo? Esa manguera es, en esencia, un colector solar sin cubierta, el mismo tipo que se usa para calentar piscinas.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la clase tiene cuatro bloques. Primero, historia y contexto. Segundo, tecnologías y principio físico, donde deducimos la ecuación de eficiencia del colector. Tercero, diseño y dimensionado con un ejemplo para una vivienda en Barranquilla. Cuarto, acoplamiento a frío, calor de proceso y electricidad, aplicaciones no convencionales y normativa. Las fuentes de cada diapositiva están al pie.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al terminar la clase deberían poder explicar cada término de la ecuación Qu = A·FR·[G(τα) − UL(Ti − Ta)], escoger un tipo de colector según la temperatura de trabajo y dimensionar un sistema doméstico.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la energía solar térmica no es nueva. En 1767, Saussure hizo la primera descripción académica de un cocinador solar («Solar cooker», s. f.). En 1878, Augustin Mouchot ganó una medalla de oro en la Exposición de París con una máquina solar que producía hielo (BIE, 2017). En 1891, Clarence Kemp patentó en Baltimore el Climax, un calentador solar comercial (NIHF, s. f.). En 1913, Frank Shuman instaló en Egipto colectores de canal que movían un motor de 60 a 70 hp para bombear agua del Nilo («Frank Shuman», s. f.). En 1980, Israel fue el primer país en exigir calentadores solares en los edificios (Epp, 2015). La Primera Guerra Mundial y el petróleo barato de los años treinta frenaron su desarrollo («Frank Shuman», s.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la térmica convierte la radiación en calor; la fotovoltaica, en electricidad (Duffie et al., 2020). Un colector puede superar el 60 % de eficiencia, muy por encima de un panel fotovoltaico. Pero el calor a 50 °C, con ambiente a 30 °C, tiene poca exergía: su factor de Carnot es 1 − 303/323 ≈ 0,06. Por eso no se comparan por eficiencia sino por el servicio: para agua caliente, el colector; para electricidad, la fotovoltaica, salvo cuando se necesita almacenar energía barata como calor. Pregunta: si necesito agua caliente en casa, ¿qué pondrían en el techo?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a finales de 2023 había 560 GWth de colectores en operación, unos 800 millones de metros cuadrados (IEA SHC, 2024); la IEA convierte área en potencia con 0,7 kWth por metro cuadrado. El mercado cayó 14 % en 2024 (IEA SHC, 2025). La concentración solar sumaba 7,2 GW eléctricos (REN21, 2025). El 97 % de la demanda final de calor está en edificios e industria, y casi todo ese calor viene de combustibles (IEA SHC, 2024). Pregunta: ¿por qué el calor solar es tan poco visible si el calor pesa tanto en la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2024 se instalaron 17,8 GWth nuevos; las redes de calefacción solar llegan a 346 ciudades y 46 fabricantes vendieron colectores híbridos PVT, un récord (IEA SHC, 2025). Estos últimos enfrían la celda, que gana eficiencia, y entregan calor de baja temperatura. México, Brasil y Türkiye crecieron a dos dígitos (IEA SHC, 2025). El calor para la industria lo vemos en la diapositiva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2024 se conectaron 350 MW de concentración solar, 250 de ellos en China, que además tenía 3,3 GW en construcción (REN21, 2025). España tiene la mayor base, 2,3 GW, y Estados Unidos sigue con 1,5 GW (REN21, 2025). Ivanpah, una torre de 386 MW sin almacenamiento, tenía cierre previsto para 2026 (REN21, 2025): sin almacenamiento compite hora a hora con la fotovoltaica y pierde. Por eso la tendencia en China es combinar concentración con fotovoltaica y eólica.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Caribe está entre las zonas de mayor radiación del país, y Uribia, en La Guajira, tiene el mayor brillo solar medio, unas 8,3 horas al día (Benavides, 2018). El Niño y La Niña cambian la radiación global entre 5 y 10 % respecto al promedio (Benavides, 2018). En Barranquilla el agua de la red llega a 27 o 28 °C, así que el salto térmico es pequeño y el colector trabaja en su zona más eficiente. Para vivienda de interés social en Colombia, la inclinación, la orientación y el volumen del tanque son los factores clave (Marín Quiroga y Solís-Chaves, 2026). El marco legal son las leyes 1715 de 2014 y 2099 de 2021. No encontramos una cifra oficial de colectores instalados en el país.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irradiancia G, en W/m², es potencia instantánea; irradiación H, en kWh/m² al día, es energía acumulada. Como la irradiancia de referencia es 1000 W/m², H coincide numéricamente con las horas sol pico (Duffie et al., 2020). Para diseñar se necesita la irradiación sobre el plano inclinado, que se calcula con modelos de transposición como el isotrópico de Liu y Jordan o el de Hay-Davies-Klucher-Reindl (Duffie et al., 2020). El dato se consulta en el atlas de IDEAM y UPME (2005) o en el Global Solar Atlas (Banco Mundial y Solargis, s. f.). Nuestro 5,2 kWh/m²·día es un supuesto; pueden compararlo en el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el modelo isotrópico, IT = Ib·Rb + Id·(1 + cos β)/2 + I·ρg·(1 − cos β)/2: directa, difusa y reflejada (Duffie et al., 2020). Con inclinaciones de 10 a 15 grados, el término reflejado casi desaparece. Los espejos de concentración solo aprovechan la directa (Duffie et al., 2020). Pregunta: ¿por qué una planta de concentración rendiría menos en Barranquilla que en Atacama? Porque la humedad y las nubes aumentan la fracción difusa.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la captación crece con el área de apertura y las pérdidas con el área del receptor y la diferencia de temperatura. Concentrar la luz en un receptor pequeño reduce las pérdidas y permite subir la temperatura. Así se ordenan las tecnologías: sin cubierta para piscinas, plano hasta 80 °C, tubos de vacío hasta 150 °C, cilindros y Fresnel hasta 400 °C, torres y discos a 600 °C o más (Kalogirou, 2009). En Barranquilla, el agua caliente se resuelve con plano o tubos.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la placa absorbe la radiación y conduce el calor hacia los tubos como una aleta, con eficiencia F = tanh(mL)/(mL) y m = √(UL/kδ) (Duffie et al., 2020). Con tubos cada 12 cm, el cobre de 0,5 mm da F ≈ 0,97; el aluminio de 0,4 mm, 0,95; el acero de 0,5 mm, 0,84. Con la soldadura y la convección interna se obtiene F', cercano a 0,9. Las pérdidas superiores dominan, y para el viento se usa hw ≈ 2,8 + 3v (Duffie et al., 2020). Pregunta: si quito el vidrio, ¿qué gano y qué pierdo?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dos tubos de vidrio concéntricos con vacío entre ellos eliminan la conducción y la convección; solo queda la radiación, que controla el recubrimiento selectivo (Kalogirou, 2009). Con tubo de calor, un fluido se evapora, sube, se condensa en el cabezal y entrega el calor, por eso necesita una inclinación mínima. La mancha plateada en el extremo de cada tubo, el getter de bario, se vuelve blanca cuando el tubo pierde el vacío (Kalogirou,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según la leyenda, Arquímedes incendió barcos romanos en Siracusa con espejos. En 2005, estudiantes del MIT lo probaron con 127 espejos de 30 cm y encendieron una maqueta de barco en menos de 10 minutos (MIT 2.009, 2005). No prueba que haya ocurrido, pero el principio es el de una torre solar: muchos espejos planos apuntando a un solo receptor.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la razón de concentración es C = área de apertura / área del receptor. El tamaño aparente del sol, con semiángulo de 0,267°, fija el máximo: 1/sin θs ≈ 215 en concentración lineal y 1/sin² θs ≈ 46 000 en puntual. Los cilindros parabólicos trabajan con C de 15 a 45 y los Fresnel de 10 a 40, por errores de espejo y de seguimiento (Kalogirou, 2009). El Fresnel usa espejos planos cerca del suelo, más baratos y con menos carga de viento. Pregunta: ¿por qué el cilindro necesita seguir al sol y el colector plano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concentración puntual se sigue al sol en dos ejes. El campo de una torre pierde por efecto coseno, sombras y bloqueos, pero el receptor alcanza temperaturas altas y alimenta un ciclo de vapor eficiente (Kalogirou, 2009). Hay una temperatura óptima: al subirla mejora Carnot pero crecen las pérdidas radiativas. Con η = [α − εσT⁴/(C·G)]·(1 − Ta/T), el óptimo sale cerca de 410 °C para C = 80 y de 820 °C para C = 1000. El disco Stirling es muy eficiente, pero no admite almacenamiento y casi no se comercializa.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Gemasolar, en la provincia de Sevilla, tiene 19,9 MW, 2650 heliostatos alrededor de una torre de 140 m y genera hasta 15 horas sin sol; produce unos 80 GWh al año («Gemasolar Thermosolar Plant», s. f.). Su factor de capacidad es 80 000 / (19,9 × 8760) ≈ 0,46, muy alto para una planta solar. El campo es circular porque el receptor es cilíndrico y recibe luz por todos los 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un sistema doméstico tiene colector, tubería, tanque y apoyo auxiliar (Duffie et al., 2020). En directo circula el agua de consumo: simple y barato, pero con agua dura el carbonato de calcio se incrusta en las zonas calientes, como el sarro en una olla. En indirecto, un fluido en circuito cerrado transfiere el calor por un intercambiador, con una pequeña penalización de eficiencia (Kalogirou, 2009). La resistencia de apoyo va en la parte alta del tanque para no mezclar el agua caliente con la fría.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el termosifón, el agua caliente, menos densa, sube sola al tanque. La presión impulsora es Δp = g·H·(ρfrío − ρcaliente) (Duffie et al., 2020); con agua a 25 y 55 °C y un metro de altura son unos 110 Pa, por eso las tuberías deben ser cortas y amplias. En circulación forzada, el control diferencial enciende la bomba cuando el colector supera al tanque en 5 a 8 K y la apaga por debajo de 1 a 2 K (Kalogirou, 2009). Pregunta: en un edificio con el tanque en el sótano, ¿cuál usarían?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principio físico es un balance de energía: lo que absorbe la placa es igual a lo que pierde más lo que se lleva el fluido. La energía absorbida por unidad de área es S = G·(τα), y (τα) es algo mayor que τ por α porque la luz reflejada por la placa rebota en el vidrio y vuelve: (τα) = τα / [1 − (1 − α)ρd] ≈ 1,01·τα (Duffie et al., 2020). Es lo mismo que le pasa a un carro parqueado al sol: el vidrio deja entrar la luz, pero el calor no sale. Pregunta: ¿por qué una lámina negra mate se calienta rápido pero también se enfría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calor útil es Qu = A·[S − UL(Tp − Ta)], pero la temperatura de la placa no se mide fácil. Hottel, Whillier y Bliss lo escribieron con la temperatura de entrada del fluido y el factor de remoción FR = (ṁcp / A·UL)·[1 − exp(−A·UL·F' / ṁcp)] (Duffie et al., 2020). Con F' = 0,91 y 0,015 kg/s por m², FR ≈ 0,88, UL ≈ 5,1 W/m²K y (τα) ≈ 0,855, coherente con τ = 0,9 y α = 0,95. A 40 °C y 800 W/m², cerca de 15 % se pierde en la óptica, 16 % en pérdidas térmicas y 69 % llega al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dividiendo por A·G queda la recta η = FR(τα) − FR·UL·(Ti − Ta)/G (Duffie et al., 2020): la ordenada es la eficiencia óptica y la pendiente, las pérdidas. UL crece con la temperatura, por eso la ISO 9806 usa un modelo cuadrático, η = η0 − a1·x − a2·G·x², con la temperatura media del fluido (ISO, 2025). Donde la recta corta el eje está el estancamiento: 133 K sobre el ambiente para el plano según el modelo lineal, más que el valor real. Plano y tubos se cruzan en x = 0,033, unos 27 K sobre el ambiente con 800 W/m². Pregunta: ¿un calentador doméstico en Barranquilla está a la izquierda o a la derecha del cruce?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97 % de la energía solar llega por debajo de 2,5 μm, mientras que una placa a 80 °C emite menos del 0,01 % por debajo de esa longitud (cálculo propio con la ley de Planck). Como los espectros casi no se solapan, una superficie puede ser negra para el sol y casi un espejo para el infrarrojo. El cromo negro y los cermet logran absortancias de 0,93 a 0,96 con emitancias de 0,04 a 0,15 (Kalogirou,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con Stefan-Boltzmann, σ(Tp⁴ − Ta⁴) a 353,15 y 303,15 K da unos 403 W/m² (Duffie et al., 2020). Con pintura negra, ε = 0,95, se pierden 383 W/m²; con superficie selectiva, ε = 0,05, solo 20 W/m². Pregunta: si la radiación baja 19 veces, ¿por qué UL no baja 19 veces? Porque siguen la convección entre placa y vidrio y las pérdidas por el fondo y los bordes.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el vidrio es de bajo hierro porque el hierro absorbe en el infrarrojo cercano; por eso el canto de un vidrio común se ve verdoso (Duffie et al., 2020). El cobre conduce unos 385 W/m·K, el aluminio 237 y el acero 50, y eso explica las eficiencias de aleta de 0,97, 0,95 y 0,84. El aislamiento debe aguantar la temperatura de estancamiento, que puede pasar de 150 °C (Kalogirou, 2009). En Barranquilla, la brisa marina favorece la corrosión galvánica entre cobre y aluminio, así que las uniones se aíslan.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diseño tiene cuatro pasos (Duffie et al., 2020). Uno, la demanda: Q = m·cp·(Tuso − Tred). Dos, el recurso sobre el plano inclinado; en Barranquilla, a unos 11° norte, la inclinación ronda los 10 a 15°, nunca menos de 10° para que la lluvia limpie el vidrio. Tres, la eficiencia del colector a la temperatura de trabajo. Cuatro, el área: A = f·Q / (H·ηsis). Es un método estático; para un diseño profesional se usa f-chart o una simulación horaria como TRNSYS (Duffie et al.,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la eficiencia del colector, η = Qu/(A·G), es instantánea; la del sistema incluye tuberías, tanque e intercambiador, aquí con un factor supuesto de 0,85; la fracción solar f es la parte de la demanda que cubre el sol (Duffie et al., 2020). Con el plano a 40 °C, η = 0,75 − 4,5 × 10/800 = 0,69; a 70 °C, 0,525, mientras el tubo da 0,575. La curva se mide con incidencia casi normal y se corrige con Kτα = 1 − b0·(1/cos θ − 1); con b0 = 0,1 y 60°, la eficiencia óptica cae 10 % (ISO,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agua caliente se usa sobre todo en la mañana y en la noche, así que hay que almacenar. En calor sensible, Q = m·cp·ΔT, el agua es la mejor opción con 4,186 kJ/kg·K; en calor latente, con 200 kJ/kg, 209 kg de PCM guardan lo mismo que 400 L de agua calentados 25 K, aunque conducen mal el calor; el termoquímico sigue en investigación (Kalogirou, 2009). La estratificación importa: si el agua fría queda abajo, el colector la recibe más fría y rinde más (Duffie et al.,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la sal solar es 60 % nitrato de sodio y 40 % nitrato de potasio, los mismos compuestos que se usan como fertilizante. Se solidifica hacia 220 a 240 °C y se degrada cerca de 600 °C, por eso los tanques trabajan a 290 y 565 °C (Kalogirou, 2009). Con cp ≈ 1,5 kJ/kg·K, un MWh térmico necesita 8,7 toneladas de sal. VS1, en Australia, almacena 288 MWh (REN21,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vivienda de 4 personas en Barranquilla, 60 L por persona a 50 °C y agua de red a 28 °C. Q = 240 × 4,186 × 22 = 22 105 kJ, es decir 6,14 kWh al día. El colector a 40 °C de entrada rinde 0,69 y el sistema 0,59. Área para f = 0,8: 0,8 × 6,14 / (5,2 × 0,59) = 1,6 m² (método de Duffie et al., 2020). Los supuestos discutibles son una G representativa, una temperatura de entrada fija y el factor 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colector comercial más cercano tiene 1,85 m², así que f sube a 0,92. Tanque: 1 a 1,5 veces la demanda diaria, 240 a 360 L; elegimos 250 L (Duffie et al., 2020). Son 135 L por metro cuadrado, por encima del rango habitual de 50 a 100, porque el tanque no puede ser menor que el consumo de un día. Con 0,015 kg/s por m², el agua sube 8,8 K por paso. Al año son unos 2070 kWh. Pablo: multipliquen esa cifra por la tarifa del kWh de su recibo y tienen el ahorro frente a una ducha eléctrica.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área es inversamente proporcional a H: si H baja de 5,2 a 4,5, el área sube de 1,60 a 1,85 m², un 15 %. Esa diferencia puede ser un colector más. Por eso el dato debe venir de una fuente medida, como el atlas de IDEAM y UPME (2005) o el Global Solar Atlas (Banco Mundial y Solargis, s.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ventajas: eficiencias de captación de 50 a 70 %, tecnología madura y almacenamiento térmico barato (Kalogirou, 2009). Desventajas: el calor no se transporta lejos y la producción depende del clima. Limitaciones: el estancamiento, cuando no hay consumo y el fluido hierve, y en concentración, la necesidad de radiación directa y mucho terreno (REN21, 2025). Hoy la fotovoltaica con bomba de calor compite con el colector para agua caliente; la comparación se hace con el costo nivelado del calor.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una máquina de absorción de simple efecto usa calor entre 80 y 120 °C con un COP cercano a 0,7 (Kalogirou, 2009). El mismo calor sirve para agua caliente y procesos industriales, y en concentración, para mover un ciclo de vapor que con sales sigue generando de noche (REN21, 2025). Ejemplo: 10 kW de frío con COP 0,7 piden 14,3 kW de calor, unos 29 m² de colector con η = 0,55 y 900 W/m². En Barranquilla, el sol más fuerte coincide con las horas de más aire acondicionado.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ciclo de absorción reemplaza el compresor eléctrico por un compresor térmico: absorbedor, bomba y generador. El refrigerante es agua y el absorbente, bromuro de litio; el agua se evapora a unos 0,9 kPa, cerca de 5 °C, y enfría el circuito del edificio (Kalogirou, 2009). La solución diluida se bombea al generador, donde el calor solar separa de nuevo el agua. El COP ideal con 90, 35 y 7 °C es 1,5; las máquinas reales logran cerca de 0,7. Es la misma idea con la que Mouchot hacía hielo en 1878 (BIE,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en 2024 se pusieron en marcha al menos 106 plantas de calor solar industrial con 120 MW, un 28 % más que el año anterior, y había proyectos de varios megavatios en construcción para minas de cobre en Chile (IEA SHC, 2025). Muchos procesos de alimentos, bebidas y textiles usan calor por debajo de 100 °C, el rango de los colectores planos y de tubos (Kalogirou, 2009). Lo más común es precalentar el agua que entra a la caldera.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un destilador solar simple produce pocos litros por metro cuadrado al día, porque evaporar agua cuesta unos 2,3 MJ/kg; los sistemas multiefecto reutilizan ese calor (Kalogirou, 2009). También están el secado de café o cacao, las cocinas solares, los reactores que producen hidrógeno a más de 1000 °C y los colectores híbridos PVT, con 37,5 MWth instalados en 2024 (IEA SHC, 2025). El horno solar de Odeillo, en Francia, supera los 3000 °C. Pregunta: ¿cuál tendría sentido en una finca del Caribe?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la ISO 9806 define los ensayos de rendimiento y de durabilidad: presión, exposición, choque térmico, lluvia, impacto y estancamiento; de ahí salen η0, a1, a2 y el modificador de ángulo (ISO, 2025). La serie ISO 9459 evalúa sistemas completos, ASHRAE 93 es la referencia en Estados Unidos y Solar Keymark certifica en Europa. En Colombia, las leyes 1715 y 2099 dan incentivos tributarios con certificación de la UPME (PwC Colombia, 2025). Un colector sin ficha de ensayo no se puede dimensionar con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en el banco de ensayo se fija la temperatura de entrada con un baño termostático y se miden el caudal, las temperaturas de entrada y salida, la radiación con un piranómetro, la temperatura del aire y el viento (ISO, 2025). En cada punto estable, η = ṁ·cp·(To − Ti)/(A·G), y con varias temperaturas de entrada se ajusta la curva por mínimos cuadrados. La eficiencia se reporta sobre un área declarada, bruta o de apertura, y al comparar fichas hay que usar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y Pablo: cuatro ideas. El colector tiene más eficiencia que el panel, pero produce calor de baja exergía, así que cada tecnología tiene su servicio. El principio físico se resume en (τα), la superficie selectiva y UL, unidos en la ecuación de Hottel-Whillier-Bliss. El tipo de colector se elige por la temperatura de trabajo. Y el diseño depende de la radiación local medida y de los parámetros certificados. Abrimos un par de minutos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pasamos al taller. En parejas, 30 minutos, cinco problemas de un punto; se permite calculadora. Cada problema vale 1,0: 0,4 el planteamiento, 0,3 el procedimiento y las unidades, y 0,3 el resultado. María resuelve dudas en los puestos. Recogemos las hojas al minuto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las referencias están en formato APA 7 y en orden alfabético.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quedan proyectadas para revisión del profesor.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los dibujos son de elaboración propia a partir de las fuentes de cada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el reloj de la animación recorre 24 horas. De día el tanque caliente se llena; cuando se oculta el sol se va vaciando hacia el tanque frío, pero la turbina nunca se detiene. Eso es lo que permite a Gemasolar operar 15 horas sin sol («Gemasolar Thermosolar Plant», s.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0000000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María: en la animación las ondas amarillas, cortas, cruzan el vidrio sin problema. Las rojas, largas, salen de la placa y rebotan en el vidrio. El termómetro muestra que la placa se va calentando. Esa asimetría del vidrio es el efecto invernadero del colector (Duffie et al.,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000000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sigan las bolitas: se calientan en el colector, cambian de azul a rojo y suben solas al tanque. La fría sale por abajo del tanque y vuelve al colector. Nadie las empuja: es la diferencia de densidad (Duffie et al., 2020). Si hay tiempo, el enlace abre un vídeo corto con un calentador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0000000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aquí se ve la idea de la torre en movimiento: cada espejo se orienta para que el rayo reflejado caiga siempre en el mismo punto. El receptor se calienta hasta unos 565 °C, la temperatura de la sal caliente (Kalogirou, 2009; REN21, 2025). El enlace lleva a la página de Gemasolar, que veremos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0000000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miren cómo se mueve el punto: la irradiancia G sube desde el amanecer, llega al máximo al mediodía y cae al atardecer. El área naranja que se va llenando es la irradiación H. Al final aparece un rectángulo de 1000 W/m² por 5,2 horas: tiene la misma área, por eso H y las horas sol pico son el mismo número (Duffie et al., 2020). Con el enlace pueden abrir el Global Solar Atlas y buscar Barranquilla.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000000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4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64915"/>
            <a:ext cx="10566400" cy="447024"/>
          </a:xfrm>
          <a:prstGeom prst="rect">
            <a:avLst/>
          </a:prstGeom>
          <a:noFill/>
          <a:ln/>
        </p:spPr>
        <p:txBody>
          <a:bodyPr wrap="square" lIns="0" tIns="0" rIns="0" bIns="0" rtlCol="0" anchor="t"/>
          <a:lstStyle>
            <a:lvl1pPr algn="l" indent="0" marL="0">
              <a:lnSpc>
                <a:spcPct val="115000"/>
              </a:lnSpc>
              <a:buNone/>
              <a:defRPr lang="en-US" sz="3200" dirty="0">
                <a:solidFill>
                  <a:srgbClr val="2A1810"/>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16739"/>
            <a:ext cx="10566400" cy="4028461"/>
          </a:xfrm>
          <a:prstGeom prst="rect">
            <a:avLst/>
          </a:prstGeom>
          <a:noFill/>
          <a:ln/>
        </p:spPr>
        <p:txBody>
          <a:bodyPr wrap="square" lIns="0" tIns="0" rIns="0" bIns="0" rtlCol="0" anchor="t"/>
          <a:lstStyle>
            <a:lvl1pPr algn="l" indent="0" marL="0">
              <a:lnSpc>
                <a:spcPct val="140000"/>
              </a:lnSpc>
              <a:buNone/>
              <a:defRPr lang="en-US" sz="1600" dirty="0">
                <a:solidFill>
                  <a:srgbClr val="2A181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4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64915"/>
            <a:ext cx="10566400" cy="447024"/>
          </a:xfrm>
          <a:prstGeom prst="rect">
            <a:avLst/>
          </a:prstGeom>
          <a:noFill/>
          <a:ln/>
        </p:spPr>
        <p:txBody>
          <a:bodyPr wrap="square" lIns="0" tIns="0" rIns="0" bIns="0" rtlCol="0" anchor="t"/>
          <a:lstStyle>
            <a:lvl1pPr algn="l" indent="0" marL="0">
              <a:lnSpc>
                <a:spcPct val="115000"/>
              </a:lnSpc>
              <a:buNone/>
              <a:defRPr lang="en-US" sz="3200" dirty="0">
                <a:solidFill>
                  <a:srgbClr val="2A1810"/>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16739"/>
            <a:ext cx="10566400" cy="4028461"/>
          </a:xfrm>
          <a:prstGeom prst="rect">
            <a:avLst/>
          </a:prstGeom>
          <a:noFill/>
          <a:ln/>
        </p:spPr>
        <p:txBody>
          <a:bodyPr wrap="square" lIns="0" tIns="0" rIns="0" bIns="0" rtlCol="0" anchor="t"/>
          <a:lstStyle>
            <a:lvl1pPr algn="l" indent="0" marL="0">
              <a:lnSpc>
                <a:spcPct val="140000"/>
              </a:lnSpc>
              <a:buNone/>
              <a:defRPr lang="en-US" sz="1600" dirty="0">
                <a:solidFill>
                  <a:srgbClr val="2A181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 Id="rIdMIT" Type="http://schemas.openxmlformats.org/officeDocument/2006/relationships/hyperlink" Target="https://web.mit.edu/2.009_gallery/www/2005_other/archimedes/10_ArchimedesResult.html" TargetMode="Externa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2.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2.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image" Target="../media/sales_dia_noche.gif"/><Relationship Id="rId2" Type="http://schemas.openxmlformats.org/officeDocument/2006/relationships/slideLayout" Target="../slideLayouts/slideLayout2.xml"/><Relationship Id="rId3" Type="http://schemas.openxmlformats.org/officeDocument/2006/relationships/notesSlide" Target="../notesSlides/notesSlide49.xml"/><Relationship Id="rId4" Type="http://schemas.openxmlformats.org/officeDocument/2006/relationships/hyperlink" Target="https://vimeo.com/65344914" TargetMode="External"/></Relationships>
</file>

<file path=ppt/slides/_rels/slide50.xml.rels><?xml version="1.0" encoding="UTF-8" standalone="yes"?><Relationships xmlns="http://schemas.openxmlformats.org/package/2006/relationships"><Relationship Id="rId1" Type="http://schemas.openxmlformats.org/officeDocument/2006/relationships/image" Target="../media/efecto_invernadero.gif"/><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image" Target="../media/termosifon.gif"/><Relationship Id="rId2" Type="http://schemas.openxmlformats.org/officeDocument/2006/relationships/slideLayout" Target="../slideLayouts/slideLayout2.xml"/><Relationship Id="rId3" Type="http://schemas.openxmlformats.org/officeDocument/2006/relationships/notesSlide" Target="../notesSlides/notesSlide51.xml"/><Relationship Id="rId4" Type="http://schemas.openxmlformats.org/officeDocument/2006/relationships/hyperlink" Target="https://youtu.be/XCu_WxGTDyE" TargetMode="External"/></Relationships>
</file>

<file path=ppt/slides/_rels/slide52.xml.rels><?xml version="1.0" encoding="UTF-8" standalone="yes"?><Relationships xmlns="http://schemas.openxmlformats.org/package/2006/relationships"><Relationship Id="rId1" Type="http://schemas.openxmlformats.org/officeDocument/2006/relationships/image" Target="../media/torre_heliostatos.gif"/><Relationship Id="rId2" Type="http://schemas.openxmlformats.org/officeDocument/2006/relationships/slideLayout" Target="../slideLayouts/slideLayout2.xml"/><Relationship Id="rId3" Type="http://schemas.openxmlformats.org/officeDocument/2006/relationships/notesSlide" Target="../notesSlides/notesSlide52.xml"/><Relationship Id="rId4" Type="http://schemas.openxmlformats.org/officeDocument/2006/relationships/hyperlink" Target="https://en.wikipedia.org/wiki/Gemasolar_Thermosolar_Plant" TargetMode="External"/></Relationships>
</file>

<file path=ppt/slides/_rels/slide53.xml.rels><?xml version="1.0" encoding="UTF-8" standalone="yes"?><Relationships xmlns="http://schemas.openxmlformats.org/package/2006/relationships"><Relationship Id="rId1" Type="http://schemas.openxmlformats.org/officeDocument/2006/relationships/image" Target="../media/dia_radiacion.gif"/><Relationship Id="rId2" Type="http://schemas.openxmlformats.org/officeDocument/2006/relationships/slideLayout" Target="../slideLayouts/slideLayout2.xml"/><Relationship Id="rId3" Type="http://schemas.openxmlformats.org/officeDocument/2006/relationships/notesSlide" Target="../notesSlides/notesSlide53.xml"/><Relationship Id="rId4" Type="http://schemas.openxmlformats.org/officeDocument/2006/relationships/hyperlink" Target="https://globalsolaratlas.info"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1484679"/>
            <a:ext cx="6802120" cy="274312"/>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B347"/>
                </a:solidFill>
                <a:latin typeface="Arial" pitchFamily="34" charset="0"/>
                <a:ea typeface="Arial" pitchFamily="34" charset="-122"/>
                <a:cs typeface="Arial" pitchFamily="34" charset="-120"/>
              </a:rPr>
              <a:t>FUENTES ENERGÉTICAS RENOVABLES</a:t>
            </a:r>
            <a:endParaRPr lang="en-US" sz="1400" dirty="0"/>
          </a:p>
        </p:txBody>
      </p:sp>
      <p:sp>
        <p:nvSpPr>
          <p:cNvPr id="3" name="Text 1"/>
          <p:cNvSpPr/>
          <p:nvPr>
            <p:ph type="title"/>
          </p:nvPr>
        </p:nvSpPr>
        <p:spPr>
          <a:xfrm>
            <a:off x="812800" y="1936791"/>
            <a:ext cx="680212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4E8"/>
                </a:solidFill>
                <a:latin typeface="Arial" pitchFamily="34" charset="0"/>
                <a:ea typeface="Arial" pitchFamily="34" charset="-122"/>
                <a:cs typeface="Arial" pitchFamily="34" charset="-120"/>
              </a:rPr>
              <a:t>Energía solar térmica</a:t>
            </a:r>
            <a:endParaRPr lang="en-US" sz="6000" dirty="0"/>
          </a:p>
        </p:txBody>
      </p:sp>
      <p:sp>
        <p:nvSpPr>
          <p:cNvPr id="4" name="Text 2"/>
          <p:cNvSpPr/>
          <p:nvPr/>
        </p:nvSpPr>
        <p:spPr>
          <a:xfrm>
            <a:off x="812800" y="3740191"/>
            <a:ext cx="6802120" cy="691336"/>
          </a:xfrm>
          <a:prstGeom prst="rect">
            <a:avLst/>
          </a:prstGeom>
          <a:noFill/>
          <a:ln/>
        </p:spPr>
        <p:txBody>
          <a:bodyPr wrap="square" lIns="0" tIns="0" rIns="0" bIns="0" rtlCol="0" anchor="t">
            <a:normAutofit/>
          </a:bodyPr>
          <a:lstStyle/>
          <a:p>
            <a:pPr algn="l" indent="0" marL="0">
              <a:lnSpc>
                <a:spcPts val="2622"/>
              </a:lnSpc>
              <a:buNone/>
            </a:pPr>
            <a:r>
              <a:rPr lang="en-US" sz="1900" dirty="0">
                <a:solidFill>
                  <a:srgbClr val="E8CDB0"/>
                </a:solidFill>
                <a:latin typeface="Arial" pitchFamily="34" charset="0"/>
                <a:ea typeface="Arial" pitchFamily="34" charset="-122"/>
                <a:cs typeface="Arial" pitchFamily="34" charset="-120"/>
              </a:rPr>
              <a:t>Del rayo de sol al agua caliente, el frío y la electricidad: principio físico, diseño, dimensionado y normativa</a:t>
            </a:r>
            <a:endParaRPr lang="en-US" sz="1900" dirty="0"/>
          </a:p>
        </p:txBody>
      </p:sp>
      <p:sp>
        <p:nvSpPr>
          <p:cNvPr id="5" name="Text 3"/>
          <p:cNvSpPr/>
          <p:nvPr/>
        </p:nvSpPr>
        <p:spPr>
          <a:xfrm>
            <a:off x="812800" y="4609327"/>
            <a:ext cx="6802120" cy="340865"/>
          </a:xfrm>
          <a:prstGeom prst="rect">
            <a:avLst/>
          </a:prstGeom>
          <a:noFill/>
          <a:ln/>
        </p:spPr>
        <p:txBody>
          <a:bodyPr wrap="square" lIns="0" tIns="0" rIns="0" bIns="0" rtlCol="0" anchor="t">
            <a:normAutofit/>
          </a:bodyPr>
          <a:lstStyle/>
          <a:p>
            <a:pPr algn="l" indent="0" marL="0">
              <a:lnSpc>
                <a:spcPts val="2484"/>
              </a:lnSpc>
              <a:buNone/>
            </a:pPr>
            <a:r>
              <a:rPr lang="en-US" sz="1800" b="1" dirty="0">
                <a:solidFill>
                  <a:srgbClr val="FBF4E8"/>
                </a:solidFill>
                <a:latin typeface="Arial" pitchFamily="34" charset="0"/>
                <a:ea typeface="Arial" pitchFamily="34" charset="-122"/>
                <a:cs typeface="Arial" pitchFamily="34" charset="-120"/>
              </a:rPr>
              <a:t>María Carolina Cantillo</a:t>
            </a:r>
            <a:r>
              <a:rPr lang="en-US" sz="1800" dirty="0">
                <a:solidFill>
                  <a:srgbClr val="FBF4E8"/>
                </a:solidFill>
                <a:latin typeface="Arial" pitchFamily="34" charset="0"/>
                <a:ea typeface="Arial" pitchFamily="34" charset="-122"/>
                <a:cs typeface="Arial" pitchFamily="34" charset="-120"/>
              </a:rPr>
              <a:t> y </a:t>
            </a:r>
            <a:r>
              <a:rPr lang="en-US" sz="1800" b="1" dirty="0">
                <a:solidFill>
                  <a:srgbClr val="FBF4E8"/>
                </a:solidFill>
                <a:latin typeface="Arial" pitchFamily="34" charset="0"/>
                <a:ea typeface="Arial" pitchFamily="34" charset="-122"/>
                <a:cs typeface="Arial" pitchFamily="34" charset="-120"/>
              </a:rPr>
              <a:t>Pablo Forero</a:t>
            </a:r>
            <a:endParaRPr lang="en-US" sz="1800" dirty="0"/>
          </a:p>
        </p:txBody>
      </p:sp>
      <p:sp>
        <p:nvSpPr>
          <p:cNvPr id="6" name="Text 4"/>
          <p:cNvSpPr/>
          <p:nvPr/>
        </p:nvSpPr>
        <p:spPr>
          <a:xfrm>
            <a:off x="812800" y="5127991"/>
            <a:ext cx="6802120"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E8CDB0"/>
                </a:solidFill>
                <a:latin typeface="Arial" pitchFamily="34" charset="0"/>
                <a:ea typeface="Arial" pitchFamily="34" charset="-122"/>
                <a:cs typeface="Arial" pitchFamily="34" charset="-120"/>
              </a:rPr>
              <a:t>Profesor: Mauricio Carmona García · Universidad del Norte · Barranquilla, 2026</a:t>
            </a:r>
            <a:endParaRPr lang="en-US" sz="1400" dirty="0"/>
          </a:p>
        </p:txBody>
      </p:sp>
      <p:pic>
        <p:nvPicPr>
          <p:cNvPr id="7" name="Image 0" descr="Ilustración de un colector solar plano que recibe la radiación del sol">    </p:cNvPr>
          <p:cNvPicPr>
            <a:picLocks noChangeAspect="1"/>
          </p:cNvPicPr>
          <p:nvPr/>
        </p:nvPicPr>
        <p:blipFill>
          <a:blip r:embed="rId1"/>
          <a:srcRect l="0" r="0" t="0" b="0"/>
          <a:stretch/>
        </p:blipFill>
        <p:spPr>
          <a:xfrm>
            <a:off x="7823200" y="1143000"/>
            <a:ext cx="3556000" cy="45720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PARA EMPEZAR</a:t>
            </a:r>
            <a:endParaRPr lang="en-US" sz="1400" dirty="0"/>
          </a:p>
        </p:txBody>
      </p:sp>
      <p:sp>
        <p:nvSpPr>
          <p:cNvPr id="3" name="Text 1"/>
          <p:cNvSpPr/>
          <p:nvPr>
            <p:ph type="title"/>
          </p:nvPr>
        </p:nvSpPr>
        <p:spPr>
          <a:xfrm>
            <a:off x="812800" y="1315712"/>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BF4E8"/>
                </a:solidFill>
                <a:latin typeface="Arial" pitchFamily="34" charset="0"/>
                <a:ea typeface="Arial" pitchFamily="34" charset="-122"/>
                <a:cs typeface="Arial" pitchFamily="34" charset="-120"/>
              </a:rPr>
              <a:t>En una hora llega a la Tierra más energía solar de la que la humanidad consume en un año.</a:t>
            </a:r>
            <a:endParaRPr lang="en-US" sz="4000" dirty="0"/>
          </a:p>
        </p:txBody>
      </p:sp>
      <p:sp>
        <p:nvSpPr>
          <p:cNvPr id="4" name="Text 2"/>
          <p:cNvSpPr/>
          <p:nvPr/>
        </p:nvSpPr>
        <p:spPr>
          <a:xfrm>
            <a:off x="812800" y="2687312"/>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E8CDB0"/>
                </a:solidFill>
                <a:latin typeface="Arial" pitchFamily="34" charset="0"/>
                <a:ea typeface="Arial" pitchFamily="34" charset="-122"/>
                <a:cs typeface="Arial" pitchFamily="34" charset="-120"/>
              </a:rPr>
              <a:t>(Thomson, 2006)</a:t>
            </a:r>
            <a:endParaRPr lang="en-US" sz="1400" dirty="0"/>
          </a:p>
        </p:txBody>
      </p:sp>
      <p:sp>
        <p:nvSpPr>
          <p:cNvPr id="5" name="Shape 3"/>
          <p:cNvSpPr/>
          <p:nvPr/>
        </p:nvSpPr>
        <p:spPr>
          <a:xfrm>
            <a:off x="812800" y="3186642"/>
            <a:ext cx="10566400" cy="989297"/>
          </a:xfrm>
          <a:prstGeom prst="roundRect">
            <a:avLst>
              <a:gd name="adj" fmla="val 10270"/>
            </a:avLst>
          </a:prstGeom>
          <a:solidFill>
            <a:srgbClr val="44261A"/>
          </a:solidFill>
          <a:ln/>
        </p:spPr>
      </p:sp>
      <p:sp>
        <p:nvSpPr>
          <p:cNvPr id="6" name="Text 4"/>
          <p:cNvSpPr/>
          <p:nvPr/>
        </p:nvSpPr>
        <p:spPr>
          <a:xfrm>
            <a:off x="1016000" y="3389842"/>
            <a:ext cx="10464800"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Pregunta</a:t>
            </a:r>
            <a:endParaRPr lang="en-US" sz="1600" dirty="0"/>
          </a:p>
        </p:txBody>
      </p:sp>
      <p:sp>
        <p:nvSpPr>
          <p:cNvPr id="7" name="Text 5"/>
          <p:cNvSpPr/>
          <p:nvPr/>
        </p:nvSpPr>
        <p:spPr>
          <a:xfrm>
            <a:off x="1016000" y="3709866"/>
            <a:ext cx="10464800"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FBF4E8"/>
                </a:solidFill>
                <a:latin typeface="Arial" pitchFamily="34" charset="0"/>
                <a:ea typeface="Arial" pitchFamily="34" charset="-122"/>
                <a:cs typeface="Arial" pitchFamily="34" charset="-120"/>
              </a:rPr>
              <a:t>¿Quién ha abierto la manguera del patio al mediodía y le ha salido agua casi hirviendo?</a:t>
            </a:r>
            <a:endParaRPr lang="en-US" sz="1500" dirty="0"/>
          </a:p>
        </p:txBody>
      </p:sp>
      <p:sp>
        <p:nvSpPr>
          <p:cNvPr id="8" name="Text 6"/>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Thomson (2006), MIT News, a partir de Lewis y Nocera.</a:t>
            </a:r>
            <a:endParaRPr lang="en-US" sz="1200" dirty="0"/>
          </a:p>
        </p:txBody>
      </p:sp>
      <p:sp>
        <p:nvSpPr>
          <p:cNvPr id="9" name="Text 7"/>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2</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4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Ruta de la clase: 2 horas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3221" y="1524244"/>
          <a:ext cx="10555979" cy="3432826"/>
        </p:xfrm>
        <a:graphic>
          <a:graphicData uri="http://schemas.openxmlformats.org/drawingml/2006/table">
            <a:tbl>
              <a:tblPr/>
              <a:tblGrid>
                <a:gridCol w="950038"/>
                <a:gridCol w="4961310"/>
                <a:gridCol w="1688957"/>
                <a:gridCol w="1900076"/>
                <a:gridCol w="1055598"/>
              </a:tblGrid>
              <a:tr h="383727">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Bloque</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Contenido</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Diapositivas</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Presenta</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Min</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Bienvenida, historia, contexto y recurso solar</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 a 13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María y Pablo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14</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632639">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Tecnologías, sistemas, principio físico y materiales (puntos 1 a 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14 a 31</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Pablo y María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632639">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Diseño, eficiencias, almacenamiento y dimensionado (puntos 4 a 7)</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32 a 39</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María y Pablo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632639">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Ventajas, acoplamiento, usos no convencionales y normativa (puntos 8 a 11)</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40 a 46</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Pablo y María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16</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Conclusiones y preguntas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47</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Ambos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Taller evaluable en parejas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El curso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4" name="Text 1"/>
          <p:cNvSpPr/>
          <p:nvPr/>
        </p:nvSpPr>
        <p:spPr>
          <a:xfrm>
            <a:off x="812800" y="5211071"/>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6A5444"/>
                </a:solidFill>
                <a:latin typeface="Arial" pitchFamily="34" charset="0"/>
                <a:ea typeface="Arial" pitchFamily="34" charset="-122"/>
                <a:cs typeface="Arial" pitchFamily="34" charset="-120"/>
              </a:rPr>
              <a:t>Cada dato lleva su cita en formato APA al pie; la lista completa está en las diapositivas 49 a 52.</a:t>
            </a:r>
            <a:endParaRPr lang="en-US" sz="1400" dirty="0"/>
          </a:p>
        </p:txBody>
      </p:sp>
      <p:sp>
        <p:nvSpPr>
          <p:cNvPr id="5" name="Text 2"/>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Estructura según la rúbrica del curso, Prof. Mauricio Carmona García.</a:t>
            </a:r>
            <a:endParaRPr lang="en-US" sz="1200" dirty="0"/>
          </a:p>
        </p:txBody>
      </p:sp>
      <p:sp>
        <p:nvSpPr>
          <p:cNvPr id="6" name="Text 3"/>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a:t>
            </a:r>
            <a:endParaRPr lang="en-US" sz="1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QUÉ VAMOS A CUBRIR</a:t>
            </a:r>
            <a:endParaRPr lang="en-US" sz="1400" dirty="0"/>
          </a:p>
        </p:txBody>
      </p:sp>
      <p:sp>
        <p:nvSpPr>
          <p:cNvPr id="3" name="Text 1"/>
          <p:cNvSpPr/>
          <p:nvPr>
            <p:ph type="title"/>
          </p:nvPr>
        </p:nvSpPr>
        <p:spPr>
          <a:xfrm>
            <a:off x="812800" y="1239512"/>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Los once puntos de la rúbrica, uno por uno</a:t>
            </a:r>
            <a:endParaRPr lang="en-US" sz="3200" dirty="0"/>
          </a:p>
        </p:txBody>
      </p:sp>
      <p:sp>
        <p:nvSpPr>
          <p:cNvPr id="4" name="Shape 2"/>
          <p:cNvSpPr/>
          <p:nvPr/>
        </p:nvSpPr>
        <p:spPr>
          <a:xfrm>
            <a:off x="815975" y="1867511"/>
            <a:ext cx="2559050" cy="1193393"/>
          </a:xfrm>
          <a:prstGeom prst="roundRect">
            <a:avLst>
              <a:gd name="adj" fmla="val 7183"/>
            </a:avLst>
          </a:prstGeom>
          <a:solidFill>
            <a:srgbClr val="FFFFFF"/>
          </a:solidFill>
          <a:ln w="6350">
            <a:solidFill>
              <a:srgbClr val="EADBC4"/>
            </a:solidFill>
            <a:prstDash val="solid"/>
          </a:ln>
        </p:spPr>
      </p:sp>
      <p:sp>
        <p:nvSpPr>
          <p:cNvPr id="5" name="Text 3"/>
          <p:cNvSpPr/>
          <p:nvPr/>
        </p:nvSpPr>
        <p:spPr>
          <a:xfrm>
            <a:off x="957710" y="2009246"/>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957710" y="2301346"/>
            <a:ext cx="2343847" cy="422275"/>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Métodos y equipos de conversión</a:t>
            </a:r>
            <a:endParaRPr lang="en-US" sz="1250" dirty="0"/>
          </a:p>
        </p:txBody>
      </p:sp>
      <p:sp>
        <p:nvSpPr>
          <p:cNvPr id="7" name="Text 5"/>
          <p:cNvSpPr/>
          <p:nvPr/>
        </p:nvSpPr>
        <p:spPr>
          <a:xfrm>
            <a:off x="957710" y="2736321"/>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14–24</a:t>
            </a:r>
            <a:endParaRPr lang="en-US" sz="1200" dirty="0"/>
          </a:p>
        </p:txBody>
      </p:sp>
      <p:sp>
        <p:nvSpPr>
          <p:cNvPr id="8" name="Shape 6"/>
          <p:cNvSpPr/>
          <p:nvPr/>
        </p:nvSpPr>
        <p:spPr>
          <a:xfrm>
            <a:off x="3482975" y="1867511"/>
            <a:ext cx="2559050" cy="1193393"/>
          </a:xfrm>
          <a:prstGeom prst="roundRect">
            <a:avLst>
              <a:gd name="adj" fmla="val 7183"/>
            </a:avLst>
          </a:prstGeom>
          <a:solidFill>
            <a:srgbClr val="B43E00"/>
          </a:solidFill>
          <a:ln w="6350">
            <a:solidFill>
              <a:srgbClr val="EADBC4"/>
            </a:solidFill>
            <a:prstDash val="solid"/>
          </a:ln>
        </p:spPr>
      </p:sp>
      <p:sp>
        <p:nvSpPr>
          <p:cNvPr id="9" name="Text 7"/>
          <p:cNvSpPr/>
          <p:nvPr/>
        </p:nvSpPr>
        <p:spPr>
          <a:xfrm>
            <a:off x="3624710" y="2009246"/>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FB347"/>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3624710" y="2301346"/>
            <a:ext cx="2343847" cy="422275"/>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FBF4E8"/>
                </a:solidFill>
                <a:latin typeface="Arial" pitchFamily="34" charset="0"/>
                <a:ea typeface="Arial" pitchFamily="34" charset="-122"/>
                <a:cs typeface="Arial" pitchFamily="34" charset="-120"/>
              </a:rPr>
              <a:t>Principio físico de funcionamiento</a:t>
            </a:r>
            <a:endParaRPr lang="en-US" sz="1250" dirty="0"/>
          </a:p>
        </p:txBody>
      </p:sp>
      <p:sp>
        <p:nvSpPr>
          <p:cNvPr id="11" name="Text 9"/>
          <p:cNvSpPr/>
          <p:nvPr/>
        </p:nvSpPr>
        <p:spPr>
          <a:xfrm>
            <a:off x="3624710" y="2736321"/>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FBF4E8"/>
                </a:solidFill>
                <a:latin typeface="Arial" pitchFamily="34" charset="0"/>
                <a:ea typeface="Arial" pitchFamily="34" charset="-122"/>
                <a:cs typeface="Arial" pitchFamily="34" charset="-120"/>
              </a:rPr>
              <a:t>Diap. 25–30</a:t>
            </a:r>
            <a:endParaRPr lang="en-US" sz="1200" dirty="0"/>
          </a:p>
        </p:txBody>
      </p:sp>
      <p:sp>
        <p:nvSpPr>
          <p:cNvPr id="12" name="Shape 10"/>
          <p:cNvSpPr/>
          <p:nvPr/>
        </p:nvSpPr>
        <p:spPr>
          <a:xfrm>
            <a:off x="6149975" y="1867511"/>
            <a:ext cx="2559050" cy="1193393"/>
          </a:xfrm>
          <a:prstGeom prst="roundRect">
            <a:avLst>
              <a:gd name="adj" fmla="val 7183"/>
            </a:avLst>
          </a:prstGeom>
          <a:solidFill>
            <a:srgbClr val="FFFFFF"/>
          </a:solidFill>
          <a:ln w="6350">
            <a:solidFill>
              <a:srgbClr val="EADBC4"/>
            </a:solidFill>
            <a:prstDash val="solid"/>
          </a:ln>
        </p:spPr>
      </p:sp>
      <p:sp>
        <p:nvSpPr>
          <p:cNvPr id="13" name="Text 11"/>
          <p:cNvSpPr/>
          <p:nvPr/>
        </p:nvSpPr>
        <p:spPr>
          <a:xfrm>
            <a:off x="6291710" y="2009246"/>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6291710" y="2301346"/>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Materiales</a:t>
            </a:r>
            <a:endParaRPr lang="en-US" sz="1250" dirty="0"/>
          </a:p>
        </p:txBody>
      </p:sp>
      <p:sp>
        <p:nvSpPr>
          <p:cNvPr id="15" name="Text 13"/>
          <p:cNvSpPr/>
          <p:nvPr/>
        </p:nvSpPr>
        <p:spPr>
          <a:xfrm>
            <a:off x="6291710" y="2537884"/>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31</a:t>
            </a:r>
            <a:endParaRPr lang="en-US" sz="1200" dirty="0"/>
          </a:p>
        </p:txBody>
      </p:sp>
      <p:sp>
        <p:nvSpPr>
          <p:cNvPr id="16" name="Shape 14"/>
          <p:cNvSpPr/>
          <p:nvPr/>
        </p:nvSpPr>
        <p:spPr>
          <a:xfrm>
            <a:off x="8816975" y="1867511"/>
            <a:ext cx="2559050" cy="1193393"/>
          </a:xfrm>
          <a:prstGeom prst="roundRect">
            <a:avLst>
              <a:gd name="adj" fmla="val 7183"/>
            </a:avLst>
          </a:prstGeom>
          <a:solidFill>
            <a:srgbClr val="FFFFFF"/>
          </a:solidFill>
          <a:ln w="6350">
            <a:solidFill>
              <a:srgbClr val="EADBC4"/>
            </a:solidFill>
            <a:prstDash val="solid"/>
          </a:ln>
        </p:spPr>
      </p:sp>
      <p:sp>
        <p:nvSpPr>
          <p:cNvPr id="17" name="Text 15"/>
          <p:cNvSpPr/>
          <p:nvPr/>
        </p:nvSpPr>
        <p:spPr>
          <a:xfrm>
            <a:off x="8958711" y="2009246"/>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8958711" y="2301346"/>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Criterios de diseño y cálculo</a:t>
            </a:r>
            <a:endParaRPr lang="en-US" sz="1250" dirty="0"/>
          </a:p>
        </p:txBody>
      </p:sp>
      <p:sp>
        <p:nvSpPr>
          <p:cNvPr id="19" name="Text 17"/>
          <p:cNvSpPr/>
          <p:nvPr/>
        </p:nvSpPr>
        <p:spPr>
          <a:xfrm>
            <a:off x="8958711" y="2537884"/>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32</a:t>
            </a:r>
            <a:endParaRPr lang="en-US" sz="1200" dirty="0"/>
          </a:p>
        </p:txBody>
      </p:sp>
      <p:sp>
        <p:nvSpPr>
          <p:cNvPr id="20" name="Shape 18"/>
          <p:cNvSpPr/>
          <p:nvPr/>
        </p:nvSpPr>
        <p:spPr>
          <a:xfrm>
            <a:off x="815975" y="3168853"/>
            <a:ext cx="2559050" cy="1193393"/>
          </a:xfrm>
          <a:prstGeom prst="roundRect">
            <a:avLst>
              <a:gd name="adj" fmla="val 7183"/>
            </a:avLst>
          </a:prstGeom>
          <a:solidFill>
            <a:srgbClr val="FFFFFF"/>
          </a:solidFill>
          <a:ln w="6350">
            <a:solidFill>
              <a:srgbClr val="EADBC4"/>
            </a:solidFill>
            <a:prstDash val="solid"/>
          </a:ln>
        </p:spPr>
      </p:sp>
      <p:sp>
        <p:nvSpPr>
          <p:cNvPr id="21" name="Text 19"/>
          <p:cNvSpPr/>
          <p:nvPr/>
        </p:nvSpPr>
        <p:spPr>
          <a:xfrm>
            <a:off x="957710" y="3310589"/>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5</a:t>
            </a:r>
            <a:endParaRPr lang="en-US" sz="2000" dirty="0"/>
          </a:p>
        </p:txBody>
      </p:sp>
      <p:sp>
        <p:nvSpPr>
          <p:cNvPr id="22" name="Text 20"/>
          <p:cNvSpPr/>
          <p:nvPr/>
        </p:nvSpPr>
        <p:spPr>
          <a:xfrm>
            <a:off x="957710" y="3602689"/>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Cálculo de eficiencias</a:t>
            </a:r>
            <a:endParaRPr lang="en-US" sz="1250" dirty="0"/>
          </a:p>
        </p:txBody>
      </p:sp>
      <p:sp>
        <p:nvSpPr>
          <p:cNvPr id="23" name="Text 21"/>
          <p:cNvSpPr/>
          <p:nvPr/>
        </p:nvSpPr>
        <p:spPr>
          <a:xfrm>
            <a:off x="957710" y="3839226"/>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33</a:t>
            </a:r>
            <a:endParaRPr lang="en-US" sz="1200" dirty="0"/>
          </a:p>
        </p:txBody>
      </p:sp>
      <p:sp>
        <p:nvSpPr>
          <p:cNvPr id="24" name="Shape 22"/>
          <p:cNvSpPr/>
          <p:nvPr/>
        </p:nvSpPr>
        <p:spPr>
          <a:xfrm>
            <a:off x="3482975" y="3168853"/>
            <a:ext cx="2559050" cy="1193393"/>
          </a:xfrm>
          <a:prstGeom prst="roundRect">
            <a:avLst>
              <a:gd name="adj" fmla="val 7183"/>
            </a:avLst>
          </a:prstGeom>
          <a:solidFill>
            <a:srgbClr val="FFFFFF"/>
          </a:solidFill>
          <a:ln w="6350">
            <a:solidFill>
              <a:srgbClr val="EADBC4"/>
            </a:solidFill>
            <a:prstDash val="solid"/>
          </a:ln>
        </p:spPr>
      </p:sp>
      <p:sp>
        <p:nvSpPr>
          <p:cNvPr id="25" name="Text 23"/>
          <p:cNvSpPr/>
          <p:nvPr/>
        </p:nvSpPr>
        <p:spPr>
          <a:xfrm>
            <a:off x="3624710" y="3310589"/>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6</a:t>
            </a:r>
            <a:endParaRPr lang="en-US" sz="2000" dirty="0"/>
          </a:p>
        </p:txBody>
      </p:sp>
      <p:sp>
        <p:nvSpPr>
          <p:cNvPr id="26" name="Text 24"/>
          <p:cNvSpPr/>
          <p:nvPr/>
        </p:nvSpPr>
        <p:spPr>
          <a:xfrm>
            <a:off x="3624710" y="3602689"/>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Sistemas de almacenamiento</a:t>
            </a:r>
            <a:endParaRPr lang="en-US" sz="1250" dirty="0"/>
          </a:p>
        </p:txBody>
      </p:sp>
      <p:sp>
        <p:nvSpPr>
          <p:cNvPr id="27" name="Text 25"/>
          <p:cNvSpPr/>
          <p:nvPr/>
        </p:nvSpPr>
        <p:spPr>
          <a:xfrm>
            <a:off x="3624710" y="3839226"/>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34–36</a:t>
            </a:r>
            <a:endParaRPr lang="en-US" sz="1200" dirty="0"/>
          </a:p>
        </p:txBody>
      </p:sp>
      <p:sp>
        <p:nvSpPr>
          <p:cNvPr id="28" name="Shape 26"/>
          <p:cNvSpPr/>
          <p:nvPr/>
        </p:nvSpPr>
        <p:spPr>
          <a:xfrm>
            <a:off x="6149975" y="3168853"/>
            <a:ext cx="2559050" cy="1193393"/>
          </a:xfrm>
          <a:prstGeom prst="roundRect">
            <a:avLst>
              <a:gd name="adj" fmla="val 7183"/>
            </a:avLst>
          </a:prstGeom>
          <a:solidFill>
            <a:srgbClr val="FFFFFF"/>
          </a:solidFill>
          <a:ln w="6350">
            <a:solidFill>
              <a:srgbClr val="EADBC4"/>
            </a:solidFill>
            <a:prstDash val="solid"/>
          </a:ln>
        </p:spPr>
      </p:sp>
      <p:sp>
        <p:nvSpPr>
          <p:cNvPr id="29" name="Text 27"/>
          <p:cNvSpPr/>
          <p:nvPr/>
        </p:nvSpPr>
        <p:spPr>
          <a:xfrm>
            <a:off x="6291710" y="3310589"/>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7</a:t>
            </a:r>
            <a:endParaRPr lang="en-US" sz="2000" dirty="0"/>
          </a:p>
        </p:txBody>
      </p:sp>
      <p:sp>
        <p:nvSpPr>
          <p:cNvPr id="30" name="Text 28"/>
          <p:cNvSpPr/>
          <p:nvPr/>
        </p:nvSpPr>
        <p:spPr>
          <a:xfrm>
            <a:off x="6291710" y="3602689"/>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Dimensionado con ejemplo</a:t>
            </a:r>
            <a:endParaRPr lang="en-US" sz="1250" dirty="0"/>
          </a:p>
        </p:txBody>
      </p:sp>
      <p:sp>
        <p:nvSpPr>
          <p:cNvPr id="31" name="Text 29"/>
          <p:cNvSpPr/>
          <p:nvPr/>
        </p:nvSpPr>
        <p:spPr>
          <a:xfrm>
            <a:off x="6291710" y="3839226"/>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37–39</a:t>
            </a:r>
            <a:endParaRPr lang="en-US" sz="1200" dirty="0"/>
          </a:p>
        </p:txBody>
      </p:sp>
      <p:sp>
        <p:nvSpPr>
          <p:cNvPr id="32" name="Shape 30"/>
          <p:cNvSpPr/>
          <p:nvPr/>
        </p:nvSpPr>
        <p:spPr>
          <a:xfrm>
            <a:off x="8816975" y="3168853"/>
            <a:ext cx="2559050" cy="1193393"/>
          </a:xfrm>
          <a:prstGeom prst="roundRect">
            <a:avLst>
              <a:gd name="adj" fmla="val 7183"/>
            </a:avLst>
          </a:prstGeom>
          <a:solidFill>
            <a:srgbClr val="FFFFFF"/>
          </a:solidFill>
          <a:ln w="6350">
            <a:solidFill>
              <a:srgbClr val="EADBC4"/>
            </a:solidFill>
            <a:prstDash val="solid"/>
          </a:ln>
        </p:spPr>
      </p:sp>
      <p:sp>
        <p:nvSpPr>
          <p:cNvPr id="33" name="Text 31"/>
          <p:cNvSpPr/>
          <p:nvPr/>
        </p:nvSpPr>
        <p:spPr>
          <a:xfrm>
            <a:off x="8958711" y="3310589"/>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8</a:t>
            </a:r>
            <a:endParaRPr lang="en-US" sz="2000" dirty="0"/>
          </a:p>
        </p:txBody>
      </p:sp>
      <p:sp>
        <p:nvSpPr>
          <p:cNvPr id="34" name="Text 32"/>
          <p:cNvSpPr/>
          <p:nvPr/>
        </p:nvSpPr>
        <p:spPr>
          <a:xfrm>
            <a:off x="8958711" y="3602689"/>
            <a:ext cx="2343847" cy="422275"/>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Ventajas, desventajas y limitaciones</a:t>
            </a:r>
            <a:endParaRPr lang="en-US" sz="1250" dirty="0"/>
          </a:p>
        </p:txBody>
      </p:sp>
      <p:sp>
        <p:nvSpPr>
          <p:cNvPr id="35" name="Text 33"/>
          <p:cNvSpPr/>
          <p:nvPr/>
        </p:nvSpPr>
        <p:spPr>
          <a:xfrm>
            <a:off x="8958711" y="4037664"/>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40</a:t>
            </a:r>
            <a:endParaRPr lang="en-US" sz="1200" dirty="0"/>
          </a:p>
        </p:txBody>
      </p:sp>
      <p:sp>
        <p:nvSpPr>
          <p:cNvPr id="36" name="Shape 34"/>
          <p:cNvSpPr/>
          <p:nvPr/>
        </p:nvSpPr>
        <p:spPr>
          <a:xfrm>
            <a:off x="815975" y="4470197"/>
            <a:ext cx="2559050" cy="1193393"/>
          </a:xfrm>
          <a:prstGeom prst="roundRect">
            <a:avLst>
              <a:gd name="adj" fmla="val 7183"/>
            </a:avLst>
          </a:prstGeom>
          <a:solidFill>
            <a:srgbClr val="FFFFFF"/>
          </a:solidFill>
          <a:ln w="6350">
            <a:solidFill>
              <a:srgbClr val="EADBC4"/>
            </a:solidFill>
            <a:prstDash val="solid"/>
          </a:ln>
        </p:spPr>
      </p:sp>
      <p:sp>
        <p:nvSpPr>
          <p:cNvPr id="37" name="Text 35"/>
          <p:cNvSpPr/>
          <p:nvPr/>
        </p:nvSpPr>
        <p:spPr>
          <a:xfrm>
            <a:off x="957710" y="4611932"/>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9</a:t>
            </a:r>
            <a:endParaRPr lang="en-US" sz="2000" dirty="0"/>
          </a:p>
        </p:txBody>
      </p:sp>
      <p:sp>
        <p:nvSpPr>
          <p:cNvPr id="38" name="Text 36"/>
          <p:cNvSpPr/>
          <p:nvPr/>
        </p:nvSpPr>
        <p:spPr>
          <a:xfrm>
            <a:off x="957710" y="4904032"/>
            <a:ext cx="2343847" cy="422275"/>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Acople a frío, calor y electricidad</a:t>
            </a:r>
            <a:endParaRPr lang="en-US" sz="1250" dirty="0"/>
          </a:p>
        </p:txBody>
      </p:sp>
      <p:sp>
        <p:nvSpPr>
          <p:cNvPr id="39" name="Text 37"/>
          <p:cNvSpPr/>
          <p:nvPr/>
        </p:nvSpPr>
        <p:spPr>
          <a:xfrm>
            <a:off x="957710" y="5339007"/>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41–43</a:t>
            </a:r>
            <a:endParaRPr lang="en-US" sz="1200" dirty="0"/>
          </a:p>
        </p:txBody>
      </p:sp>
      <p:sp>
        <p:nvSpPr>
          <p:cNvPr id="40" name="Shape 38"/>
          <p:cNvSpPr/>
          <p:nvPr/>
        </p:nvSpPr>
        <p:spPr>
          <a:xfrm>
            <a:off x="3482975" y="4470197"/>
            <a:ext cx="2559050" cy="1193393"/>
          </a:xfrm>
          <a:prstGeom prst="roundRect">
            <a:avLst>
              <a:gd name="adj" fmla="val 7183"/>
            </a:avLst>
          </a:prstGeom>
          <a:solidFill>
            <a:srgbClr val="FFFFFF"/>
          </a:solidFill>
          <a:ln w="6350">
            <a:solidFill>
              <a:srgbClr val="EADBC4"/>
            </a:solidFill>
            <a:prstDash val="solid"/>
          </a:ln>
        </p:spPr>
      </p:sp>
      <p:sp>
        <p:nvSpPr>
          <p:cNvPr id="41" name="Text 39"/>
          <p:cNvSpPr/>
          <p:nvPr/>
        </p:nvSpPr>
        <p:spPr>
          <a:xfrm>
            <a:off x="3624710" y="4611932"/>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10</a:t>
            </a:r>
            <a:endParaRPr lang="en-US" sz="2000" dirty="0"/>
          </a:p>
        </p:txBody>
      </p:sp>
      <p:sp>
        <p:nvSpPr>
          <p:cNvPr id="42" name="Text 40"/>
          <p:cNvSpPr/>
          <p:nvPr/>
        </p:nvSpPr>
        <p:spPr>
          <a:xfrm>
            <a:off x="3624710" y="4904032"/>
            <a:ext cx="2343847" cy="422275"/>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Aplicaciones no convencionales</a:t>
            </a:r>
            <a:endParaRPr lang="en-US" sz="1250" dirty="0"/>
          </a:p>
        </p:txBody>
      </p:sp>
      <p:sp>
        <p:nvSpPr>
          <p:cNvPr id="43" name="Text 41"/>
          <p:cNvSpPr/>
          <p:nvPr/>
        </p:nvSpPr>
        <p:spPr>
          <a:xfrm>
            <a:off x="3624710" y="5339007"/>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44</a:t>
            </a:r>
            <a:endParaRPr lang="en-US" sz="1200" dirty="0"/>
          </a:p>
        </p:txBody>
      </p:sp>
      <p:sp>
        <p:nvSpPr>
          <p:cNvPr id="44" name="Shape 42"/>
          <p:cNvSpPr/>
          <p:nvPr/>
        </p:nvSpPr>
        <p:spPr>
          <a:xfrm>
            <a:off x="6149975" y="4470197"/>
            <a:ext cx="2559050" cy="1193393"/>
          </a:xfrm>
          <a:prstGeom prst="roundRect">
            <a:avLst>
              <a:gd name="adj" fmla="val 7183"/>
            </a:avLst>
          </a:prstGeom>
          <a:solidFill>
            <a:srgbClr val="FFFFFF"/>
          </a:solidFill>
          <a:ln w="6350">
            <a:solidFill>
              <a:srgbClr val="EADBC4"/>
            </a:solidFill>
            <a:prstDash val="solid"/>
          </a:ln>
        </p:spPr>
      </p:sp>
      <p:sp>
        <p:nvSpPr>
          <p:cNvPr id="45" name="Text 43"/>
          <p:cNvSpPr/>
          <p:nvPr/>
        </p:nvSpPr>
        <p:spPr>
          <a:xfrm>
            <a:off x="6291710" y="4611932"/>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11</a:t>
            </a:r>
            <a:endParaRPr lang="en-US" sz="2000" dirty="0"/>
          </a:p>
        </p:txBody>
      </p:sp>
      <p:sp>
        <p:nvSpPr>
          <p:cNvPr id="46" name="Text 44"/>
          <p:cNvSpPr/>
          <p:nvPr/>
        </p:nvSpPr>
        <p:spPr>
          <a:xfrm>
            <a:off x="6291710" y="4904032"/>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Normativa de pruebas</a:t>
            </a:r>
            <a:endParaRPr lang="en-US" sz="1250" dirty="0"/>
          </a:p>
        </p:txBody>
      </p:sp>
      <p:sp>
        <p:nvSpPr>
          <p:cNvPr id="47" name="Text 45"/>
          <p:cNvSpPr/>
          <p:nvPr/>
        </p:nvSpPr>
        <p:spPr>
          <a:xfrm>
            <a:off x="6291710" y="5140570"/>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45–46</a:t>
            </a:r>
            <a:endParaRPr lang="en-US" sz="1200" dirty="0"/>
          </a:p>
        </p:txBody>
      </p:sp>
      <p:sp>
        <p:nvSpPr>
          <p:cNvPr id="48" name="Shape 46"/>
          <p:cNvSpPr/>
          <p:nvPr/>
        </p:nvSpPr>
        <p:spPr>
          <a:xfrm>
            <a:off x="8816975" y="4470197"/>
            <a:ext cx="2559050" cy="1193393"/>
          </a:xfrm>
          <a:prstGeom prst="roundRect">
            <a:avLst>
              <a:gd name="adj" fmla="val 7183"/>
            </a:avLst>
          </a:prstGeom>
          <a:solidFill>
            <a:srgbClr val="FFFFFF"/>
          </a:solidFill>
          <a:ln w="6350">
            <a:solidFill>
              <a:srgbClr val="EADBC4"/>
            </a:solidFill>
            <a:prstDash val="solid"/>
          </a:ln>
        </p:spPr>
      </p:sp>
      <p:sp>
        <p:nvSpPr>
          <p:cNvPr id="49" name="Text 47"/>
          <p:cNvSpPr/>
          <p:nvPr/>
        </p:nvSpPr>
        <p:spPr>
          <a:xfrm>
            <a:off x="8958711" y="4611932"/>
            <a:ext cx="234384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B43E00"/>
                </a:solidFill>
                <a:latin typeface="Arial" pitchFamily="34" charset="0"/>
                <a:ea typeface="Arial" pitchFamily="34" charset="-122"/>
                <a:cs typeface="Arial" pitchFamily="34" charset="-120"/>
              </a:rPr>
              <a:t>+</a:t>
            </a:r>
            <a:endParaRPr lang="en-US" sz="2000" dirty="0"/>
          </a:p>
        </p:txBody>
      </p:sp>
      <p:sp>
        <p:nvSpPr>
          <p:cNvPr id="50" name="Text 48"/>
          <p:cNvSpPr/>
          <p:nvPr/>
        </p:nvSpPr>
        <p:spPr>
          <a:xfrm>
            <a:off x="8958711" y="4904032"/>
            <a:ext cx="2343847" cy="223838"/>
          </a:xfrm>
          <a:prstGeom prst="rect">
            <a:avLst/>
          </a:prstGeom>
          <a:noFill/>
          <a:ln/>
        </p:spPr>
        <p:txBody>
          <a:bodyPr wrap="square" lIns="0" tIns="0" rIns="0" bIns="0" rtlCol="0" anchor="t">
            <a:normAutofit/>
          </a:bodyPr>
          <a:lstStyle/>
          <a:p>
            <a:pPr algn="l" indent="0" marL="0">
              <a:lnSpc>
                <a:spcPts val="1563"/>
              </a:lnSpc>
              <a:buNone/>
            </a:pPr>
            <a:r>
              <a:rPr lang="en-US" sz="1250" b="1" dirty="0">
                <a:solidFill>
                  <a:srgbClr val="2A1810"/>
                </a:solidFill>
                <a:latin typeface="Arial" pitchFamily="34" charset="0"/>
                <a:ea typeface="Arial" pitchFamily="34" charset="-122"/>
                <a:cs typeface="Arial" pitchFamily="34" charset="-120"/>
              </a:rPr>
              <a:t>Taller evaluable</a:t>
            </a:r>
            <a:endParaRPr lang="en-US" sz="1250" dirty="0"/>
          </a:p>
        </p:txBody>
      </p:sp>
      <p:sp>
        <p:nvSpPr>
          <p:cNvPr id="51" name="Text 49"/>
          <p:cNvSpPr/>
          <p:nvPr/>
        </p:nvSpPr>
        <p:spPr>
          <a:xfrm>
            <a:off x="8958711" y="5140570"/>
            <a:ext cx="2343847"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Diap. 48</a:t>
            </a:r>
            <a:endParaRPr lang="en-US" sz="1200" dirty="0"/>
          </a:p>
        </p:txBody>
      </p:sp>
      <p:sp>
        <p:nvSpPr>
          <p:cNvPr id="52" name="Text 50"/>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rúbrica «Desarrollo y presentación de un tema de clase», Prof. Mauricio Carmona García.</a:t>
            </a:r>
            <a:endParaRPr lang="en-US" sz="1200" dirty="0"/>
          </a:p>
        </p:txBody>
      </p:sp>
      <p:sp>
        <p:nvSpPr>
          <p:cNvPr id="53" name="Text 51"/>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a:t>
            </a:r>
            <a:endParaRPr lang="en-US" sz="12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CONTEXTO · UN POCO DE HISTORIA</a:t>
            </a:r>
            <a:endParaRPr lang="en-US" sz="1400" dirty="0"/>
          </a:p>
        </p:txBody>
      </p:sp>
      <p:sp>
        <p:nvSpPr>
          <p:cNvPr id="3" name="Text 1"/>
          <p:cNvSpPr/>
          <p:nvPr>
            <p:ph type="title"/>
          </p:nvPr>
        </p:nvSpPr>
        <p:spPr>
          <a:xfrm>
            <a:off x="812800" y="1239512"/>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La energía solar térmica no es nueva</a:t>
            </a:r>
            <a:endParaRPr lang="en-US" sz="3200" dirty="0"/>
          </a:p>
        </p:txBody>
      </p:sp>
      <p:pic>
        <p:nvPicPr>
          <p:cNvPr id="4" name="Image 0" descr="Línea de tiempo de la energía solar térmica de 1767 a 2011">    </p:cNvPr>
          <p:cNvPicPr>
            <a:picLocks noChangeAspect="1"/>
          </p:cNvPicPr>
          <p:nvPr/>
        </p:nvPicPr>
        <p:blipFill>
          <a:blip r:embed="rId1"/>
          <a:srcRect l="0" r="0" t="-40" b="-40"/>
          <a:stretch/>
        </p:blipFill>
        <p:spPr>
          <a:xfrm>
            <a:off x="812800" y="1864336"/>
            <a:ext cx="10566400" cy="2984500"/>
          </a:xfrm>
          <a:prstGeom prst="rect">
            <a:avLst/>
          </a:prstGeom>
        </p:spPr>
      </p:pic>
      <p:sp>
        <p:nvSpPr>
          <p:cNvPr id="5" name="Text 2"/>
          <p:cNvSpPr/>
          <p:nvPr/>
        </p:nvSpPr>
        <p:spPr>
          <a:xfrm>
            <a:off x="9144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1767</a:t>
            </a:r>
            <a:endParaRPr lang="en-US" sz="2400" dirty="0"/>
          </a:p>
        </p:txBody>
      </p:sp>
      <p:sp>
        <p:nvSpPr>
          <p:cNvPr id="6" name="Text 3"/>
          <p:cNvSpPr/>
          <p:nvPr/>
        </p:nvSpPr>
        <p:spPr>
          <a:xfrm>
            <a:off x="882650" y="3108936"/>
            <a:ext cx="1638300" cy="1015959"/>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Saussure</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Primera descripción académica de un cocinador solar («Solar cooker», s. f.)</a:t>
            </a:r>
            <a:endParaRPr lang="en-US" sz="1200" dirty="0"/>
          </a:p>
        </p:txBody>
      </p:sp>
      <p:sp>
        <p:nvSpPr>
          <p:cNvPr id="7" name="Text 4"/>
          <p:cNvSpPr/>
          <p:nvPr/>
        </p:nvSpPr>
        <p:spPr>
          <a:xfrm>
            <a:off x="26670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1878</a:t>
            </a:r>
            <a:endParaRPr lang="en-US" sz="2400" dirty="0"/>
          </a:p>
        </p:txBody>
      </p:sp>
      <p:sp>
        <p:nvSpPr>
          <p:cNvPr id="8" name="Text 5"/>
          <p:cNvSpPr/>
          <p:nvPr/>
        </p:nvSpPr>
        <p:spPr>
          <a:xfrm>
            <a:off x="2635250" y="3108936"/>
            <a:ext cx="1638300" cy="1015959"/>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Mouchot</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Medalla de oro en París con una máquina solar que hacía hielo (BIE, 2017)</a:t>
            </a:r>
            <a:endParaRPr lang="en-US" sz="1200" dirty="0"/>
          </a:p>
        </p:txBody>
      </p:sp>
      <p:sp>
        <p:nvSpPr>
          <p:cNvPr id="9" name="Text 6"/>
          <p:cNvSpPr/>
          <p:nvPr/>
        </p:nvSpPr>
        <p:spPr>
          <a:xfrm>
            <a:off x="44196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1891</a:t>
            </a:r>
            <a:endParaRPr lang="en-US" sz="2400" dirty="0"/>
          </a:p>
        </p:txBody>
      </p:sp>
      <p:sp>
        <p:nvSpPr>
          <p:cNvPr id="10" name="Text 7"/>
          <p:cNvSpPr/>
          <p:nvPr/>
        </p:nvSpPr>
        <p:spPr>
          <a:xfrm>
            <a:off x="4387850" y="3108936"/>
            <a:ext cx="1638300" cy="1015959"/>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Kemp</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Patenta el Climax, calentador solar comercial, en Baltimore (NIHF, s. f.)</a:t>
            </a:r>
            <a:endParaRPr lang="en-US" sz="1200" dirty="0"/>
          </a:p>
        </p:txBody>
      </p:sp>
      <p:sp>
        <p:nvSpPr>
          <p:cNvPr id="11" name="Text 8"/>
          <p:cNvSpPr/>
          <p:nvPr/>
        </p:nvSpPr>
        <p:spPr>
          <a:xfrm>
            <a:off x="61722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1913</a:t>
            </a:r>
            <a:endParaRPr lang="en-US" sz="2400" dirty="0"/>
          </a:p>
        </p:txBody>
      </p:sp>
      <p:sp>
        <p:nvSpPr>
          <p:cNvPr id="12" name="Text 9"/>
          <p:cNvSpPr/>
          <p:nvPr/>
        </p:nvSpPr>
        <p:spPr>
          <a:xfrm>
            <a:off x="6140450" y="3108936"/>
            <a:ext cx="1638300" cy="1214071"/>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Shuman</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Cilindros en Maadi (Egipto): motor de 60–70 hp para regar con agua del Nilo («Frank Shuman», s. f.)</a:t>
            </a:r>
            <a:endParaRPr lang="en-US" sz="1200" dirty="0"/>
          </a:p>
        </p:txBody>
      </p:sp>
      <p:sp>
        <p:nvSpPr>
          <p:cNvPr id="13" name="Text 10"/>
          <p:cNvSpPr/>
          <p:nvPr/>
        </p:nvSpPr>
        <p:spPr>
          <a:xfrm>
            <a:off x="79248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1980</a:t>
            </a:r>
            <a:endParaRPr lang="en-US" sz="2400" dirty="0"/>
          </a:p>
        </p:txBody>
      </p:sp>
      <p:sp>
        <p:nvSpPr>
          <p:cNvPr id="14" name="Text 11"/>
          <p:cNvSpPr/>
          <p:nvPr/>
        </p:nvSpPr>
        <p:spPr>
          <a:xfrm>
            <a:off x="7893050" y="3108936"/>
            <a:ext cx="1638300" cy="1015959"/>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Israel</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Primera ley del mundo que exige calentadores solares en edificios (Epp, 2015)</a:t>
            </a:r>
            <a:endParaRPr lang="en-US" sz="1200" dirty="0"/>
          </a:p>
        </p:txBody>
      </p:sp>
      <p:sp>
        <p:nvSpPr>
          <p:cNvPr id="15" name="Text 12"/>
          <p:cNvSpPr/>
          <p:nvPr/>
        </p:nvSpPr>
        <p:spPr>
          <a:xfrm>
            <a:off x="9677400" y="2207236"/>
            <a:ext cx="1574800" cy="391136"/>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2A1810"/>
                </a:solidFill>
                <a:latin typeface="Arial" pitchFamily="34" charset="0"/>
                <a:ea typeface="Arial" pitchFamily="34" charset="-122"/>
                <a:cs typeface="Arial" pitchFamily="34" charset="-120"/>
              </a:rPr>
              <a:t>2011</a:t>
            </a:r>
            <a:endParaRPr lang="en-US" sz="2400" dirty="0"/>
          </a:p>
        </p:txBody>
      </p:sp>
      <p:sp>
        <p:nvSpPr>
          <p:cNvPr id="16" name="Text 13"/>
          <p:cNvSpPr/>
          <p:nvPr/>
        </p:nvSpPr>
        <p:spPr>
          <a:xfrm>
            <a:off x="9645650" y="3108936"/>
            <a:ext cx="1638300" cy="1214071"/>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2A1810"/>
                </a:solidFill>
                <a:latin typeface="Arial" pitchFamily="34" charset="0"/>
                <a:ea typeface="Arial" pitchFamily="34" charset="-122"/>
                <a:cs typeface="Arial" pitchFamily="34" charset="-120"/>
              </a:rPr>
              <a:t>Gemasolar</a:t>
            </a:r>
            <a:endParaRPr lang="en-US" sz="1200" dirty="0"/>
          </a:p>
          <a:p>
            <a:pPr algn="ctr" indent="0" marL="0">
              <a:lnSpc>
                <a:spcPts val="1560"/>
              </a:lnSpc>
              <a:buNone/>
            </a:pPr>
            <a:r>
              <a:rPr lang="en-US" sz="1200" dirty="0">
                <a:solidFill>
                  <a:srgbClr val="2A1810"/>
                </a:solidFill>
                <a:latin typeface="Arial" pitchFamily="34" charset="0"/>
                <a:ea typeface="Arial" pitchFamily="34" charset="-122"/>
                <a:cs typeface="Arial" pitchFamily="34" charset="-120"/>
              </a:rPr>
              <a:t>Torre con sales que genera 15 horas sin sol («Gemasolar Thermosolar Plant», s. f.)</a:t>
            </a:r>
            <a:endParaRPr lang="en-US" sz="1200" dirty="0"/>
          </a:p>
        </p:txBody>
      </p:sp>
      <p:sp>
        <p:nvSpPr>
          <p:cNvPr id="17" name="Text 14"/>
          <p:cNvSpPr/>
          <p:nvPr/>
        </p:nvSpPr>
        <p:spPr>
          <a:xfrm>
            <a:off x="812800" y="5026636"/>
            <a:ext cx="10883392"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6A5444"/>
                </a:solidFill>
                <a:latin typeface="Arial" pitchFamily="34" charset="0"/>
                <a:ea typeface="Arial" pitchFamily="34" charset="-122"/>
                <a:cs typeface="Arial" pitchFamily="34" charset="-120"/>
              </a:rPr>
              <a:t>¿Por qué no despegó antes? La Primera Guerra Mundial y el petróleo barato de los años treinta frenaron la energía solar («Frank Shuman», s. f.).</a:t>
            </a:r>
            <a:endParaRPr lang="en-US" sz="1400" dirty="0"/>
          </a:p>
        </p:txBody>
      </p:sp>
      <p:sp>
        <p:nvSpPr>
          <p:cNvPr id="18" name="Text 15"/>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«Solar cooker» (s. f.); BIE (2017); NIHF (s. f.); «Frank Shuman» (s. f.); Epp (2015).</a:t>
            </a:r>
            <a:endParaRPr lang="en-US" sz="1200" dirty="0"/>
          </a:p>
        </p:txBody>
      </p:sp>
      <p:sp>
        <p:nvSpPr>
          <p:cNvPr id="19" name="Text 16"/>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5</a:t>
            </a:r>
            <a:endParaRPr lang="en-US" sz="12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CONTEXTO · DEFINICIÓN</a:t>
            </a:r>
            <a:endParaRPr lang="en-US" sz="1400" dirty="0"/>
          </a:p>
        </p:txBody>
      </p:sp>
      <p:sp>
        <p:nvSpPr>
          <p:cNvPr id="3" name="Text 1"/>
          <p:cNvSpPr/>
          <p:nvPr>
            <p:ph type="title"/>
          </p:nvPr>
        </p:nvSpPr>
        <p:spPr>
          <a:xfrm>
            <a:off x="812800" y="1264912"/>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Solar térmica no es lo mismo que fotovoltaica</a:t>
            </a:r>
            <a:endParaRPr lang="en-US" sz="3200" dirty="0"/>
          </a:p>
        </p:txBody>
      </p:sp>
      <p:sp>
        <p:nvSpPr>
          <p:cNvPr id="4" name="Text 2"/>
          <p:cNvSpPr/>
          <p:nvPr/>
        </p:nvSpPr>
        <p:spPr>
          <a:xfrm>
            <a:off x="812800" y="1915136"/>
            <a:ext cx="753981" cy="59429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43E00"/>
                </a:solidFill>
                <a:latin typeface="Arial" pitchFamily="34" charset="0"/>
                <a:ea typeface="Arial" pitchFamily="34" charset="-122"/>
                <a:cs typeface="Arial" pitchFamily="34" charset="-120"/>
              </a:rPr>
              <a:t>[icon: Sun]</a:t>
            </a:r>
            <a:endParaRPr lang="en-US" sz="1600" dirty="0"/>
          </a:p>
        </p:txBody>
      </p:sp>
      <p:sp>
        <p:nvSpPr>
          <p:cNvPr id="5" name="Text 3"/>
          <p:cNvSpPr/>
          <p:nvPr/>
        </p:nvSpPr>
        <p:spPr>
          <a:xfrm>
            <a:off x="1719181" y="1936710"/>
            <a:ext cx="9949819" cy="551147"/>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2A1810"/>
                </a:solidFill>
                <a:latin typeface="Arial" pitchFamily="34" charset="0"/>
                <a:ea typeface="Arial" pitchFamily="34" charset="-122"/>
                <a:cs typeface="Arial" pitchFamily="34" charset="-120"/>
              </a:rPr>
              <a:t>La energía solar térmica capta la radiación del sol y la entrega como </a:t>
            </a:r>
            <a:r>
              <a:rPr lang="en-US" sz="1500" b="1" dirty="0">
                <a:solidFill>
                  <a:srgbClr val="2A1810"/>
                </a:solidFill>
                <a:latin typeface="Arial" pitchFamily="34" charset="0"/>
                <a:ea typeface="Arial" pitchFamily="34" charset="-122"/>
                <a:cs typeface="Arial" pitchFamily="34" charset="-120"/>
              </a:rPr>
              <a:t>calor</a:t>
            </a:r>
            <a:r>
              <a:rPr lang="en-US" sz="1500" dirty="0">
                <a:solidFill>
                  <a:srgbClr val="2A1810"/>
                </a:solidFill>
                <a:latin typeface="Arial" pitchFamily="34" charset="0"/>
                <a:ea typeface="Arial" pitchFamily="34" charset="-122"/>
                <a:cs typeface="Arial" pitchFamily="34" charset="-120"/>
              </a:rPr>
              <a:t> a un fluido. Ese calor se usa directamente o se convierte en frío o electricidad.</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221" y="2697652"/>
          <a:ext cx="10555979" cy="2302364"/>
        </p:xfrm>
        <a:graphic>
          <a:graphicData uri="http://schemas.openxmlformats.org/drawingml/2006/table">
            <a:tbl>
              <a:tblPr/>
              <a:tblGrid>
                <a:gridCol w="2533435"/>
                <a:gridCol w="4011272"/>
                <a:gridCol w="4011272"/>
              </a:tblGrid>
              <a:tr h="383727">
                <a:tc>
                  <a:txBody>
                    <a:bodyPr/>
                    <a:lstStyle/>
                    <a:p>
                      <a:pPr indent="0" marL="0">
                        <a:lnSpc>
                          <a:spcPts val="1960"/>
                        </a:lnSpc>
                        <a:buNone/>
                      </a:pP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Solar térmica</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Solar fotovoltaica</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Conversión</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Luz → calor (fototérmica)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Luz → electricidad (efecto fotovoltaico)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Producto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Agua o aire caliente, vapor, calor de proceso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Corriente continua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Equipo central</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Colector o campo de espejos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Celda y módulo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Almacenamiento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Tanque de agua, sales fundidas, PCM</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Baterías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Electricidad</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Indirecta: vapor y turbina (CSP)</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Directa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7" name="Text 4"/>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a:t>
            </a:r>
            <a:endParaRPr lang="en-US" sz="1200" dirty="0"/>
          </a:p>
        </p:txBody>
      </p:sp>
      <p:sp>
        <p:nvSpPr>
          <p:cNvPr id="8" name="Text 5"/>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6</a:t>
            </a:r>
            <a:endParaRPr lang="en-US" sz="12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CONTEXTO · MUNDO</a:t>
            </a:r>
            <a:endParaRPr lang="en-US" sz="1400" dirty="0"/>
          </a:p>
        </p:txBody>
      </p:sp>
      <p:sp>
        <p:nvSpPr>
          <p:cNvPr id="3" name="Text 1"/>
          <p:cNvSpPr/>
          <p:nvPr>
            <p:ph type="title"/>
          </p:nvPr>
        </p:nvSpPr>
        <p:spPr>
          <a:xfrm>
            <a:off x="812800" y="1264912"/>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Una industria enorme y poco visible</a:t>
            </a:r>
            <a:endParaRPr lang="en-US" sz="3200" dirty="0"/>
          </a:p>
        </p:txBody>
      </p:sp>
      <p:sp>
        <p:nvSpPr>
          <p:cNvPr id="4" name="Shape 2"/>
          <p:cNvSpPr/>
          <p:nvPr/>
        </p:nvSpPr>
        <p:spPr>
          <a:xfrm>
            <a:off x="812800" y="1915136"/>
            <a:ext cx="3403600" cy="1862992"/>
          </a:xfrm>
          <a:prstGeom prst="roundRect">
            <a:avLst>
              <a:gd name="adj" fmla="val 5454"/>
            </a:avLst>
          </a:prstGeom>
          <a:solidFill>
            <a:srgbClr val="44261A"/>
          </a:solidFill>
          <a:ln/>
        </p:spPr>
      </p:sp>
      <p:sp>
        <p:nvSpPr>
          <p:cNvPr id="5" name="Text 3"/>
          <p:cNvSpPr/>
          <p:nvPr/>
        </p:nvSpPr>
        <p:spPr>
          <a:xfrm>
            <a:off x="10414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560 GWth</a:t>
            </a:r>
            <a:endParaRPr lang="en-US" sz="4800" dirty="0"/>
          </a:p>
        </p:txBody>
      </p:sp>
      <p:sp>
        <p:nvSpPr>
          <p:cNvPr id="6" name="Text 4"/>
          <p:cNvSpPr/>
          <p:nvPr/>
        </p:nvSpPr>
        <p:spPr>
          <a:xfrm>
            <a:off x="1041400" y="2829536"/>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de colectores en operación a finales de 2023, unos 800 millones de m² (IEA SHC, 2024)</a:t>
            </a:r>
            <a:endParaRPr lang="en-US" sz="1400" dirty="0"/>
          </a:p>
        </p:txBody>
      </p:sp>
      <p:sp>
        <p:nvSpPr>
          <p:cNvPr id="7" name="Shape 5"/>
          <p:cNvSpPr/>
          <p:nvPr/>
        </p:nvSpPr>
        <p:spPr>
          <a:xfrm>
            <a:off x="4394200" y="1915136"/>
            <a:ext cx="3403600" cy="1862992"/>
          </a:xfrm>
          <a:prstGeom prst="roundRect">
            <a:avLst>
              <a:gd name="adj" fmla="val 5454"/>
            </a:avLst>
          </a:prstGeom>
          <a:solidFill>
            <a:srgbClr val="44261A"/>
          </a:solidFill>
          <a:ln/>
        </p:spPr>
      </p:sp>
      <p:sp>
        <p:nvSpPr>
          <p:cNvPr id="8" name="Text 6"/>
          <p:cNvSpPr/>
          <p:nvPr/>
        </p:nvSpPr>
        <p:spPr>
          <a:xfrm>
            <a:off x="46228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−14 %</a:t>
            </a:r>
            <a:endParaRPr lang="en-US" sz="4800" dirty="0"/>
          </a:p>
        </p:txBody>
      </p:sp>
      <p:sp>
        <p:nvSpPr>
          <p:cNvPr id="9" name="Text 7"/>
          <p:cNvSpPr/>
          <p:nvPr/>
        </p:nvSpPr>
        <p:spPr>
          <a:xfrm>
            <a:off x="4622800" y="2829536"/>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cayó el mercado mundial en 2024, tras 21 GWth instalados en 2023 (IEA SHC, 2024, 2025)</a:t>
            </a:r>
            <a:endParaRPr lang="en-US" sz="1400" dirty="0"/>
          </a:p>
        </p:txBody>
      </p:sp>
      <p:sp>
        <p:nvSpPr>
          <p:cNvPr id="10" name="Shape 8"/>
          <p:cNvSpPr/>
          <p:nvPr/>
        </p:nvSpPr>
        <p:spPr>
          <a:xfrm>
            <a:off x="7975600" y="1915136"/>
            <a:ext cx="3403600" cy="1862992"/>
          </a:xfrm>
          <a:prstGeom prst="roundRect">
            <a:avLst>
              <a:gd name="adj" fmla="val 5454"/>
            </a:avLst>
          </a:prstGeom>
          <a:solidFill>
            <a:srgbClr val="44261A"/>
          </a:solidFill>
          <a:ln/>
        </p:spPr>
      </p:sp>
      <p:sp>
        <p:nvSpPr>
          <p:cNvPr id="11" name="Text 9"/>
          <p:cNvSpPr/>
          <p:nvPr/>
        </p:nvSpPr>
        <p:spPr>
          <a:xfrm>
            <a:off x="82042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7,2 GW</a:t>
            </a:r>
            <a:endParaRPr lang="en-US" sz="4800" dirty="0"/>
          </a:p>
        </p:txBody>
      </p:sp>
      <p:sp>
        <p:nvSpPr>
          <p:cNvPr id="12" name="Text 10"/>
          <p:cNvSpPr/>
          <p:nvPr/>
        </p:nvSpPr>
        <p:spPr>
          <a:xfrm>
            <a:off x="8204200" y="2829536"/>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de energía solar de concentración (CSP) para electricidad a finales de 2024 (REN21, 2025)</a:t>
            </a:r>
            <a:endParaRPr lang="en-US" sz="1400" dirty="0"/>
          </a:p>
        </p:txBody>
      </p:sp>
      <p:sp>
        <p:nvSpPr>
          <p:cNvPr id="13" name="Text 11"/>
          <p:cNvSpPr/>
          <p:nvPr/>
        </p:nvSpPr>
        <p:spPr>
          <a:xfrm>
            <a:off x="812800" y="3981329"/>
            <a:ext cx="10883392" cy="58615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E8CDB0"/>
                </a:solidFill>
                <a:latin typeface="Arial" pitchFamily="34" charset="0"/>
                <a:ea typeface="Arial" pitchFamily="34" charset="-122"/>
                <a:cs typeface="Arial" pitchFamily="34" charset="-120"/>
              </a:rPr>
              <a:t>Los edificios y la industria concentran el 97 % de la demanda final de calor: agua caliente, calor de proceso y calefacción (IEA SHC, 2024).</a:t>
            </a:r>
            <a:endParaRPr lang="en-US" sz="1600" dirty="0"/>
          </a:p>
        </p:txBody>
      </p:sp>
      <p:sp>
        <p:nvSpPr>
          <p:cNvPr id="14" name="Text 12"/>
          <p:cNvSpPr/>
          <p:nvPr/>
        </p:nvSpPr>
        <p:spPr>
          <a:xfrm>
            <a:off x="812800" y="6238264"/>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IEA SHC (2024, 2025); REN21 (2025).</a:t>
            </a:r>
            <a:endParaRPr lang="en-US" sz="1200" dirty="0"/>
          </a:p>
        </p:txBody>
      </p:sp>
      <p:sp>
        <p:nvSpPr>
          <p:cNvPr id="15" name="Text 13"/>
          <p:cNvSpPr/>
          <p:nvPr/>
        </p:nvSpPr>
        <p:spPr>
          <a:xfrm>
            <a:off x="10972800" y="6238264"/>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7</a:t>
            </a:r>
            <a:endParaRPr lang="en-US"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CONTEXTO · MERCADO 2024</a:t>
            </a:r>
            <a:endParaRPr lang="en-US" sz="1400" dirty="0"/>
          </a:p>
        </p:txBody>
      </p:sp>
      <p:sp>
        <p:nvSpPr>
          <p:cNvPr id="3" name="Text 1"/>
          <p:cNvSpPr/>
          <p:nvPr>
            <p:ph type="title"/>
          </p:nvPr>
        </p:nvSpPr>
        <p:spPr>
          <a:xfrm>
            <a:off x="812800" y="1264912"/>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Lo que se instaló en el último año</a:t>
            </a:r>
            <a:endParaRPr lang="en-US" sz="3200" dirty="0"/>
          </a:p>
        </p:txBody>
      </p:sp>
      <p:sp>
        <p:nvSpPr>
          <p:cNvPr id="4" name="Shape 2"/>
          <p:cNvSpPr/>
          <p:nvPr/>
        </p:nvSpPr>
        <p:spPr>
          <a:xfrm>
            <a:off x="812800" y="1915136"/>
            <a:ext cx="3403600" cy="1862992"/>
          </a:xfrm>
          <a:prstGeom prst="roundRect">
            <a:avLst>
              <a:gd name="adj" fmla="val 5454"/>
            </a:avLst>
          </a:prstGeom>
          <a:solidFill>
            <a:srgbClr val="44261A"/>
          </a:solidFill>
          <a:ln/>
        </p:spPr>
      </p:sp>
      <p:sp>
        <p:nvSpPr>
          <p:cNvPr id="5" name="Text 3"/>
          <p:cNvSpPr/>
          <p:nvPr/>
        </p:nvSpPr>
        <p:spPr>
          <a:xfrm>
            <a:off x="10414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17,8 GWth</a:t>
            </a:r>
            <a:endParaRPr lang="en-US" sz="4800" dirty="0"/>
          </a:p>
        </p:txBody>
      </p:sp>
      <p:sp>
        <p:nvSpPr>
          <p:cNvPr id="6" name="Text 4"/>
          <p:cNvSpPr/>
          <p:nvPr/>
        </p:nvSpPr>
        <p:spPr>
          <a:xfrm>
            <a:off x="1041400" y="2829536"/>
            <a:ext cx="3034792" cy="50539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de capacidad solar térmica nueva instalada en 2024 en el mundo</a:t>
            </a:r>
            <a:endParaRPr lang="en-US" sz="1400" dirty="0"/>
          </a:p>
        </p:txBody>
      </p:sp>
      <p:sp>
        <p:nvSpPr>
          <p:cNvPr id="7" name="Shape 5"/>
          <p:cNvSpPr/>
          <p:nvPr/>
        </p:nvSpPr>
        <p:spPr>
          <a:xfrm>
            <a:off x="4394200" y="1915136"/>
            <a:ext cx="3403600" cy="1862992"/>
          </a:xfrm>
          <a:prstGeom prst="roundRect">
            <a:avLst>
              <a:gd name="adj" fmla="val 5454"/>
            </a:avLst>
          </a:prstGeom>
          <a:solidFill>
            <a:srgbClr val="44261A"/>
          </a:solidFill>
          <a:ln/>
        </p:spPr>
      </p:sp>
      <p:sp>
        <p:nvSpPr>
          <p:cNvPr id="8" name="Text 6"/>
          <p:cNvSpPr/>
          <p:nvPr/>
        </p:nvSpPr>
        <p:spPr>
          <a:xfrm>
            <a:off x="46228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346</a:t>
            </a:r>
            <a:endParaRPr lang="en-US" sz="4800" dirty="0"/>
          </a:p>
        </p:txBody>
      </p:sp>
      <p:sp>
        <p:nvSpPr>
          <p:cNvPr id="9" name="Text 7"/>
          <p:cNvSpPr/>
          <p:nvPr/>
        </p:nvSpPr>
        <p:spPr>
          <a:xfrm>
            <a:off x="4622800" y="2829536"/>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pueblos y ciudades con redes de calefacción solar; 10 sistemas nuevos en 2024 (74 MW)</a:t>
            </a:r>
            <a:endParaRPr lang="en-US" sz="1400" dirty="0"/>
          </a:p>
        </p:txBody>
      </p:sp>
      <p:sp>
        <p:nvSpPr>
          <p:cNvPr id="10" name="Shape 8"/>
          <p:cNvSpPr/>
          <p:nvPr/>
        </p:nvSpPr>
        <p:spPr>
          <a:xfrm>
            <a:off x="7975600" y="1915136"/>
            <a:ext cx="3403600" cy="1862992"/>
          </a:xfrm>
          <a:prstGeom prst="roundRect">
            <a:avLst>
              <a:gd name="adj" fmla="val 5454"/>
            </a:avLst>
          </a:prstGeom>
          <a:solidFill>
            <a:srgbClr val="44261A"/>
          </a:solidFill>
          <a:ln/>
        </p:spPr>
      </p:sp>
      <p:sp>
        <p:nvSpPr>
          <p:cNvPr id="11" name="Text 9"/>
          <p:cNvSpPr/>
          <p:nvPr/>
        </p:nvSpPr>
        <p:spPr>
          <a:xfrm>
            <a:off x="8204200" y="2143736"/>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46</a:t>
            </a:r>
            <a:endParaRPr lang="en-US" sz="4800" dirty="0"/>
          </a:p>
        </p:txBody>
      </p:sp>
      <p:sp>
        <p:nvSpPr>
          <p:cNvPr id="12" name="Text 10"/>
          <p:cNvSpPr/>
          <p:nvPr/>
        </p:nvSpPr>
        <p:spPr>
          <a:xfrm>
            <a:off x="8204200" y="2829536"/>
            <a:ext cx="3034792" cy="50539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fabricantes de colectores híbridos PVT reportaron ventas, un récord</a:t>
            </a:r>
            <a:endParaRPr lang="en-US" sz="1400" dirty="0"/>
          </a:p>
        </p:txBody>
      </p:sp>
      <p:sp>
        <p:nvSpPr>
          <p:cNvPr id="13" name="Text 11"/>
          <p:cNvSpPr/>
          <p:nvPr/>
        </p:nvSpPr>
        <p:spPr>
          <a:xfrm>
            <a:off x="812800" y="3981329"/>
            <a:ext cx="11379200"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E8CDB0"/>
                </a:solidFill>
                <a:latin typeface="Arial" pitchFamily="34" charset="0"/>
                <a:ea typeface="Arial" pitchFamily="34" charset="-122"/>
                <a:cs typeface="Arial" pitchFamily="34" charset="-120"/>
              </a:rPr>
              <a:t>Más de 70 países reportan datos al informe Solar Heat Worldwide. México, Brasil y Türkiye crecieron a dos dígitos en 2024.</a:t>
            </a:r>
            <a:endParaRPr lang="en-US" sz="1500" dirty="0"/>
          </a:p>
        </p:txBody>
      </p:sp>
      <p:sp>
        <p:nvSpPr>
          <p:cNvPr id="14" name="Text 12"/>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IEA SHC (2025), Solar heat worldwide, edición 2025.</a:t>
            </a:r>
            <a:endParaRPr lang="en-US" sz="1200" dirty="0"/>
          </a:p>
        </p:txBody>
      </p:sp>
      <p:sp>
        <p:nvSpPr>
          <p:cNvPr id="15" name="Text 13"/>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8</a:t>
            </a:r>
            <a:endParaRPr lang="en-US" sz="12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CONTEXTO · CONCENTRACIÓN SOLAR</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7,2 GW de plantas CSP en el mundo</a:t>
            </a:r>
            <a:endParaRPr lang="en-US" sz="3200" dirty="0"/>
          </a:p>
        </p:txBody>
      </p:sp>
      <p:pic>
        <p:nvPicPr>
          <p:cNvPr id="4" name="Image 0" descr="Capacidad CSP a finales de 2024: España 2,3 GW, Estados Unidos 1,5 GW, resto del mundo 3,4 GW">    </p:cNvPr>
          <p:cNvPicPr>
            <a:picLocks noChangeAspect="1"/>
          </p:cNvPicPr>
          <p:nvPr/>
        </p:nvPicPr>
        <p:blipFill>
          <a:blip r:embed="rId1"/>
          <a:srcRect l="0" r="0" t="0" b="0"/>
          <a:stretch/>
        </p:blipFill>
        <p:spPr>
          <a:xfrm>
            <a:off x="812800" y="1915139"/>
            <a:ext cx="6223000" cy="2286000"/>
          </a:xfrm>
          <a:prstGeom prst="rect">
            <a:avLst/>
          </a:prstGeom>
        </p:spPr>
      </p:pic>
      <p:sp>
        <p:nvSpPr>
          <p:cNvPr id="5" name="Text 2"/>
          <p:cNvSpPr/>
          <p:nvPr/>
        </p:nvSpPr>
        <p:spPr>
          <a:xfrm>
            <a:off x="762000" y="2207239"/>
            <a:ext cx="1574800" cy="238736"/>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FBF4E8"/>
                </a:solidFill>
                <a:latin typeface="Arial" pitchFamily="34" charset="0"/>
                <a:ea typeface="Arial" pitchFamily="34" charset="-122"/>
                <a:cs typeface="Arial" pitchFamily="34" charset="-120"/>
              </a:rPr>
              <a:t>España</a:t>
            </a:r>
            <a:endParaRPr lang="en-US" sz="1400" dirty="0"/>
          </a:p>
        </p:txBody>
      </p:sp>
      <p:sp>
        <p:nvSpPr>
          <p:cNvPr id="6" name="Text 3"/>
          <p:cNvSpPr/>
          <p:nvPr/>
        </p:nvSpPr>
        <p:spPr>
          <a:xfrm>
            <a:off x="4940300" y="2194539"/>
            <a:ext cx="939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B347"/>
                </a:solidFill>
                <a:latin typeface="Arial" pitchFamily="34" charset="0"/>
                <a:ea typeface="Arial" pitchFamily="34" charset="-122"/>
                <a:cs typeface="Arial" pitchFamily="34" charset="-120"/>
              </a:rPr>
              <a:t>2,3 GW</a:t>
            </a:r>
            <a:endParaRPr lang="en-US" sz="1500" dirty="0"/>
          </a:p>
        </p:txBody>
      </p:sp>
      <p:sp>
        <p:nvSpPr>
          <p:cNvPr id="7" name="Text 4"/>
          <p:cNvSpPr/>
          <p:nvPr/>
        </p:nvSpPr>
        <p:spPr>
          <a:xfrm>
            <a:off x="762000" y="2905739"/>
            <a:ext cx="1574800" cy="238736"/>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FBF4E8"/>
                </a:solidFill>
                <a:latin typeface="Arial" pitchFamily="34" charset="0"/>
                <a:ea typeface="Arial" pitchFamily="34" charset="-122"/>
                <a:cs typeface="Arial" pitchFamily="34" charset="-120"/>
              </a:rPr>
              <a:t>Estados Unidos</a:t>
            </a:r>
            <a:endParaRPr lang="en-US" sz="1400" dirty="0"/>
          </a:p>
        </p:txBody>
      </p:sp>
      <p:sp>
        <p:nvSpPr>
          <p:cNvPr id="8" name="Text 5"/>
          <p:cNvSpPr/>
          <p:nvPr/>
        </p:nvSpPr>
        <p:spPr>
          <a:xfrm>
            <a:off x="4108450" y="2893039"/>
            <a:ext cx="939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B347"/>
                </a:solidFill>
                <a:latin typeface="Arial" pitchFamily="34" charset="0"/>
                <a:ea typeface="Arial" pitchFamily="34" charset="-122"/>
                <a:cs typeface="Arial" pitchFamily="34" charset="-120"/>
              </a:rPr>
              <a:t>1,5 GW</a:t>
            </a:r>
            <a:endParaRPr lang="en-US" sz="1500" dirty="0"/>
          </a:p>
        </p:txBody>
      </p:sp>
      <p:sp>
        <p:nvSpPr>
          <p:cNvPr id="9" name="Text 6"/>
          <p:cNvSpPr/>
          <p:nvPr/>
        </p:nvSpPr>
        <p:spPr>
          <a:xfrm>
            <a:off x="762000" y="3604239"/>
            <a:ext cx="1574800" cy="238736"/>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FBF4E8"/>
                </a:solidFill>
                <a:latin typeface="Arial" pitchFamily="34" charset="0"/>
                <a:ea typeface="Arial" pitchFamily="34" charset="-122"/>
                <a:cs typeface="Arial" pitchFamily="34" charset="-120"/>
              </a:rPr>
              <a:t>Resto del mundo</a:t>
            </a:r>
            <a:endParaRPr lang="en-US" sz="1400" dirty="0"/>
          </a:p>
        </p:txBody>
      </p:sp>
      <p:sp>
        <p:nvSpPr>
          <p:cNvPr id="10" name="Text 7"/>
          <p:cNvSpPr/>
          <p:nvPr/>
        </p:nvSpPr>
        <p:spPr>
          <a:xfrm>
            <a:off x="6096000" y="3591539"/>
            <a:ext cx="939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B347"/>
                </a:solidFill>
                <a:latin typeface="Arial" pitchFamily="34" charset="0"/>
                <a:ea typeface="Arial" pitchFamily="34" charset="-122"/>
                <a:cs typeface="Arial" pitchFamily="34" charset="-120"/>
              </a:rPr>
              <a:t>3,4 GW</a:t>
            </a:r>
            <a:endParaRPr lang="en-US" sz="1500" dirty="0"/>
          </a:p>
        </p:txBody>
      </p:sp>
      <p:sp>
        <p:nvSpPr>
          <p:cNvPr id="11" name="Text 8"/>
          <p:cNvSpPr/>
          <p:nvPr/>
        </p:nvSpPr>
        <p:spPr>
          <a:xfrm>
            <a:off x="7340600" y="1915139"/>
            <a:ext cx="415975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FBF4E8"/>
                </a:solidFill>
                <a:latin typeface="Arial" pitchFamily="34" charset="0"/>
                <a:ea typeface="Arial" pitchFamily="34" charset="-122"/>
                <a:cs typeface="Arial" pitchFamily="34" charset="-120"/>
              </a:rPr>
              <a:t>China</a:t>
            </a:r>
            <a:r>
              <a:rPr lang="en-US" sz="1400" dirty="0">
                <a:solidFill>
                  <a:srgbClr val="FBF4E8"/>
                </a:solidFill>
                <a:latin typeface="Arial" pitchFamily="34" charset="0"/>
                <a:ea typeface="Arial" pitchFamily="34" charset="-122"/>
                <a:cs typeface="Arial" pitchFamily="34" charset="-120"/>
              </a:rPr>
              <a:t> conectó 250 MW de los 350 MW nuevos de 2024 y tenía 3,3 GW en construcción.</a:t>
            </a:r>
            <a:endParaRPr lang="en-US" sz="1400" dirty="0"/>
          </a:p>
        </p:txBody>
      </p:sp>
      <p:sp>
        <p:nvSpPr>
          <p:cNvPr id="12" name="Text 9"/>
          <p:cNvSpPr/>
          <p:nvPr/>
        </p:nvSpPr>
        <p:spPr>
          <a:xfrm>
            <a:off x="7340600" y="2558194"/>
            <a:ext cx="415975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FBF4E8"/>
                </a:solidFill>
                <a:latin typeface="Arial" pitchFamily="34" charset="0"/>
                <a:ea typeface="Arial" pitchFamily="34" charset="-122"/>
                <a:cs typeface="Arial" pitchFamily="34" charset="-120"/>
              </a:rPr>
              <a:t>Yumen</a:t>
            </a:r>
            <a:r>
              <a:rPr lang="en-US" sz="1400" dirty="0">
                <a:solidFill>
                  <a:srgbClr val="FBF4E8"/>
                </a:solidFill>
                <a:latin typeface="Arial" pitchFamily="34" charset="0"/>
                <a:ea typeface="Arial" pitchFamily="34" charset="-122"/>
                <a:cs typeface="Arial" pitchFamily="34" charset="-120"/>
              </a:rPr>
              <a:t> (China, 100 MW) es la planta Fresnel más grande en operación.</a:t>
            </a:r>
            <a:endParaRPr lang="en-US" sz="1400" dirty="0"/>
          </a:p>
        </p:txBody>
      </p:sp>
      <p:sp>
        <p:nvSpPr>
          <p:cNvPr id="13" name="Text 10"/>
          <p:cNvSpPr/>
          <p:nvPr/>
        </p:nvSpPr>
        <p:spPr>
          <a:xfrm>
            <a:off x="7340600" y="3201256"/>
            <a:ext cx="415975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FBF4E8"/>
                </a:solidFill>
                <a:latin typeface="Arial" pitchFamily="34" charset="0"/>
                <a:ea typeface="Arial" pitchFamily="34" charset="-122"/>
                <a:cs typeface="Arial" pitchFamily="34" charset="-120"/>
              </a:rPr>
              <a:t>Ivanpah</a:t>
            </a:r>
            <a:r>
              <a:rPr lang="en-US" sz="1400" dirty="0">
                <a:solidFill>
                  <a:srgbClr val="FBF4E8"/>
                </a:solidFill>
                <a:latin typeface="Arial" pitchFamily="34" charset="0"/>
                <a:ea typeface="Arial" pitchFamily="34" charset="-122"/>
                <a:cs typeface="Arial" pitchFamily="34" charset="-120"/>
              </a:rPr>
              <a:t> (EE. UU., 386 MW, sin almacenamiento) tenía cierre previsto para 2026.</a:t>
            </a:r>
            <a:endParaRPr lang="en-US" sz="1400" dirty="0"/>
          </a:p>
        </p:txBody>
      </p:sp>
      <p:sp>
        <p:nvSpPr>
          <p:cNvPr id="14" name="Text 11"/>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REN21 (2025). «Resto del mundo» = 7,2 − 2,3 − 1,5 GW, cálculo propio.</a:t>
            </a:r>
            <a:endParaRPr lang="en-US" sz="1200" dirty="0"/>
          </a:p>
        </p:txBody>
      </p:sp>
      <p:sp>
        <p:nvSpPr>
          <p:cNvPr id="15" name="Text 12"/>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9</a:t>
            </a:r>
            <a:endParaRPr lang="en-US" sz="12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CONTEXTO · COLOMBIA</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El potencial está en casa</a:t>
            </a:r>
            <a:endParaRPr lang="en-US" sz="3200" dirty="0"/>
          </a:p>
        </p:txBody>
      </p:sp>
      <p:sp>
        <p:nvSpPr>
          <p:cNvPr id="4" name="Shape 2"/>
          <p:cNvSpPr/>
          <p:nvPr/>
        </p:nvSpPr>
        <p:spPr>
          <a:xfrm>
            <a:off x="815975" y="1918314"/>
            <a:ext cx="3414183" cy="2226164"/>
          </a:xfrm>
          <a:prstGeom prst="roundRect">
            <a:avLst>
              <a:gd name="adj" fmla="val 4421"/>
            </a:avLst>
          </a:prstGeom>
          <a:solidFill>
            <a:srgbClr val="FFFFFF"/>
          </a:solidFill>
          <a:ln w="6350">
            <a:solidFill>
              <a:srgbClr val="EADBC4"/>
            </a:solidFill>
            <a:prstDash val="solid"/>
          </a:ln>
        </p:spPr>
      </p:sp>
      <p:sp>
        <p:nvSpPr>
          <p:cNvPr id="5" name="Text 3"/>
          <p:cNvSpPr/>
          <p:nvPr/>
        </p:nvSpPr>
        <p:spPr>
          <a:xfrm>
            <a:off x="1021210" y="2123548"/>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Recurso</a:t>
            </a:r>
            <a:endParaRPr lang="en-US" sz="1600" dirty="0"/>
          </a:p>
        </p:txBody>
      </p:sp>
      <p:sp>
        <p:nvSpPr>
          <p:cNvPr id="6" name="Text 4"/>
          <p:cNvSpPr/>
          <p:nvPr/>
        </p:nvSpPr>
        <p:spPr>
          <a:xfrm>
            <a:off x="1021210" y="2443572"/>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El Caribe está entre las zonas de mayor radiación global del país (Benavides, 2018).</a:t>
            </a:r>
            <a:endParaRPr lang="en-US" sz="1350" dirty="0"/>
          </a:p>
        </p:txBody>
      </p:sp>
      <p:sp>
        <p:nvSpPr>
          <p:cNvPr id="7" name="Text 5"/>
          <p:cNvSpPr/>
          <p:nvPr/>
        </p:nvSpPr>
        <p:spPr>
          <a:xfrm>
            <a:off x="1021210" y="3229502"/>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Uribia (La Guajira) registra el mayor brillo solar medio: unas 8,3 horas de sol al día (Benavides, 2018).</a:t>
            </a:r>
            <a:endParaRPr lang="en-US" sz="1350" dirty="0"/>
          </a:p>
        </p:txBody>
      </p:sp>
      <p:sp>
        <p:nvSpPr>
          <p:cNvPr id="8" name="Shape 6"/>
          <p:cNvSpPr/>
          <p:nvPr/>
        </p:nvSpPr>
        <p:spPr>
          <a:xfrm>
            <a:off x="4388908" y="1918314"/>
            <a:ext cx="3414183" cy="2226164"/>
          </a:xfrm>
          <a:prstGeom prst="roundRect">
            <a:avLst>
              <a:gd name="adj" fmla="val 4421"/>
            </a:avLst>
          </a:prstGeom>
          <a:solidFill>
            <a:srgbClr val="FFFFFF"/>
          </a:solidFill>
          <a:ln w="6350">
            <a:solidFill>
              <a:srgbClr val="EADBC4"/>
            </a:solidFill>
            <a:prstDash val="solid"/>
          </a:ln>
        </p:spPr>
      </p:sp>
      <p:sp>
        <p:nvSpPr>
          <p:cNvPr id="9" name="Text 7"/>
          <p:cNvSpPr/>
          <p:nvPr/>
        </p:nvSpPr>
        <p:spPr>
          <a:xfrm>
            <a:off x="4594144" y="2123548"/>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Investigación local</a:t>
            </a:r>
            <a:endParaRPr lang="en-US" sz="1600" dirty="0"/>
          </a:p>
        </p:txBody>
      </p:sp>
      <p:sp>
        <p:nvSpPr>
          <p:cNvPr id="10" name="Text 8"/>
          <p:cNvSpPr/>
          <p:nvPr/>
        </p:nvSpPr>
        <p:spPr>
          <a:xfrm>
            <a:off x="4594144" y="2443572"/>
            <a:ext cx="3093824" cy="971713"/>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Un estudio de 2026 simula un colector plano para agua caliente en vivienda de interés social en Colombia (Marín Quiroga y Solís-Chaves, 2026).</a:t>
            </a:r>
            <a:endParaRPr lang="en-US" sz="1350" dirty="0"/>
          </a:p>
        </p:txBody>
      </p:sp>
      <p:sp>
        <p:nvSpPr>
          <p:cNvPr id="11" name="Text 9"/>
          <p:cNvSpPr/>
          <p:nvPr/>
        </p:nvSpPr>
        <p:spPr>
          <a:xfrm>
            <a:off x="4594144" y="3466083"/>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Inclinación, orientación y volumen del tanque son los factores clave.</a:t>
            </a:r>
            <a:endParaRPr lang="en-US" sz="1350" dirty="0"/>
          </a:p>
        </p:txBody>
      </p:sp>
      <p:sp>
        <p:nvSpPr>
          <p:cNvPr id="12" name="Shape 10"/>
          <p:cNvSpPr/>
          <p:nvPr/>
        </p:nvSpPr>
        <p:spPr>
          <a:xfrm>
            <a:off x="7961842" y="1918314"/>
            <a:ext cx="3414183" cy="2226164"/>
          </a:xfrm>
          <a:prstGeom prst="roundRect">
            <a:avLst>
              <a:gd name="adj" fmla="val 4421"/>
            </a:avLst>
          </a:prstGeom>
          <a:solidFill>
            <a:srgbClr val="FFFFFF"/>
          </a:solidFill>
          <a:ln w="6350">
            <a:solidFill>
              <a:srgbClr val="EADBC4"/>
            </a:solidFill>
            <a:prstDash val="solid"/>
          </a:ln>
        </p:spPr>
      </p:sp>
      <p:sp>
        <p:nvSpPr>
          <p:cNvPr id="13" name="Text 11"/>
          <p:cNvSpPr/>
          <p:nvPr/>
        </p:nvSpPr>
        <p:spPr>
          <a:xfrm>
            <a:off x="8167077" y="2123548"/>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Marco legal</a:t>
            </a:r>
            <a:endParaRPr lang="en-US" sz="1600" dirty="0"/>
          </a:p>
        </p:txBody>
      </p:sp>
      <p:sp>
        <p:nvSpPr>
          <p:cNvPr id="14" name="Text 12"/>
          <p:cNvSpPr/>
          <p:nvPr/>
        </p:nvSpPr>
        <p:spPr>
          <a:xfrm>
            <a:off x="8167077" y="2443572"/>
            <a:ext cx="3093824" cy="971713"/>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La energía solar es fuente no convencional (FNCE) con incentivos tributarios (Ley 1715 de 2014; Ley 2099 de 2021).</a:t>
            </a:r>
            <a:endParaRPr lang="en-US" sz="1350" dirty="0"/>
          </a:p>
        </p:txBody>
      </p:sp>
      <p:sp>
        <p:nvSpPr>
          <p:cNvPr id="15" name="Text 13"/>
          <p:cNvSpPr/>
          <p:nvPr/>
        </p:nvSpPr>
        <p:spPr>
          <a:xfrm>
            <a:off x="8167077" y="3466083"/>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No encontramos una cifra oficial de colectores instalados en el país.</a:t>
            </a:r>
            <a:endParaRPr lang="en-US" sz="1350" dirty="0"/>
          </a:p>
        </p:txBody>
      </p:sp>
      <p:sp>
        <p:nvSpPr>
          <p:cNvPr id="16" name="Text 14"/>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Benavides (2018); Marín Quiroga y Solís-Chaves (2026); Ley 1715 de 2014; Ley 2099 de 2021.</a:t>
            </a:r>
            <a:endParaRPr lang="en-US" sz="1200" dirty="0"/>
          </a:p>
        </p:txBody>
      </p:sp>
      <p:sp>
        <p:nvSpPr>
          <p:cNvPr id="17" name="Text 15"/>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10</a:t>
            </a:r>
            <a:endParaRPr lang="en-US" sz="12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CONTEXTO · RECURSO SOLAR</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Irradiancia, irradiación y horas sol pico</a:t>
            </a:r>
            <a:endParaRPr lang="en-US" sz="3200" dirty="0"/>
          </a:p>
        </p:txBody>
      </p:sp>
      <p:sp>
        <p:nvSpPr>
          <p:cNvPr id="4" name="Text 2"/>
          <p:cNvSpPr/>
          <p:nvPr/>
        </p:nvSpPr>
        <p:spPr>
          <a:xfrm>
            <a:off x="812800" y="1915139"/>
            <a:ext cx="5070062" cy="551147"/>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2A1810"/>
                </a:solidFill>
                <a:latin typeface="Arial" pitchFamily="34" charset="0"/>
                <a:ea typeface="Arial" pitchFamily="34" charset="-122"/>
                <a:cs typeface="Arial" pitchFamily="34" charset="-120"/>
              </a:rPr>
              <a:t>Irradiancia G</a:t>
            </a:r>
            <a:r>
              <a:rPr lang="en-US" sz="1500" dirty="0">
                <a:solidFill>
                  <a:srgbClr val="2A1810"/>
                </a:solidFill>
                <a:latin typeface="Arial" pitchFamily="34" charset="0"/>
                <a:ea typeface="Arial" pitchFamily="34" charset="-122"/>
                <a:cs typeface="Arial" pitchFamily="34" charset="-120"/>
              </a:rPr>
              <a:t> (W/m²): potencia solar por unidad de área en un instante (Duffie et al., 2020).</a:t>
            </a:r>
            <a:endParaRPr lang="en-US" sz="1500" dirty="0"/>
          </a:p>
        </p:txBody>
      </p:sp>
      <p:sp>
        <p:nvSpPr>
          <p:cNvPr id="5" name="Text 3"/>
          <p:cNvSpPr/>
          <p:nvPr/>
        </p:nvSpPr>
        <p:spPr>
          <a:xfrm>
            <a:off x="812800" y="2593287"/>
            <a:ext cx="5070062" cy="81402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2A1810"/>
                </a:solidFill>
                <a:latin typeface="Arial" pitchFamily="34" charset="0"/>
                <a:ea typeface="Arial" pitchFamily="34" charset="-122"/>
                <a:cs typeface="Arial" pitchFamily="34" charset="-120"/>
              </a:rPr>
              <a:t>Irradiación H</a:t>
            </a:r>
            <a:r>
              <a:rPr lang="en-US" sz="1500" dirty="0">
                <a:solidFill>
                  <a:srgbClr val="2A1810"/>
                </a:solidFill>
                <a:latin typeface="Arial" pitchFamily="34" charset="0"/>
                <a:ea typeface="Arial" pitchFamily="34" charset="-122"/>
                <a:cs typeface="Arial" pitchFamily="34" charset="-120"/>
              </a:rPr>
              <a:t> (kWh/m²·día): energía acumulada en el día; numéricamente igual a las horas sol pico (HSP) (Duffie et al., 2020).</a:t>
            </a:r>
            <a:endParaRPr lang="en-US" sz="1500" dirty="0"/>
          </a:p>
        </p:txBody>
      </p:sp>
      <p:sp>
        <p:nvSpPr>
          <p:cNvPr id="6" name="Text 4"/>
          <p:cNvSpPr/>
          <p:nvPr/>
        </p:nvSpPr>
        <p:spPr>
          <a:xfrm>
            <a:off x="812800" y="3534302"/>
            <a:ext cx="5070062" cy="551147"/>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2A1810"/>
                </a:solidFill>
                <a:latin typeface="Arial" pitchFamily="34" charset="0"/>
                <a:ea typeface="Arial" pitchFamily="34" charset="-122"/>
                <a:cs typeface="Arial" pitchFamily="34" charset="-120"/>
              </a:rPr>
              <a:t>Al mediodía con cielo despejado G se acerca a 1000 W/m², valor de referencia (Duffie et al., 2020).</a:t>
            </a:r>
            <a:endParaRPr lang="en-US" sz="1500" dirty="0"/>
          </a:p>
        </p:txBody>
      </p:sp>
      <p:sp>
        <p:nvSpPr>
          <p:cNvPr id="7" name="Shape 5"/>
          <p:cNvSpPr/>
          <p:nvPr/>
        </p:nvSpPr>
        <p:spPr>
          <a:xfrm>
            <a:off x="6043165" y="1918314"/>
            <a:ext cx="5332860" cy="2600203"/>
          </a:xfrm>
          <a:prstGeom prst="roundRect">
            <a:avLst>
              <a:gd name="adj" fmla="val 3785"/>
            </a:avLst>
          </a:prstGeom>
          <a:solidFill>
            <a:srgbClr val="FFFFFF"/>
          </a:solidFill>
          <a:ln w="6350">
            <a:solidFill>
              <a:srgbClr val="EADBC4"/>
            </a:solidFill>
            <a:prstDash val="solid"/>
          </a:ln>
        </p:spPr>
      </p:sp>
      <p:sp>
        <p:nvSpPr>
          <p:cNvPr id="8" name="Text 6"/>
          <p:cNvSpPr/>
          <p:nvPr/>
        </p:nvSpPr>
        <p:spPr>
          <a:xfrm>
            <a:off x="6248400" y="2123548"/>
            <a:ext cx="5070062"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Dónde consultar el dato local</a:t>
            </a:r>
            <a:endParaRPr lang="en-US" sz="1600" dirty="0"/>
          </a:p>
        </p:txBody>
      </p:sp>
      <p:sp>
        <p:nvSpPr>
          <p:cNvPr id="9" name="Text 7"/>
          <p:cNvSpPr/>
          <p:nvPr/>
        </p:nvSpPr>
        <p:spPr>
          <a:xfrm>
            <a:off x="6248400" y="2443572"/>
            <a:ext cx="5070062"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Atlas de Radiación Solar de Colombia, IDEAM y UPME (IDEAM y UPME, 2005).</a:t>
            </a:r>
            <a:endParaRPr lang="en-US" sz="1400" dirty="0"/>
          </a:p>
        </p:txBody>
      </p:sp>
      <p:sp>
        <p:nvSpPr>
          <p:cNvPr id="10" name="Text 8"/>
          <p:cNvSpPr/>
          <p:nvPr/>
        </p:nvSpPr>
        <p:spPr>
          <a:xfrm>
            <a:off x="6248400" y="3010427"/>
            <a:ext cx="5070062"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Global Solar Atlas, Banco Mundial y Solargis: da irradiación global y directa normal por coordenadas (Banco Mundial y Solargis, s. f.).</a:t>
            </a:r>
            <a:endParaRPr lang="en-US" sz="1400" dirty="0"/>
          </a:p>
        </p:txBody>
      </p:sp>
      <p:sp>
        <p:nvSpPr>
          <p:cNvPr id="11" name="Text 9"/>
          <p:cNvSpPr/>
          <p:nvPr/>
        </p:nvSpPr>
        <p:spPr>
          <a:xfrm>
            <a:off x="6248400" y="3822619"/>
            <a:ext cx="5070062"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En esta clase usamos </a:t>
            </a:r>
            <a:r>
              <a:rPr lang="en-US" sz="1400" b="1" dirty="0">
                <a:solidFill>
                  <a:srgbClr val="2A1810"/>
                </a:solidFill>
                <a:latin typeface="Arial" pitchFamily="34" charset="0"/>
                <a:ea typeface="Arial" pitchFamily="34" charset="-122"/>
                <a:cs typeface="Arial" pitchFamily="34" charset="-120"/>
              </a:rPr>
              <a:t>H = 5,2 kWh/m²·día</a:t>
            </a:r>
            <a:r>
              <a:rPr lang="en-US" sz="1400" dirty="0">
                <a:solidFill>
                  <a:srgbClr val="2A1810"/>
                </a:solidFill>
                <a:latin typeface="Arial" pitchFamily="34" charset="0"/>
                <a:ea typeface="Arial" pitchFamily="34" charset="-122"/>
                <a:cs typeface="Arial" pitchFamily="34" charset="-120"/>
              </a:rPr>
              <a:t> como supuesto didáctico para Barranquilla.</a:t>
            </a:r>
            <a:endParaRPr lang="en-US" sz="1400" dirty="0"/>
          </a:p>
        </p:txBody>
      </p:sp>
      <p:sp>
        <p:nvSpPr>
          <p:cNvPr id="12" name="Text 10"/>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IDEAM y UPME (2005); Banco Mundial y Solargis (s. f.).</a:t>
            </a:r>
            <a:endParaRPr lang="en-US" sz="1200" dirty="0"/>
          </a:p>
        </p:txBody>
      </p:sp>
      <p:sp>
        <p:nvSpPr>
          <p:cNvPr id="13" name="Text 11"/>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11</a:t>
            </a:r>
            <a:endParaRPr lang="en-US" sz="12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CONTEXTO · COMPONENTES DE LA RADIACIÓN</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Tres caminos de la luz hasta el colector</a:t>
            </a:r>
            <a:endParaRPr lang="en-US" sz="3200" dirty="0"/>
          </a:p>
        </p:txBody>
      </p:sp>
      <p:sp>
        <p:nvSpPr>
          <p:cNvPr id="4" name="Shape 2"/>
          <p:cNvSpPr/>
          <p:nvPr/>
        </p:nvSpPr>
        <p:spPr>
          <a:xfrm>
            <a:off x="815975" y="1918314"/>
            <a:ext cx="6343650" cy="3549650"/>
          </a:xfrm>
          <a:prstGeom prst="roundRect">
            <a:avLst>
              <a:gd name="adj" fmla="val 2773"/>
            </a:avLst>
          </a:prstGeom>
          <a:solidFill>
            <a:srgbClr val="FFFFFF"/>
          </a:solidFill>
          <a:ln w="6350">
            <a:solidFill>
              <a:srgbClr val="EADBC4"/>
            </a:solidFill>
            <a:prstDash val="solid"/>
          </a:ln>
        </p:spPr>
      </p:sp>
      <p:pic>
        <p:nvPicPr>
          <p:cNvPr id="5" name="Image 0" descr="Radiación directa, difusa y reflejada que llega al plano de un colector">    </p:cNvPr>
          <p:cNvPicPr>
            <a:picLocks noChangeAspect="1"/>
          </p:cNvPicPr>
          <p:nvPr/>
        </p:nvPicPr>
        <p:blipFill>
          <a:blip r:embed="rId1"/>
          <a:srcRect l="0" r="0" t="0" b="0"/>
          <a:stretch/>
        </p:blipFill>
        <p:spPr>
          <a:xfrm>
            <a:off x="812800" y="1915139"/>
            <a:ext cx="6350000" cy="3556000"/>
          </a:xfrm>
          <a:prstGeom prst="rect">
            <a:avLst/>
          </a:prstGeom>
        </p:spPr>
      </p:pic>
      <p:sp>
        <p:nvSpPr>
          <p:cNvPr id="6" name="Text 3"/>
          <p:cNvSpPr/>
          <p:nvPr/>
        </p:nvSpPr>
        <p:spPr>
          <a:xfrm>
            <a:off x="2717800" y="3274039"/>
            <a:ext cx="170180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3E00"/>
                </a:solidFill>
                <a:latin typeface="Arial" pitchFamily="34" charset="0"/>
                <a:ea typeface="Arial" pitchFamily="34" charset="-122"/>
                <a:cs typeface="Arial" pitchFamily="34" charset="-120"/>
              </a:rPr>
              <a:t>Directa (DNI)</a:t>
            </a:r>
            <a:endParaRPr lang="en-US" sz="1400" dirty="0"/>
          </a:p>
        </p:txBody>
      </p:sp>
      <p:sp>
        <p:nvSpPr>
          <p:cNvPr id="7" name="Text 4"/>
          <p:cNvSpPr/>
          <p:nvPr/>
        </p:nvSpPr>
        <p:spPr>
          <a:xfrm>
            <a:off x="5257800" y="2169139"/>
            <a:ext cx="144780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7A8C"/>
                </a:solidFill>
                <a:latin typeface="Arial" pitchFamily="34" charset="0"/>
                <a:ea typeface="Arial" pitchFamily="34" charset="-122"/>
                <a:cs typeface="Arial" pitchFamily="34" charset="-120"/>
              </a:rPr>
              <a:t>Difusa</a:t>
            </a:r>
            <a:endParaRPr lang="en-US" sz="1400" dirty="0"/>
          </a:p>
        </p:txBody>
      </p:sp>
      <p:sp>
        <p:nvSpPr>
          <p:cNvPr id="8" name="Text 5"/>
          <p:cNvSpPr/>
          <p:nvPr/>
        </p:nvSpPr>
        <p:spPr>
          <a:xfrm>
            <a:off x="1638300" y="5090139"/>
            <a:ext cx="215836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6A5444"/>
                </a:solidFill>
                <a:latin typeface="Arial" pitchFamily="34" charset="0"/>
                <a:ea typeface="Arial" pitchFamily="34" charset="-122"/>
                <a:cs typeface="Arial" pitchFamily="34" charset="-120"/>
              </a:rPr>
              <a:t>Reflejada por el suelo</a:t>
            </a:r>
            <a:endParaRPr lang="en-US" sz="1300" dirty="0"/>
          </a:p>
        </p:txBody>
      </p:sp>
      <p:sp>
        <p:nvSpPr>
          <p:cNvPr id="9" name="Text 6"/>
          <p:cNvSpPr/>
          <p:nvPr/>
        </p:nvSpPr>
        <p:spPr>
          <a:xfrm>
            <a:off x="5130800" y="5090139"/>
            <a:ext cx="196215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Plano del colector</a:t>
            </a:r>
            <a:endParaRPr lang="en-US" sz="1300" dirty="0"/>
          </a:p>
        </p:txBody>
      </p:sp>
      <p:sp>
        <p:nvSpPr>
          <p:cNvPr id="10" name="Text 7"/>
          <p:cNvSpPr/>
          <p:nvPr/>
        </p:nvSpPr>
        <p:spPr>
          <a:xfrm>
            <a:off x="7467600" y="1915139"/>
            <a:ext cx="4028948" cy="551147"/>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2A1810"/>
                </a:solidFill>
                <a:latin typeface="Arial" pitchFamily="34" charset="0"/>
                <a:ea typeface="Arial" pitchFamily="34" charset="-122"/>
                <a:cs typeface="Arial" pitchFamily="34" charset="-120"/>
              </a:rPr>
              <a:t>Global sobre el plano</a:t>
            </a:r>
            <a:r>
              <a:rPr lang="en-US" sz="1500" dirty="0">
                <a:solidFill>
                  <a:srgbClr val="2A1810"/>
                </a:solidFill>
                <a:latin typeface="Arial" pitchFamily="34" charset="0"/>
                <a:ea typeface="Arial" pitchFamily="34" charset="-122"/>
                <a:cs typeface="Arial" pitchFamily="34" charset="-120"/>
              </a:rPr>
              <a:t> = directa + difusa + reflejada (Duffie et al., 2020).</a:t>
            </a:r>
            <a:endParaRPr lang="en-US" sz="1500" dirty="0"/>
          </a:p>
        </p:txBody>
      </p:sp>
      <p:sp>
        <p:nvSpPr>
          <p:cNvPr id="11" name="Text 8"/>
          <p:cNvSpPr/>
          <p:nvPr/>
        </p:nvSpPr>
        <p:spPr>
          <a:xfrm>
            <a:off x="7467600" y="2593287"/>
            <a:ext cx="4028948" cy="551147"/>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2A1810"/>
                </a:solidFill>
                <a:latin typeface="Arial" pitchFamily="34" charset="0"/>
                <a:ea typeface="Arial" pitchFamily="34" charset="-122"/>
                <a:cs typeface="Arial" pitchFamily="34" charset="-120"/>
              </a:rPr>
              <a:t>El colector plano y el de tubos aprovechan las tres, incluso con nubes.</a:t>
            </a:r>
            <a:endParaRPr lang="en-US" sz="1500" dirty="0"/>
          </a:p>
        </p:txBody>
      </p:sp>
      <p:sp>
        <p:nvSpPr>
          <p:cNvPr id="12" name="Text 9"/>
          <p:cNvSpPr/>
          <p:nvPr/>
        </p:nvSpPr>
        <p:spPr>
          <a:xfrm>
            <a:off x="7467600" y="3271434"/>
            <a:ext cx="4028948" cy="1076895"/>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2A1810"/>
                </a:solidFill>
                <a:latin typeface="Arial" pitchFamily="34" charset="0"/>
                <a:ea typeface="Arial" pitchFamily="34" charset="-122"/>
                <a:cs typeface="Arial" pitchFamily="34" charset="-120"/>
              </a:rPr>
              <a:t>Los espejos de concentración solo usan la </a:t>
            </a:r>
            <a:r>
              <a:rPr lang="en-US" sz="1500" b="1" dirty="0">
                <a:solidFill>
                  <a:srgbClr val="2A1810"/>
                </a:solidFill>
                <a:latin typeface="Arial" pitchFamily="34" charset="0"/>
                <a:ea typeface="Arial" pitchFamily="34" charset="-122"/>
                <a:cs typeface="Arial" pitchFamily="34" charset="-120"/>
              </a:rPr>
              <a:t>directa</a:t>
            </a:r>
            <a:r>
              <a:rPr lang="en-US" sz="1500" dirty="0">
                <a:solidFill>
                  <a:srgbClr val="2A1810"/>
                </a:solidFill>
                <a:latin typeface="Arial" pitchFamily="34" charset="0"/>
                <a:ea typeface="Arial" pitchFamily="34" charset="-122"/>
                <a:cs typeface="Arial" pitchFamily="34" charset="-120"/>
              </a:rPr>
              <a:t>: por eso las plantas CSP se ubican en desiertos de cielo despejado (Duffie et al., 2020; REN21, 2025).</a:t>
            </a:r>
            <a:endParaRPr lang="en-US" sz="1500" dirty="0"/>
          </a:p>
        </p:txBody>
      </p:sp>
      <p:sp>
        <p:nvSpPr>
          <p:cNvPr id="13" name="Text 10"/>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REN21 (2025). Ilustración propia a partir de estas fuentes.</a:t>
            </a:r>
            <a:endParaRPr lang="en-US" sz="1200" dirty="0"/>
          </a:p>
        </p:txBody>
      </p:sp>
      <p:sp>
        <p:nvSpPr>
          <p:cNvPr id="14" name="Text 11"/>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13</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MÉTODOS Y EQUIPOS DE CONVERSIÓN</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De piscinas a torres: colectores por temperatura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925559"/>
          <a:ext cx="10555979" cy="2686091"/>
        </p:xfrm>
        <a:graphic>
          <a:graphicData uri="http://schemas.openxmlformats.org/drawingml/2006/table">
            <a:tbl>
              <a:tblPr/>
              <a:tblGrid>
                <a:gridCol w="2955674"/>
                <a:gridCol w="2322315"/>
                <a:gridCol w="5277990"/>
              </a:tblGrid>
              <a:tr h="383727">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Tecnología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Temperatura típica</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Uso principal</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Sin cubierta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menos de 40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Piscinas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Plano con cubierta</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30 a 80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Agua caliente sanitaria y calefacción</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Tubos evacuados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50 a 150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Agua caliente, calor de proceso, frío solar</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Cilindro parabólico y Fresnel</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150 a 400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Calor industrial y plantas CSP</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Torre central</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500 a 600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Electricidad con almacenamiento en sales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Disco Stirling</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600 a 800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Generación modular de electricidad</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4814850"/>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6A5444"/>
                </a:solidFill>
                <a:latin typeface="Arial" pitchFamily="34" charset="0"/>
                <a:ea typeface="Arial" pitchFamily="34" charset="-122"/>
                <a:cs typeface="Arial" pitchFamily="34" charset="-120"/>
              </a:rPr>
              <a:t>Mientras más alta la temperatura, más hay que concentrar la luz. Son rangos típicos de operación, no límites exactos.</a:t>
            </a:r>
            <a:endParaRPr lang="en-US" sz="1400" dirty="0"/>
          </a:p>
        </p:txBody>
      </p:sp>
      <p:sp>
        <p:nvSpPr>
          <p:cNvPr id="6" name="Text 3"/>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REN21 (2025).</a:t>
            </a:r>
            <a:endParaRPr lang="en-US" sz="1200" dirty="0"/>
          </a:p>
        </p:txBody>
      </p:sp>
      <p:sp>
        <p:nvSpPr>
          <p:cNvPr id="7" name="Text 4"/>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14</a:t>
            </a:r>
            <a:endParaRPr lang="en-US"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COLECTOR PLANO</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El colector plano por dentro</a:t>
            </a:r>
            <a:endParaRPr lang="en-US" sz="3200" dirty="0"/>
          </a:p>
        </p:txBody>
      </p:sp>
      <p:sp>
        <p:nvSpPr>
          <p:cNvPr id="4" name="Shape 2"/>
          <p:cNvSpPr/>
          <p:nvPr/>
        </p:nvSpPr>
        <p:spPr>
          <a:xfrm>
            <a:off x="815975" y="1918314"/>
            <a:ext cx="6343650" cy="3168650"/>
          </a:xfrm>
          <a:prstGeom prst="roundRect">
            <a:avLst>
              <a:gd name="adj" fmla="val 3106"/>
            </a:avLst>
          </a:prstGeom>
          <a:solidFill>
            <a:srgbClr val="FFFFFF"/>
          </a:solidFill>
          <a:ln w="6350">
            <a:solidFill>
              <a:srgbClr val="EADBC4"/>
            </a:solidFill>
            <a:prstDash val="solid"/>
          </a:ln>
        </p:spPr>
      </p:sp>
      <p:pic>
        <p:nvPicPr>
          <p:cNvPr id="5" name="Image 0" descr="Corte transversal de un colector plano: vidrio, cámara de aire, placa absorbedora, tubos, aislamiento y caja">    </p:cNvPr>
          <p:cNvPicPr>
            <a:picLocks noChangeAspect="1"/>
          </p:cNvPicPr>
          <p:nvPr/>
        </p:nvPicPr>
        <p:blipFill>
          <a:blip r:embed="rId1"/>
          <a:srcRect l="0" r="0" t="0" b="0"/>
          <a:stretch/>
        </p:blipFill>
        <p:spPr>
          <a:xfrm>
            <a:off x="812800" y="1915139"/>
            <a:ext cx="6350000" cy="3175000"/>
          </a:xfrm>
          <a:prstGeom prst="rect">
            <a:avLst/>
          </a:prstGeom>
        </p:spPr>
      </p:pic>
      <p:sp>
        <p:nvSpPr>
          <p:cNvPr id="6" name="Text 3"/>
          <p:cNvSpPr/>
          <p:nvPr/>
        </p:nvSpPr>
        <p:spPr>
          <a:xfrm>
            <a:off x="5257800" y="235963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Cubierta de vidrio</a:t>
            </a:r>
            <a:endParaRPr lang="en-US" sz="1300" dirty="0"/>
          </a:p>
        </p:txBody>
      </p:sp>
      <p:sp>
        <p:nvSpPr>
          <p:cNvPr id="7" name="Text 4"/>
          <p:cNvSpPr/>
          <p:nvPr/>
        </p:nvSpPr>
        <p:spPr>
          <a:xfrm>
            <a:off x="5257800" y="270888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Cámara de aire</a:t>
            </a:r>
            <a:endParaRPr lang="en-US" sz="1300" dirty="0"/>
          </a:p>
        </p:txBody>
      </p:sp>
      <p:sp>
        <p:nvSpPr>
          <p:cNvPr id="8" name="Text 5"/>
          <p:cNvSpPr/>
          <p:nvPr/>
        </p:nvSpPr>
        <p:spPr>
          <a:xfrm>
            <a:off x="5257800" y="300733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Placa absorbedora</a:t>
            </a:r>
            <a:endParaRPr lang="en-US" sz="1300" dirty="0"/>
          </a:p>
        </p:txBody>
      </p:sp>
      <p:sp>
        <p:nvSpPr>
          <p:cNvPr id="9" name="Text 6"/>
          <p:cNvSpPr/>
          <p:nvPr/>
        </p:nvSpPr>
        <p:spPr>
          <a:xfrm>
            <a:off x="5257800" y="332483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Tubos con el fluido</a:t>
            </a:r>
            <a:endParaRPr lang="en-US" sz="1300" dirty="0"/>
          </a:p>
        </p:txBody>
      </p:sp>
      <p:sp>
        <p:nvSpPr>
          <p:cNvPr id="10" name="Text 7"/>
          <p:cNvSpPr/>
          <p:nvPr/>
        </p:nvSpPr>
        <p:spPr>
          <a:xfrm>
            <a:off x="5257800" y="401063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Aislamiento térmico</a:t>
            </a:r>
            <a:endParaRPr lang="en-US" sz="1300" dirty="0"/>
          </a:p>
        </p:txBody>
      </p:sp>
      <p:sp>
        <p:nvSpPr>
          <p:cNvPr id="11" name="Text 8"/>
          <p:cNvSpPr/>
          <p:nvPr/>
        </p:nvSpPr>
        <p:spPr>
          <a:xfrm>
            <a:off x="5257800" y="4709139"/>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Caja de aluminio</a:t>
            </a:r>
            <a:endParaRPr lang="en-US" sz="1300" dirty="0"/>
          </a:p>
        </p:txBody>
      </p:sp>
      <p:sp>
        <p:nvSpPr>
          <p:cNvPr id="12" name="Text 9"/>
          <p:cNvSpPr/>
          <p:nvPr/>
        </p:nvSpPr>
        <p:spPr>
          <a:xfrm>
            <a:off x="3797300" y="2651739"/>
            <a:ext cx="939800" cy="193024"/>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1D7A8C"/>
                </a:solidFill>
                <a:latin typeface="Arial" pitchFamily="34" charset="0"/>
                <a:ea typeface="Arial" pitchFamily="34" charset="-122"/>
                <a:cs typeface="Arial" pitchFamily="34" charset="-120"/>
              </a:rPr>
              <a:t>IR atrapado</a:t>
            </a:r>
            <a:endParaRPr lang="en-US" sz="1100" dirty="0"/>
          </a:p>
        </p:txBody>
      </p:sp>
      <p:sp>
        <p:nvSpPr>
          <p:cNvPr id="13" name="Text 10"/>
          <p:cNvSpPr/>
          <p:nvPr/>
        </p:nvSpPr>
        <p:spPr>
          <a:xfrm>
            <a:off x="7467600" y="1915139"/>
            <a:ext cx="402894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La luz atraviesa el vidrio y calienta la placa; los tubos soldados a ella llevan el calor al fluido (Duffie et al., 2020).</a:t>
            </a:r>
            <a:endParaRPr lang="en-US" sz="1400" dirty="0"/>
          </a:p>
        </p:txBody>
      </p:sp>
      <p:sp>
        <p:nvSpPr>
          <p:cNvPr id="14" name="Text 11"/>
          <p:cNvSpPr/>
          <p:nvPr/>
        </p:nvSpPr>
        <p:spPr>
          <a:xfrm>
            <a:off x="7467600" y="2790825"/>
            <a:ext cx="402894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El vidrio frena la convección y devuelve el infrarrojo de la placa: el efecto invernadero del colector (Duffie et al., 2020).</a:t>
            </a:r>
            <a:endParaRPr lang="en-US" sz="1400" dirty="0"/>
          </a:p>
        </p:txBody>
      </p:sp>
      <p:sp>
        <p:nvSpPr>
          <p:cNvPr id="15" name="Text 12"/>
          <p:cNvSpPr/>
          <p:nvPr/>
        </p:nvSpPr>
        <p:spPr>
          <a:xfrm>
            <a:off x="7467600" y="3666517"/>
            <a:ext cx="402894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Es el más usado para agua caliente sanitaria entre 30 y 80 °C (Kalogirou, 2009).</a:t>
            </a:r>
            <a:endParaRPr lang="en-US" sz="1400" dirty="0"/>
          </a:p>
        </p:txBody>
      </p:sp>
      <p:sp>
        <p:nvSpPr>
          <p:cNvPr id="16" name="Text 13"/>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Ilustración propia a partir de estas fuentes.</a:t>
            </a:r>
            <a:endParaRPr lang="en-US" sz="1200" dirty="0"/>
          </a:p>
        </p:txBody>
      </p:sp>
      <p:sp>
        <p:nvSpPr>
          <p:cNvPr id="17" name="Text 14"/>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15</a:t>
            </a:r>
            <a:endParaRPr lang="en-US" sz="12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TUBOS EVACUADOS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El vacío como aislante</a:t>
            </a:r>
            <a:endParaRPr lang="en-US" sz="3200" dirty="0"/>
          </a:p>
        </p:txBody>
      </p:sp>
      <p:sp>
        <p:nvSpPr>
          <p:cNvPr id="4" name="Shape 2"/>
          <p:cNvSpPr/>
          <p:nvPr/>
        </p:nvSpPr>
        <p:spPr>
          <a:xfrm>
            <a:off x="815975" y="1918314"/>
            <a:ext cx="5835650" cy="3422650"/>
          </a:xfrm>
          <a:prstGeom prst="roundRect">
            <a:avLst>
              <a:gd name="adj" fmla="val 2876"/>
            </a:avLst>
          </a:prstGeom>
          <a:solidFill>
            <a:srgbClr val="FFFFFF"/>
          </a:solidFill>
          <a:ln w="6350">
            <a:solidFill>
              <a:srgbClr val="EADBC4"/>
            </a:solidFill>
            <a:prstDash val="solid"/>
          </a:ln>
        </p:spPr>
      </p:sp>
      <p:pic>
        <p:nvPicPr>
          <p:cNvPr id="5" name="Image 0" descr="Corte transversal de un tubo evacuado con heat pipe">    </p:cNvPr>
          <p:cNvPicPr>
            <a:picLocks noChangeAspect="1"/>
          </p:cNvPicPr>
          <p:nvPr/>
        </p:nvPicPr>
        <p:blipFill>
          <a:blip r:embed="rId1"/>
          <a:srcRect l="0" r="0" t="0" b="0"/>
          <a:stretch/>
        </p:blipFill>
        <p:spPr>
          <a:xfrm>
            <a:off x="812800" y="1915139"/>
            <a:ext cx="5842000" cy="3429000"/>
          </a:xfrm>
          <a:prstGeom prst="rect">
            <a:avLst/>
          </a:prstGeom>
        </p:spPr>
      </p:pic>
      <p:sp>
        <p:nvSpPr>
          <p:cNvPr id="6" name="Text 3"/>
          <p:cNvSpPr/>
          <p:nvPr/>
        </p:nvSpPr>
        <p:spPr>
          <a:xfrm>
            <a:off x="4318000" y="2499339"/>
            <a:ext cx="235458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Vidrio exterior</a:t>
            </a:r>
            <a:endParaRPr lang="en-US" sz="1300" dirty="0"/>
          </a:p>
        </p:txBody>
      </p:sp>
      <p:sp>
        <p:nvSpPr>
          <p:cNvPr id="7" name="Text 4"/>
          <p:cNvSpPr/>
          <p:nvPr/>
        </p:nvSpPr>
        <p:spPr>
          <a:xfrm>
            <a:off x="4318000" y="3070839"/>
            <a:ext cx="235458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Vacío</a:t>
            </a:r>
            <a:endParaRPr lang="en-US" sz="1300" dirty="0"/>
          </a:p>
        </p:txBody>
      </p:sp>
      <p:sp>
        <p:nvSpPr>
          <p:cNvPr id="8" name="Text 5"/>
          <p:cNvSpPr/>
          <p:nvPr/>
        </p:nvSpPr>
        <p:spPr>
          <a:xfrm>
            <a:off x="4318000" y="3642339"/>
            <a:ext cx="235458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Recubrimiento selectivo</a:t>
            </a:r>
            <a:endParaRPr lang="en-US" sz="1300" dirty="0"/>
          </a:p>
        </p:txBody>
      </p:sp>
      <p:sp>
        <p:nvSpPr>
          <p:cNvPr id="9" name="Text 6"/>
          <p:cNvSpPr/>
          <p:nvPr/>
        </p:nvSpPr>
        <p:spPr>
          <a:xfrm>
            <a:off x="4318000" y="4213839"/>
            <a:ext cx="235458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Tubo de calor (heat pipe)</a:t>
            </a:r>
            <a:endParaRPr lang="en-US" sz="1300" dirty="0"/>
          </a:p>
        </p:txBody>
      </p:sp>
      <p:sp>
        <p:nvSpPr>
          <p:cNvPr id="10" name="Text 7"/>
          <p:cNvSpPr/>
          <p:nvPr/>
        </p:nvSpPr>
        <p:spPr>
          <a:xfrm>
            <a:off x="4318000" y="4785339"/>
            <a:ext cx="235458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Aleta de aluminio</a:t>
            </a:r>
            <a:endParaRPr lang="en-US" sz="1300" dirty="0"/>
          </a:p>
        </p:txBody>
      </p:sp>
      <p:sp>
        <p:nvSpPr>
          <p:cNvPr id="11" name="Text 8"/>
          <p:cNvSpPr/>
          <p:nvPr/>
        </p:nvSpPr>
        <p:spPr>
          <a:xfrm>
            <a:off x="6959600" y="1915139"/>
            <a:ext cx="455218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Dos tubos de vidrio concéntricos con </a:t>
            </a:r>
            <a:r>
              <a:rPr lang="en-US" sz="1400" b="1" dirty="0">
                <a:solidFill>
                  <a:srgbClr val="2A1810"/>
                </a:solidFill>
                <a:latin typeface="Arial" pitchFamily="34" charset="0"/>
                <a:ea typeface="Arial" pitchFamily="34" charset="-122"/>
                <a:cs typeface="Arial" pitchFamily="34" charset="-120"/>
              </a:rPr>
              <a:t>vacío</a:t>
            </a:r>
            <a:r>
              <a:rPr lang="en-US" sz="1400" dirty="0">
                <a:solidFill>
                  <a:srgbClr val="2A1810"/>
                </a:solidFill>
                <a:latin typeface="Arial" pitchFamily="34" charset="0"/>
                <a:ea typeface="Arial" pitchFamily="34" charset="-122"/>
                <a:cs typeface="Arial" pitchFamily="34" charset="-120"/>
              </a:rPr>
              <a:t> entre ellos: sin aire no hay convección ni conducción hacia afuera (Kalogirou, 2009).</a:t>
            </a:r>
            <a:endParaRPr lang="en-US" sz="1400" dirty="0"/>
          </a:p>
        </p:txBody>
      </p:sp>
      <p:sp>
        <p:nvSpPr>
          <p:cNvPr id="12" name="Text 9"/>
          <p:cNvSpPr/>
          <p:nvPr/>
        </p:nvSpPr>
        <p:spPr>
          <a:xfrm>
            <a:off x="6959600" y="2790825"/>
            <a:ext cx="455218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El tubo de calor evapora un fluido que sube, se condensa en el cabezal y entrega el calor al agua (Kalogirou, 2009).</a:t>
            </a:r>
            <a:endParaRPr lang="en-US" sz="1400" dirty="0"/>
          </a:p>
        </p:txBody>
      </p:sp>
      <p:sp>
        <p:nvSpPr>
          <p:cNvPr id="13" name="Text 10"/>
          <p:cNvSpPr/>
          <p:nvPr/>
        </p:nvSpPr>
        <p:spPr>
          <a:xfrm>
            <a:off x="6959600" y="3666517"/>
            <a:ext cx="455218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Pierde menos calor a alta temperatura: útil de 50 a 150 °C, calor de proceso y frío solar (Kalogirou, 2009).</a:t>
            </a:r>
            <a:endParaRPr lang="en-US" sz="1400" dirty="0"/>
          </a:p>
        </p:txBody>
      </p:sp>
      <p:sp>
        <p:nvSpPr>
          <p:cNvPr id="14" name="Text 11"/>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Ilustración propia a partir de esta fuente.</a:t>
            </a:r>
            <a:endParaRPr lang="en-US" sz="1200" dirty="0"/>
          </a:p>
        </p:txBody>
      </p:sp>
      <p:sp>
        <p:nvSpPr>
          <p:cNvPr id="15" name="Text 12"/>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16</a:t>
            </a:r>
            <a:endParaRPr lang="en-US" sz="12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CONCENTRACIÓN · ¿MITO O REALIDAD?</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Los espejos de Arquímedes, a prueba en el MIT</a:t>
            </a:r>
            <a:endParaRPr lang="en-US" sz="3200" dirty="0"/>
          </a:p>
        </p:txBody>
      </p:sp>
      <p:sp>
        <p:nvSpPr>
          <p:cNvPr id="4" name="Shape 2"/>
          <p:cNvSpPr/>
          <p:nvPr/>
        </p:nvSpPr>
        <p:spPr>
          <a:xfrm>
            <a:off x="815975" y="1918308"/>
            <a:ext cx="5708650" cy="3295650"/>
          </a:xfrm>
          <a:prstGeom prst="roundRect">
            <a:avLst>
              <a:gd name="adj" fmla="val 2987"/>
            </a:avLst>
          </a:prstGeom>
          <a:solidFill>
            <a:srgbClr val="FFFFFF"/>
          </a:solidFill>
          <a:ln w="6350">
            <a:solidFill>
              <a:srgbClr val="EADBC4"/>
            </a:solidFill>
            <a:prstDash val="solid"/>
          </a:ln>
        </p:spPr>
      </p:sp>
      <p:pic>
        <p:nvPicPr>
          <p:cNvPr id="5" name="Image 0" descr="Espejos planos que concentran la luz solar sobre una maqueta de barco, como en la prueba del MIT">    </p:cNvPr>
          <p:cNvPicPr>
            <a:picLocks noChangeAspect="1"/>
          </p:cNvPicPr>
          <p:nvPr/>
        </p:nvPicPr>
        <p:blipFill>
          <a:blip r:embed="rId1"/>
          <a:srcRect l="0" r="0" t="0" b="0"/>
          <a:stretch/>
        </p:blipFill>
        <p:spPr>
          <a:xfrm>
            <a:off x="812800" y="1915133"/>
            <a:ext cx="5715000" cy="3302000"/>
          </a:xfrm>
          <a:prstGeom prst="rect">
            <a:avLst/>
          </a:prstGeom>
        </p:spPr>
      </p:pic>
      <p:sp>
        <p:nvSpPr>
          <p:cNvPr id="6" name="Text 3"/>
          <p:cNvSpPr/>
          <p:nvPr/>
        </p:nvSpPr>
        <p:spPr>
          <a:xfrm>
            <a:off x="1003300" y="4925033"/>
            <a:ext cx="274701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A1810"/>
                </a:solidFill>
                <a:latin typeface="Arial" pitchFamily="34" charset="0"/>
                <a:ea typeface="Arial" pitchFamily="34" charset="-122"/>
                <a:cs typeface="Arial" pitchFamily="34" charset="-120"/>
              </a:rPr>
              <a:t>127 espejos de 30 cm de lado</a:t>
            </a:r>
            <a:endParaRPr lang="en-US" sz="1200" dirty="0"/>
          </a:p>
        </p:txBody>
      </p:sp>
      <p:sp>
        <p:nvSpPr>
          <p:cNvPr id="7" name="Text 4"/>
          <p:cNvSpPr/>
          <p:nvPr/>
        </p:nvSpPr>
        <p:spPr>
          <a:xfrm>
            <a:off x="4724400" y="4378933"/>
            <a:ext cx="1701800" cy="391095"/>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A1810"/>
                </a:solidFill>
                <a:latin typeface="Arial" pitchFamily="34" charset="0"/>
                <a:ea typeface="Arial" pitchFamily="34" charset="-122"/>
                <a:cs typeface="Arial" pitchFamily="34" charset="-120"/>
              </a:rPr>
              <a:t>Maqueta de barco de madera</a:t>
            </a:r>
            <a:endParaRPr lang="en-US" sz="1200" dirty="0"/>
          </a:p>
        </p:txBody>
      </p:sp>
      <p:sp>
        <p:nvSpPr>
          <p:cNvPr id="8" name="Text 5"/>
          <p:cNvSpPr/>
          <p:nvPr/>
        </p:nvSpPr>
        <p:spPr>
          <a:xfrm>
            <a:off x="6832600" y="1915133"/>
            <a:ext cx="468299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Cuenta la leyenda que Arquímedes incendió barcos romanos en Siracusa con espejos; muchos lo consideran un mito (MIT 2.009, 2005).</a:t>
            </a:r>
            <a:endParaRPr lang="en-US" sz="1400" dirty="0"/>
          </a:p>
        </p:txBody>
      </p:sp>
      <p:sp>
        <p:nvSpPr>
          <p:cNvPr id="9" name="Text 6"/>
          <p:cNvSpPr/>
          <p:nvPr/>
        </p:nvSpPr>
        <p:spPr>
          <a:xfrm>
            <a:off x="6832600" y="2790825"/>
            <a:ext cx="4682998" cy="100671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En 2005, estudiantes del MIT usaron </a:t>
            </a:r>
            <a:r>
              <a:rPr lang="en-US" sz="1400" b="1" dirty="0">
                <a:solidFill>
                  <a:srgbClr val="2A1810"/>
                </a:solidFill>
                <a:latin typeface="Arial" pitchFamily="34" charset="0"/>
                <a:ea typeface="Arial" pitchFamily="34" charset="-122"/>
                <a:cs typeface="Arial" pitchFamily="34" charset="-120"/>
              </a:rPr>
              <a:t>127 espejos</a:t>
            </a:r>
            <a:r>
              <a:rPr lang="en-US" sz="1400" dirty="0">
                <a:solidFill>
                  <a:srgbClr val="2A1810"/>
                </a:solidFill>
                <a:latin typeface="Arial" pitchFamily="34" charset="0"/>
                <a:ea typeface="Arial" pitchFamily="34" charset="-122"/>
                <a:cs typeface="Arial" pitchFamily="34" charset="-120"/>
              </a:rPr>
              <a:t> de 30 cm y encendieron una maqueta de barco: llama sostenida en </a:t>
            </a:r>
            <a:r>
              <a:rPr lang="en-US" sz="1400" b="1" dirty="0">
                <a:solidFill>
                  <a:srgbClr val="2A1810"/>
                </a:solidFill>
                <a:latin typeface="Arial" pitchFamily="34" charset="0"/>
                <a:ea typeface="Arial" pitchFamily="34" charset="-122"/>
                <a:cs typeface="Arial" pitchFamily="34" charset="-120"/>
              </a:rPr>
              <a:t>menos de 10 minutos</a:t>
            </a:r>
            <a:r>
              <a:rPr lang="en-US" sz="1400" dirty="0">
                <a:solidFill>
                  <a:srgbClr val="2A1810"/>
                </a:solidFill>
                <a:latin typeface="Arial" pitchFamily="34" charset="0"/>
                <a:ea typeface="Arial" pitchFamily="34" charset="-122"/>
                <a:cs typeface="Arial" pitchFamily="34" charset="-120"/>
              </a:rPr>
              <a:t> de sol despejado (MIT 2.009, 2005).</a:t>
            </a:r>
            <a:endParaRPr lang="en-US" sz="1400" dirty="0"/>
          </a:p>
        </p:txBody>
      </p:sp>
      <p:sp>
        <p:nvSpPr>
          <p:cNvPr id="10" name="Text 7"/>
          <p:cNvSpPr/>
          <p:nvPr/>
        </p:nvSpPr>
        <p:spPr>
          <a:xfrm>
            <a:off x="6832600" y="3911848"/>
            <a:ext cx="468299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6A5444"/>
                </a:solidFill>
                <a:latin typeface="Arial" pitchFamily="34" charset="0"/>
                <a:ea typeface="Arial" pitchFamily="34" charset="-122"/>
                <a:cs typeface="Arial" pitchFamily="34" charset="-120"/>
              </a:rPr>
              <a:t>La física es la misma de una torre solar: muchos espejos planos apuntando a un solo receptor.</a:t>
            </a:r>
            <a:endParaRPr lang="en-US" sz="1400" dirty="0"/>
          </a:p>
        </p:txBody>
      </p:sp>
      <p:sp>
        <p:nvSpPr>
          <p:cNvPr id="11" name="Text 8"/>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MIT 2.009 (2005). Ilustración propia a partir de la descripción de la prueba.</a:t>
            </a:r>
            <a:endParaRPr lang="en-US" sz="1200" dirty="0"/>
          </a:p>
        </p:txBody>
      </p:sp>
      <p:sp>
        <p:nvSpPr>
          <p:cNvPr id="12" name="Text 9"/>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17</a:t>
            </a:r>
            <a:endParaRPr lang="en-US" sz="1200" dirty="0"/>
          </a:p>
        </p:txBody>
      </p:sp>
      <p:sp>
        <p:nvSpPr>
          <p:cNvPr id="40" name="Enlace a vídeo">
            <a:hlinkClick r:id="rIdMIT"/>
          </p:cNvPr>
          <p:cNvSpPr/>
          <p:nvPr/>
        </p:nvSpPr>
        <p:spPr>
          <a:xfrm>
            <a:off x="6830568" y="4590288"/>
            <a:ext cx="4681728" cy="566928"/>
          </a:xfrm>
          <a:prstGeom prst="roundRect">
            <a:avLst>
              <a:gd name="adj" fmla="val 8000"/>
            </a:avLst>
          </a:prstGeom>
          <a:solidFill>
            <a:srgbClr val="FFFFFF"/>
          </a:solidFill>
          <a:ln w="9525">
            <a:solidFill>
              <a:srgbClr val="EADBC4"/>
            </a:solidFill>
          </a:ln>
        </p:spPr>
        <p:txBody>
          <a:bodyPr wrap="square" lIns="164592" tIns="0" rIns="164592" bIns="0" anchor="ctr">
            <a:noAutofit/>
          </a:bodyPr>
          <a:lstStyle/>
          <a:p>
            <a:pPr algn="l" indent="0" marL="0">
              <a:buNone/>
            </a:pPr>
            <a:r>
              <a:rPr lang="es-CO" sz="1400" b="1" dirty="0">
                <a:solidFill>
                  <a:srgbClr val="B43E00"/>
                </a:solidFill>
                <a:latin typeface="Arial"/>
                <a:ea typeface="Arial"/>
                <a:cs typeface="Arial"/>
                <a:hlinkClick r:id="rIdMIT"/>
              </a:rPr>
              <a:t>▶  Ver vídeo del experimento en el MIT</a:t>
            </a:r>
          </a:p>
        </p:txBody>
      </p:sp>
      <p:sp>
        <p:nvSpPr>
          <p:cNvPr id="41" name="Fuente del vídeo"/>
          <p:cNvSpPr txBox="1"/>
          <p:nvPr/>
        </p:nvSpPr>
        <p:spPr>
          <a:xfrm>
            <a:off x="6830568" y="5230368"/>
            <a:ext cx="4681728"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sitio del curso MIT 2.009 (vídeo de la prueba). Fuente: MIT 2.009 (2005).</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CONCENTRACIÓN LINEAL</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Espejos que concentran la luz en una línea</a:t>
            </a:r>
            <a:endParaRPr lang="en-US" sz="3200" dirty="0"/>
          </a:p>
        </p:txBody>
      </p:sp>
      <p:pic>
        <p:nvPicPr>
          <p:cNvPr id="4" name="Image 0" descr="Cilindro parabólico y Fresnel lineal concentrando la luz en un receptor">    </p:cNvPr>
          <p:cNvPicPr>
            <a:picLocks noChangeAspect="1"/>
          </p:cNvPicPr>
          <p:nvPr/>
        </p:nvPicPr>
        <p:blipFill>
          <a:blip r:embed="rId1"/>
          <a:srcRect l="0" r="0" t="-14" b="-14"/>
          <a:stretch/>
        </p:blipFill>
        <p:spPr>
          <a:xfrm>
            <a:off x="812800" y="1864333"/>
            <a:ext cx="10566400" cy="2921000"/>
          </a:xfrm>
          <a:prstGeom prst="rect">
            <a:avLst/>
          </a:prstGeom>
        </p:spPr>
      </p:pic>
      <p:sp>
        <p:nvSpPr>
          <p:cNvPr id="5" name="Text 2"/>
          <p:cNvSpPr/>
          <p:nvPr/>
        </p:nvSpPr>
        <p:spPr>
          <a:xfrm>
            <a:off x="2882900" y="2473933"/>
            <a:ext cx="8128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3E00"/>
                </a:solidFill>
                <a:latin typeface="Arial" pitchFamily="34" charset="0"/>
                <a:ea typeface="Arial" pitchFamily="34" charset="-122"/>
                <a:cs typeface="Arial" pitchFamily="34" charset="-120"/>
              </a:rPr>
              <a:t>Receptor</a:t>
            </a:r>
            <a:endParaRPr lang="en-US" sz="1200" dirty="0"/>
          </a:p>
        </p:txBody>
      </p:sp>
      <p:sp>
        <p:nvSpPr>
          <p:cNvPr id="6" name="Text 3"/>
          <p:cNvSpPr/>
          <p:nvPr/>
        </p:nvSpPr>
        <p:spPr>
          <a:xfrm>
            <a:off x="8750300" y="2308833"/>
            <a:ext cx="1701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Receptor lineal</a:t>
            </a:r>
            <a:endParaRPr lang="en-US" sz="1200" dirty="0"/>
          </a:p>
        </p:txBody>
      </p:sp>
      <p:sp>
        <p:nvSpPr>
          <p:cNvPr id="7" name="Text 4"/>
          <p:cNvSpPr/>
          <p:nvPr/>
        </p:nvSpPr>
        <p:spPr>
          <a:xfrm>
            <a:off x="738505" y="4499583"/>
            <a:ext cx="510159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Cilindro parabólico: espejo curvo, el receptor gira con él</a:t>
            </a:r>
            <a:endParaRPr lang="en-US" sz="1300" dirty="0"/>
          </a:p>
        </p:txBody>
      </p:sp>
      <p:sp>
        <p:nvSpPr>
          <p:cNvPr id="8" name="Text 5"/>
          <p:cNvSpPr/>
          <p:nvPr/>
        </p:nvSpPr>
        <p:spPr>
          <a:xfrm>
            <a:off x="6072505" y="4499583"/>
            <a:ext cx="510159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Fresnel lineal: filas de espejos planos, receptor fijo</a:t>
            </a:r>
            <a:endParaRPr lang="en-US" sz="1300" dirty="0"/>
          </a:p>
        </p:txBody>
      </p:sp>
      <p:sp>
        <p:nvSpPr>
          <p:cNvPr id="9" name="Text 6"/>
          <p:cNvSpPr/>
          <p:nvPr/>
        </p:nvSpPr>
        <p:spPr>
          <a:xfrm>
            <a:off x="812800" y="4963133"/>
            <a:ext cx="10883392" cy="551147"/>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2A1810"/>
                </a:solidFill>
                <a:latin typeface="Arial" pitchFamily="34" charset="0"/>
                <a:ea typeface="Arial" pitchFamily="34" charset="-122"/>
                <a:cs typeface="Arial" pitchFamily="34" charset="-120"/>
              </a:rPr>
              <a:t>Razón de concentración</a:t>
            </a:r>
            <a:r>
              <a:rPr lang="en-US" sz="1500" dirty="0">
                <a:solidFill>
                  <a:srgbClr val="2A1810"/>
                </a:solidFill>
                <a:latin typeface="Arial" pitchFamily="34" charset="0"/>
                <a:ea typeface="Arial" pitchFamily="34" charset="-122"/>
                <a:cs typeface="Arial" pitchFamily="34" charset="-120"/>
              </a:rPr>
              <a:t> C = área de apertura / área del receptor. Cilindro parabólico: C de 15 a 45; Fresnel lineal: de 10 a 40 (Kalogirou, 2009).</a:t>
            </a:r>
            <a:endParaRPr lang="en-US" sz="1500" dirty="0"/>
          </a:p>
        </p:txBody>
      </p:sp>
      <p:sp>
        <p:nvSpPr>
          <p:cNvPr id="10" name="Text 7"/>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REN21 (2025). Ilustración propia a partir de estas fuentes.</a:t>
            </a:r>
            <a:endParaRPr lang="en-US" sz="1200" dirty="0"/>
          </a:p>
        </p:txBody>
      </p:sp>
      <p:sp>
        <p:nvSpPr>
          <p:cNvPr id="11" name="Text 8"/>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18</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CONCENTRACIÓN PUNTUAL</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Torre central y disco Stirling</a:t>
            </a:r>
            <a:endParaRPr lang="en-US" sz="3200" dirty="0"/>
          </a:p>
        </p:txBody>
      </p:sp>
      <p:pic>
        <p:nvPicPr>
          <p:cNvPr id="4" name="Image 0" descr="Torre central con campo de heliostatos y disco parabólico con motor Stirling">    </p:cNvPr>
          <p:cNvPicPr>
            <a:picLocks noChangeAspect="1"/>
          </p:cNvPicPr>
          <p:nvPr/>
        </p:nvPicPr>
        <p:blipFill>
          <a:blip r:embed="rId1"/>
          <a:srcRect l="-14" r="-14" t="0" b="0"/>
          <a:stretch/>
        </p:blipFill>
        <p:spPr>
          <a:xfrm>
            <a:off x="812800" y="1864333"/>
            <a:ext cx="10566400" cy="2857500"/>
          </a:xfrm>
          <a:prstGeom prst="rect">
            <a:avLst/>
          </a:prstGeom>
        </p:spPr>
      </p:pic>
      <p:sp>
        <p:nvSpPr>
          <p:cNvPr id="5" name="Text 2"/>
          <p:cNvSpPr/>
          <p:nvPr/>
        </p:nvSpPr>
        <p:spPr>
          <a:xfrm>
            <a:off x="3289300" y="2156433"/>
            <a:ext cx="1320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Receptor</a:t>
            </a:r>
            <a:endParaRPr lang="en-US" sz="1200" dirty="0"/>
          </a:p>
        </p:txBody>
      </p:sp>
      <p:sp>
        <p:nvSpPr>
          <p:cNvPr id="6" name="Text 3"/>
          <p:cNvSpPr/>
          <p:nvPr/>
        </p:nvSpPr>
        <p:spPr>
          <a:xfrm>
            <a:off x="812800" y="4493233"/>
            <a:ext cx="196215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6A5444"/>
                </a:solidFill>
                <a:latin typeface="Arial" pitchFamily="34" charset="0"/>
                <a:ea typeface="Arial" pitchFamily="34" charset="-122"/>
                <a:cs typeface="Arial" pitchFamily="34" charset="-120"/>
              </a:rPr>
              <a:t>Heliostatos</a:t>
            </a:r>
            <a:endParaRPr lang="en-US" sz="1200" dirty="0"/>
          </a:p>
        </p:txBody>
      </p:sp>
      <p:sp>
        <p:nvSpPr>
          <p:cNvPr id="7" name="Text 4"/>
          <p:cNvSpPr/>
          <p:nvPr/>
        </p:nvSpPr>
        <p:spPr>
          <a:xfrm>
            <a:off x="7962900" y="2753333"/>
            <a:ext cx="9398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3E00"/>
                </a:solidFill>
                <a:latin typeface="Arial" pitchFamily="34" charset="0"/>
                <a:ea typeface="Arial" pitchFamily="34" charset="-122"/>
                <a:cs typeface="Arial" pitchFamily="34" charset="-120"/>
              </a:rPr>
              <a:t>Stirling</a:t>
            </a:r>
            <a:endParaRPr lang="en-US" sz="1200" dirty="0"/>
          </a:p>
        </p:txBody>
      </p:sp>
      <p:sp>
        <p:nvSpPr>
          <p:cNvPr id="8" name="Text 5"/>
          <p:cNvSpPr/>
          <p:nvPr/>
        </p:nvSpPr>
        <p:spPr>
          <a:xfrm>
            <a:off x="812800" y="4899633"/>
            <a:ext cx="5284724" cy="498556"/>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2A1810"/>
                </a:solidFill>
                <a:latin typeface="Arial" pitchFamily="34" charset="0"/>
                <a:ea typeface="Arial" pitchFamily="34" charset="-122"/>
                <a:cs typeface="Arial" pitchFamily="34" charset="-120"/>
              </a:rPr>
              <a:t>Torre:</a:t>
            </a:r>
            <a:r>
              <a:rPr lang="en-US" sz="1350" dirty="0">
                <a:solidFill>
                  <a:srgbClr val="2A1810"/>
                </a:solidFill>
                <a:latin typeface="Arial" pitchFamily="34" charset="0"/>
                <a:ea typeface="Arial" pitchFamily="34" charset="-122"/>
                <a:cs typeface="Arial" pitchFamily="34" charset="-120"/>
              </a:rPr>
              <a:t> cientos o miles de heliostatos siguen al sol en dos ejes y apuntan a un receptor en lo alto. C de 100 a 1500 (Kalogirou, 2009).</a:t>
            </a:r>
            <a:endParaRPr lang="en-US" sz="1350" dirty="0"/>
          </a:p>
        </p:txBody>
      </p:sp>
      <p:sp>
        <p:nvSpPr>
          <p:cNvPr id="9" name="Text 6"/>
          <p:cNvSpPr/>
          <p:nvPr/>
        </p:nvSpPr>
        <p:spPr>
          <a:xfrm>
            <a:off x="6248400" y="4899633"/>
            <a:ext cx="5284724" cy="498556"/>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2A1810"/>
                </a:solidFill>
                <a:latin typeface="Arial" pitchFamily="34" charset="0"/>
                <a:ea typeface="Arial" pitchFamily="34" charset="-122"/>
                <a:cs typeface="Arial" pitchFamily="34" charset="-120"/>
              </a:rPr>
              <a:t>Disco:</a:t>
            </a:r>
            <a:r>
              <a:rPr lang="en-US" sz="1350" dirty="0">
                <a:solidFill>
                  <a:srgbClr val="2A1810"/>
                </a:solidFill>
                <a:latin typeface="Arial" pitchFamily="34" charset="0"/>
                <a:ea typeface="Arial" pitchFamily="34" charset="-122"/>
                <a:cs typeface="Arial" pitchFamily="34" charset="-120"/>
              </a:rPr>
              <a:t> un paraboloide concentra en un punto donde un motor Stirling genera electricidad. C de 100 a 1000 (Kalogirou, 2009).</a:t>
            </a:r>
            <a:endParaRPr lang="en-US" sz="1350" dirty="0"/>
          </a:p>
        </p:txBody>
      </p:sp>
      <p:sp>
        <p:nvSpPr>
          <p:cNvPr id="10" name="Text 7"/>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REN21 (2025). Ilustración propia a partir de estas fuentes.</a:t>
            </a:r>
            <a:endParaRPr lang="en-US" sz="1200" dirty="0"/>
          </a:p>
        </p:txBody>
      </p:sp>
      <p:sp>
        <p:nvSpPr>
          <p:cNvPr id="11" name="Text 8"/>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19</a:t>
            </a:r>
            <a:endParaRPr lang="en-US"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1 · CASO REAL</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Gemasolar: una torre que genera de noche</a:t>
            </a:r>
            <a:endParaRPr lang="en-US" sz="3200" dirty="0"/>
          </a:p>
        </p:txBody>
      </p:sp>
      <p:pic>
        <p:nvPicPr>
          <p:cNvPr id="4" name="Image 0" descr="Vista superior esquemática del campo circular de heliostatos de Gemasolar alrededor de la torre">    </p:cNvPr>
          <p:cNvPicPr>
            <a:picLocks noChangeAspect="1"/>
          </p:cNvPicPr>
          <p:nvPr/>
        </p:nvPicPr>
        <p:blipFill>
          <a:blip r:embed="rId1"/>
          <a:srcRect l="0" r="0" t="0" b="0"/>
          <a:stretch/>
        </p:blipFill>
        <p:spPr>
          <a:xfrm>
            <a:off x="812800" y="1915133"/>
            <a:ext cx="3556000" cy="3556000"/>
          </a:xfrm>
          <a:prstGeom prst="rect">
            <a:avLst/>
          </a:prstGeom>
        </p:spPr>
      </p:pic>
      <p:sp>
        <p:nvSpPr>
          <p:cNvPr id="5" name="Shape 2"/>
          <p:cNvSpPr/>
          <p:nvPr/>
        </p:nvSpPr>
        <p:spPr>
          <a:xfrm>
            <a:off x="4724400" y="1915133"/>
            <a:ext cx="3263900" cy="1436321"/>
          </a:xfrm>
          <a:prstGeom prst="roundRect">
            <a:avLst>
              <a:gd name="adj" fmla="val 7074"/>
            </a:avLst>
          </a:prstGeom>
          <a:solidFill>
            <a:srgbClr val="44261A"/>
          </a:solidFill>
          <a:ln/>
        </p:spPr>
      </p:sp>
      <p:sp>
        <p:nvSpPr>
          <p:cNvPr id="6" name="Text 3"/>
          <p:cNvSpPr/>
          <p:nvPr/>
        </p:nvSpPr>
        <p:spPr>
          <a:xfrm>
            <a:off x="4953000" y="2143733"/>
            <a:ext cx="28909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B347"/>
                </a:solidFill>
                <a:latin typeface="Arial" pitchFamily="34" charset="0"/>
                <a:ea typeface="Arial" pitchFamily="34" charset="-122"/>
                <a:cs typeface="Arial" pitchFamily="34" charset="-120"/>
              </a:rPr>
              <a:t>19,9 MW</a:t>
            </a:r>
            <a:endParaRPr lang="en-US" sz="3600" dirty="0"/>
          </a:p>
        </p:txBody>
      </p:sp>
      <p:sp>
        <p:nvSpPr>
          <p:cNvPr id="7" name="Text 4"/>
          <p:cNvSpPr/>
          <p:nvPr/>
        </p:nvSpPr>
        <p:spPr>
          <a:xfrm>
            <a:off x="4953000" y="2677133"/>
            <a:ext cx="2890901" cy="24826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BF4E8"/>
                </a:solidFill>
                <a:latin typeface="Arial" pitchFamily="34" charset="0"/>
                <a:ea typeface="Arial" pitchFamily="34" charset="-122"/>
                <a:cs typeface="Arial" pitchFamily="34" charset="-120"/>
              </a:rPr>
              <a:t>de potencia eléctrica</a:t>
            </a:r>
            <a:endParaRPr lang="en-US" sz="1300" dirty="0"/>
          </a:p>
        </p:txBody>
      </p:sp>
      <p:sp>
        <p:nvSpPr>
          <p:cNvPr id="8" name="Shape 5"/>
          <p:cNvSpPr/>
          <p:nvPr/>
        </p:nvSpPr>
        <p:spPr>
          <a:xfrm>
            <a:off x="8115300" y="1915133"/>
            <a:ext cx="3263900" cy="1436321"/>
          </a:xfrm>
          <a:prstGeom prst="roundRect">
            <a:avLst>
              <a:gd name="adj" fmla="val 7074"/>
            </a:avLst>
          </a:prstGeom>
          <a:solidFill>
            <a:srgbClr val="44261A"/>
          </a:solidFill>
          <a:ln/>
        </p:spPr>
      </p:sp>
      <p:sp>
        <p:nvSpPr>
          <p:cNvPr id="9" name="Text 6"/>
          <p:cNvSpPr/>
          <p:nvPr/>
        </p:nvSpPr>
        <p:spPr>
          <a:xfrm>
            <a:off x="8343900" y="2143733"/>
            <a:ext cx="28909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B347"/>
                </a:solidFill>
                <a:latin typeface="Arial" pitchFamily="34" charset="0"/>
                <a:ea typeface="Arial" pitchFamily="34" charset="-122"/>
                <a:cs typeface="Arial" pitchFamily="34" charset="-120"/>
              </a:rPr>
              <a:t>15 h</a:t>
            </a:r>
            <a:endParaRPr lang="en-US" sz="3600" dirty="0"/>
          </a:p>
        </p:txBody>
      </p:sp>
      <p:sp>
        <p:nvSpPr>
          <p:cNvPr id="10" name="Text 7"/>
          <p:cNvSpPr/>
          <p:nvPr/>
        </p:nvSpPr>
        <p:spPr>
          <a:xfrm>
            <a:off x="8343900" y="2677133"/>
            <a:ext cx="2890901" cy="4711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BF4E8"/>
                </a:solidFill>
                <a:latin typeface="Arial" pitchFamily="34" charset="0"/>
                <a:ea typeface="Arial" pitchFamily="34" charset="-122"/>
                <a:cs typeface="Arial" pitchFamily="34" charset="-120"/>
              </a:rPr>
              <a:t>de operación sin sol con sales fundidas</a:t>
            </a:r>
            <a:endParaRPr lang="en-US" sz="1300" dirty="0"/>
          </a:p>
        </p:txBody>
      </p:sp>
      <p:sp>
        <p:nvSpPr>
          <p:cNvPr id="11" name="Shape 8"/>
          <p:cNvSpPr/>
          <p:nvPr/>
        </p:nvSpPr>
        <p:spPr>
          <a:xfrm>
            <a:off x="4724400" y="3478461"/>
            <a:ext cx="3263900" cy="1436321"/>
          </a:xfrm>
          <a:prstGeom prst="roundRect">
            <a:avLst>
              <a:gd name="adj" fmla="val 7074"/>
            </a:avLst>
          </a:prstGeom>
          <a:solidFill>
            <a:srgbClr val="44261A"/>
          </a:solidFill>
          <a:ln/>
        </p:spPr>
      </p:sp>
      <p:sp>
        <p:nvSpPr>
          <p:cNvPr id="12" name="Text 9"/>
          <p:cNvSpPr/>
          <p:nvPr/>
        </p:nvSpPr>
        <p:spPr>
          <a:xfrm>
            <a:off x="4953000" y="3707061"/>
            <a:ext cx="28909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B347"/>
                </a:solidFill>
                <a:latin typeface="Arial" pitchFamily="34" charset="0"/>
                <a:ea typeface="Arial" pitchFamily="34" charset="-122"/>
                <a:cs typeface="Arial" pitchFamily="34" charset="-120"/>
              </a:rPr>
              <a:t>2650</a:t>
            </a:r>
            <a:endParaRPr lang="en-US" sz="3600" dirty="0"/>
          </a:p>
        </p:txBody>
      </p:sp>
      <p:sp>
        <p:nvSpPr>
          <p:cNvPr id="13" name="Text 10"/>
          <p:cNvSpPr/>
          <p:nvPr/>
        </p:nvSpPr>
        <p:spPr>
          <a:xfrm>
            <a:off x="4953000" y="4240461"/>
            <a:ext cx="2890901" cy="4711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BF4E8"/>
                </a:solidFill>
                <a:latin typeface="Arial" pitchFamily="34" charset="0"/>
                <a:ea typeface="Arial" pitchFamily="34" charset="-122"/>
                <a:cs typeface="Arial" pitchFamily="34" charset="-120"/>
              </a:rPr>
              <a:t>heliostatos en anillos alrededor de la torre</a:t>
            </a:r>
            <a:endParaRPr lang="en-US" sz="1300" dirty="0"/>
          </a:p>
        </p:txBody>
      </p:sp>
      <p:sp>
        <p:nvSpPr>
          <p:cNvPr id="14" name="Shape 11"/>
          <p:cNvSpPr/>
          <p:nvPr/>
        </p:nvSpPr>
        <p:spPr>
          <a:xfrm>
            <a:off x="8115300" y="3478461"/>
            <a:ext cx="3263900" cy="1436321"/>
          </a:xfrm>
          <a:prstGeom prst="roundRect">
            <a:avLst>
              <a:gd name="adj" fmla="val 7074"/>
            </a:avLst>
          </a:prstGeom>
          <a:solidFill>
            <a:srgbClr val="44261A"/>
          </a:solidFill>
          <a:ln/>
        </p:spPr>
      </p:sp>
      <p:sp>
        <p:nvSpPr>
          <p:cNvPr id="15" name="Text 12"/>
          <p:cNvSpPr/>
          <p:nvPr/>
        </p:nvSpPr>
        <p:spPr>
          <a:xfrm>
            <a:off x="8343900" y="3707061"/>
            <a:ext cx="28909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B347"/>
                </a:solidFill>
                <a:latin typeface="Arial" pitchFamily="34" charset="0"/>
                <a:ea typeface="Arial" pitchFamily="34" charset="-122"/>
                <a:cs typeface="Arial" pitchFamily="34" charset="-120"/>
              </a:rPr>
              <a:t>140 m</a:t>
            </a:r>
            <a:endParaRPr lang="en-US" sz="3600" dirty="0"/>
          </a:p>
        </p:txBody>
      </p:sp>
      <p:sp>
        <p:nvSpPr>
          <p:cNvPr id="16" name="Text 13"/>
          <p:cNvSpPr/>
          <p:nvPr/>
        </p:nvSpPr>
        <p:spPr>
          <a:xfrm>
            <a:off x="8343900" y="4240461"/>
            <a:ext cx="2890901" cy="24826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BF4E8"/>
                </a:solidFill>
                <a:latin typeface="Arial" pitchFamily="34" charset="0"/>
                <a:ea typeface="Arial" pitchFamily="34" charset="-122"/>
                <a:cs typeface="Arial" pitchFamily="34" charset="-120"/>
              </a:rPr>
              <a:t>de altura de la torre receptora</a:t>
            </a:r>
            <a:endParaRPr lang="en-US" sz="1300" dirty="0"/>
          </a:p>
        </p:txBody>
      </p:sp>
      <p:sp>
        <p:nvSpPr>
          <p:cNvPr id="17" name="Text 14"/>
          <p:cNvSpPr/>
          <p:nvPr/>
        </p:nvSpPr>
        <p:spPr>
          <a:xfrm>
            <a:off x="4724400" y="5067176"/>
            <a:ext cx="6854444"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E8CDB0"/>
                </a:solidFill>
                <a:latin typeface="Arial" pitchFamily="34" charset="0"/>
                <a:ea typeface="Arial" pitchFamily="34" charset="-122"/>
                <a:cs typeface="Arial" pitchFamily="34" charset="-120"/>
              </a:rPr>
              <a:t>En Fuentes de Andalucía (Sevilla, España), opera desde mayo de 2011 y produce unos 80 GWh al año.</a:t>
            </a:r>
            <a:endParaRPr lang="en-US" sz="1400" dirty="0"/>
          </a:p>
        </p:txBody>
      </p:sp>
      <p:sp>
        <p:nvSpPr>
          <p:cNvPr id="18" name="Text 15"/>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«Gemasolar Thermosolar Plant» (s. f.), Wikipedia. Ilustración propia.</a:t>
            </a:r>
            <a:endParaRPr lang="en-US" sz="1200" dirty="0"/>
          </a:p>
        </p:txBody>
      </p:sp>
      <p:sp>
        <p:nvSpPr>
          <p:cNvPr id="19" name="Text 16"/>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21</a:t>
            </a:r>
            <a:endParaRPr lang="en-US" sz="12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1 · EQUIPOS DE UN SISTEMA</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Del colector a la ducha en cuatro equipos</a:t>
            </a:r>
            <a:endParaRPr lang="en-US" sz="3200" dirty="0"/>
          </a:p>
        </p:txBody>
      </p:sp>
      <p:sp>
        <p:nvSpPr>
          <p:cNvPr id="4" name="Shape 2"/>
          <p:cNvSpPr/>
          <p:nvPr/>
        </p:nvSpPr>
        <p:spPr>
          <a:xfrm>
            <a:off x="812800" y="2029036"/>
            <a:ext cx="2298700" cy="1131277"/>
          </a:xfrm>
          <a:prstGeom prst="roundRect">
            <a:avLst>
              <a:gd name="adj" fmla="val 8981"/>
            </a:avLst>
          </a:prstGeom>
          <a:solidFill>
            <a:srgbClr val="44261A"/>
          </a:solidFill>
          <a:ln/>
        </p:spPr>
      </p:sp>
      <p:sp>
        <p:nvSpPr>
          <p:cNvPr id="5" name="Text 3"/>
          <p:cNvSpPr/>
          <p:nvPr/>
        </p:nvSpPr>
        <p:spPr>
          <a:xfrm>
            <a:off x="990600" y="2206836"/>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Colector</a:t>
            </a:r>
            <a:endParaRPr lang="en-US" sz="1600" dirty="0"/>
          </a:p>
        </p:txBody>
      </p:sp>
      <p:sp>
        <p:nvSpPr>
          <p:cNvPr id="6" name="Text 4"/>
          <p:cNvSpPr/>
          <p:nvPr/>
        </p:nvSpPr>
        <p:spPr>
          <a:xfrm>
            <a:off x="990600" y="2526854"/>
            <a:ext cx="2001393"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Absorbe la radiación y calienta el fluido.</a:t>
            </a:r>
            <a:endParaRPr lang="en-US" sz="1300" dirty="0"/>
          </a:p>
        </p:txBody>
      </p:sp>
      <p:pic>
        <p:nvPicPr>
          <p:cNvPr id="7" name="Image 0" descr="Play">    </p:cNvPr>
          <p:cNvPicPr>
            <a:picLocks noChangeAspect="1"/>
          </p:cNvPicPr>
          <p:nvPr/>
        </p:nvPicPr>
        <p:blipFill>
          <a:blip r:embed="rId1"/>
          <a:srcRect l="0" r="0" t="0" b="0"/>
          <a:stretch/>
        </p:blipFill>
        <p:spPr>
          <a:xfrm>
            <a:off x="3213100" y="2467670"/>
            <a:ext cx="254000" cy="254000"/>
          </a:xfrm>
          <a:prstGeom prst="rect">
            <a:avLst/>
          </a:prstGeom>
        </p:spPr>
      </p:pic>
      <p:sp>
        <p:nvSpPr>
          <p:cNvPr id="8" name="Shape 5"/>
          <p:cNvSpPr/>
          <p:nvPr/>
        </p:nvSpPr>
        <p:spPr>
          <a:xfrm>
            <a:off x="3568700" y="2029036"/>
            <a:ext cx="2298700" cy="1131277"/>
          </a:xfrm>
          <a:prstGeom prst="roundRect">
            <a:avLst>
              <a:gd name="adj" fmla="val 8981"/>
            </a:avLst>
          </a:prstGeom>
          <a:solidFill>
            <a:srgbClr val="44261A"/>
          </a:solidFill>
          <a:ln/>
        </p:spPr>
      </p:sp>
      <p:sp>
        <p:nvSpPr>
          <p:cNvPr id="9" name="Text 6"/>
          <p:cNvSpPr/>
          <p:nvPr/>
        </p:nvSpPr>
        <p:spPr>
          <a:xfrm>
            <a:off x="3746500" y="2206836"/>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Tubería aislada</a:t>
            </a:r>
            <a:endParaRPr lang="en-US" sz="1600" dirty="0"/>
          </a:p>
        </p:txBody>
      </p:sp>
      <p:sp>
        <p:nvSpPr>
          <p:cNvPr id="10" name="Text 7"/>
          <p:cNvSpPr/>
          <p:nvPr/>
        </p:nvSpPr>
        <p:spPr>
          <a:xfrm>
            <a:off x="3746500" y="2526854"/>
            <a:ext cx="2001393"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Lleva el calor, con bomba o por termosifón.</a:t>
            </a:r>
            <a:endParaRPr lang="en-US" sz="1300" dirty="0"/>
          </a:p>
        </p:txBody>
      </p:sp>
      <p:pic>
        <p:nvPicPr>
          <p:cNvPr id="11" name="Image 1" descr="Play">    </p:cNvPr>
          <p:cNvPicPr>
            <a:picLocks noChangeAspect="1"/>
          </p:cNvPicPr>
          <p:nvPr/>
        </p:nvPicPr>
        <p:blipFill>
          <a:blip r:embed="rId2"/>
          <a:srcRect l="0" r="0" t="0" b="0"/>
          <a:stretch/>
        </p:blipFill>
        <p:spPr>
          <a:xfrm>
            <a:off x="5969000" y="2467670"/>
            <a:ext cx="254000" cy="254000"/>
          </a:xfrm>
          <a:prstGeom prst="rect">
            <a:avLst/>
          </a:prstGeom>
        </p:spPr>
      </p:pic>
      <p:sp>
        <p:nvSpPr>
          <p:cNvPr id="12" name="Shape 8"/>
          <p:cNvSpPr/>
          <p:nvPr/>
        </p:nvSpPr>
        <p:spPr>
          <a:xfrm>
            <a:off x="6324600" y="1915133"/>
            <a:ext cx="2298700" cy="1359104"/>
          </a:xfrm>
          <a:prstGeom prst="roundRect">
            <a:avLst>
              <a:gd name="adj" fmla="val 7476"/>
            </a:avLst>
          </a:prstGeom>
          <a:solidFill>
            <a:srgbClr val="44261A"/>
          </a:solidFill>
          <a:ln/>
        </p:spPr>
      </p:sp>
      <p:sp>
        <p:nvSpPr>
          <p:cNvPr id="13" name="Text 9"/>
          <p:cNvSpPr/>
          <p:nvPr/>
        </p:nvSpPr>
        <p:spPr>
          <a:xfrm>
            <a:off x="65024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Tanque</a:t>
            </a:r>
            <a:endParaRPr lang="en-US" sz="1600" dirty="0"/>
          </a:p>
        </p:txBody>
      </p:sp>
      <p:sp>
        <p:nvSpPr>
          <p:cNvPr id="14" name="Text 10"/>
          <p:cNvSpPr/>
          <p:nvPr/>
        </p:nvSpPr>
        <p:spPr>
          <a:xfrm>
            <a:off x="65024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Almacena agua caliente; puede tener intercambiador.</a:t>
            </a:r>
            <a:endParaRPr lang="en-US" sz="1300" dirty="0"/>
          </a:p>
        </p:txBody>
      </p:sp>
      <p:pic>
        <p:nvPicPr>
          <p:cNvPr id="15" name="Image 2" descr="Play">    </p:cNvPr>
          <p:cNvPicPr>
            <a:picLocks noChangeAspect="1"/>
          </p:cNvPicPr>
          <p:nvPr/>
        </p:nvPicPr>
        <p:blipFill>
          <a:blip r:embed="rId3"/>
          <a:srcRect l="0" r="0" t="0" b="0"/>
          <a:stretch/>
        </p:blipFill>
        <p:spPr>
          <a:xfrm>
            <a:off x="8724900" y="2467670"/>
            <a:ext cx="254000" cy="254000"/>
          </a:xfrm>
          <a:prstGeom prst="rect">
            <a:avLst/>
          </a:prstGeom>
        </p:spPr>
      </p:pic>
      <p:sp>
        <p:nvSpPr>
          <p:cNvPr id="16" name="Shape 11"/>
          <p:cNvSpPr/>
          <p:nvPr/>
        </p:nvSpPr>
        <p:spPr>
          <a:xfrm>
            <a:off x="9080500" y="1915133"/>
            <a:ext cx="2298700" cy="1359104"/>
          </a:xfrm>
          <a:prstGeom prst="roundRect">
            <a:avLst>
              <a:gd name="adj" fmla="val 7476"/>
            </a:avLst>
          </a:prstGeom>
          <a:solidFill>
            <a:srgbClr val="44261A"/>
          </a:solidFill>
          <a:ln/>
        </p:spPr>
      </p:sp>
      <p:sp>
        <p:nvSpPr>
          <p:cNvPr id="17" name="Text 12"/>
          <p:cNvSpPr/>
          <p:nvPr/>
        </p:nvSpPr>
        <p:spPr>
          <a:xfrm>
            <a:off x="92583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Consumo y apoyo</a:t>
            </a:r>
            <a:endParaRPr lang="en-US" sz="1600" dirty="0"/>
          </a:p>
        </p:txBody>
      </p:sp>
      <p:sp>
        <p:nvSpPr>
          <p:cNvPr id="18" name="Text 13"/>
          <p:cNvSpPr/>
          <p:nvPr/>
        </p:nvSpPr>
        <p:spPr>
          <a:xfrm>
            <a:off x="92583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Entrega a la vivienda; resistencia o gas si falta sol.</a:t>
            </a:r>
            <a:endParaRPr lang="en-US" sz="1300" dirty="0"/>
          </a:p>
        </p:txBody>
      </p:sp>
      <p:sp>
        <p:nvSpPr>
          <p:cNvPr id="19" name="Shape 14"/>
          <p:cNvSpPr/>
          <p:nvPr/>
        </p:nvSpPr>
        <p:spPr>
          <a:xfrm>
            <a:off x="812800" y="3477444"/>
            <a:ext cx="5207000" cy="1462413"/>
          </a:xfrm>
          <a:prstGeom prst="roundRect">
            <a:avLst>
              <a:gd name="adj" fmla="val 6947"/>
            </a:avLst>
          </a:prstGeom>
          <a:solidFill>
            <a:srgbClr val="44261A"/>
          </a:solidFill>
          <a:ln/>
        </p:spPr>
      </p:sp>
      <p:sp>
        <p:nvSpPr>
          <p:cNvPr id="20" name="Text 15"/>
          <p:cNvSpPr/>
          <p:nvPr/>
        </p:nvSpPr>
        <p:spPr>
          <a:xfrm>
            <a:off x="1016000" y="3680644"/>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Circulación</a:t>
            </a:r>
            <a:endParaRPr lang="en-US" sz="1600" dirty="0"/>
          </a:p>
        </p:txBody>
      </p:sp>
      <p:sp>
        <p:nvSpPr>
          <p:cNvPr id="21" name="Text 16"/>
          <p:cNvSpPr/>
          <p:nvPr/>
        </p:nvSpPr>
        <p:spPr>
          <a:xfrm>
            <a:off x="1016000" y="4000661"/>
            <a:ext cx="494461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FBF4E8"/>
                </a:solidFill>
                <a:latin typeface="Arial" pitchFamily="34" charset="0"/>
                <a:ea typeface="Arial" pitchFamily="34" charset="-122"/>
                <a:cs typeface="Arial" pitchFamily="34" charset="-120"/>
              </a:rPr>
              <a:t>Termosifón:</a:t>
            </a:r>
            <a:r>
              <a:rPr lang="en-US" sz="1400" dirty="0">
                <a:solidFill>
                  <a:srgbClr val="FBF4E8"/>
                </a:solidFill>
                <a:latin typeface="Arial" pitchFamily="34" charset="0"/>
                <a:ea typeface="Arial" pitchFamily="34" charset="-122"/>
                <a:cs typeface="Arial" pitchFamily="34" charset="-120"/>
              </a:rPr>
              <a:t> sin bomba, el tanque va sobre el colector. </a:t>
            </a:r>
            <a:r>
              <a:rPr lang="en-US" sz="1400" b="1" dirty="0">
                <a:solidFill>
                  <a:srgbClr val="FBF4E8"/>
                </a:solidFill>
                <a:latin typeface="Arial" pitchFamily="34" charset="0"/>
                <a:ea typeface="Arial" pitchFamily="34" charset="-122"/>
                <a:cs typeface="Arial" pitchFamily="34" charset="-120"/>
              </a:rPr>
              <a:t>Forzada:</a:t>
            </a:r>
            <a:r>
              <a:rPr lang="en-US" sz="1400" dirty="0">
                <a:solidFill>
                  <a:srgbClr val="FBF4E8"/>
                </a:solidFill>
                <a:latin typeface="Arial" pitchFamily="34" charset="0"/>
                <a:ea typeface="Arial" pitchFamily="34" charset="-122"/>
                <a:cs typeface="Arial" pitchFamily="34" charset="-120"/>
              </a:rPr>
              <a:t> bomba y control diferencial de temperatura.</a:t>
            </a:r>
            <a:endParaRPr lang="en-US" sz="1400" dirty="0"/>
          </a:p>
        </p:txBody>
      </p:sp>
      <p:sp>
        <p:nvSpPr>
          <p:cNvPr id="22" name="Shape 17"/>
          <p:cNvSpPr/>
          <p:nvPr/>
        </p:nvSpPr>
        <p:spPr>
          <a:xfrm>
            <a:off x="6172200" y="3477444"/>
            <a:ext cx="5207000" cy="1462413"/>
          </a:xfrm>
          <a:prstGeom prst="roundRect">
            <a:avLst>
              <a:gd name="adj" fmla="val 6947"/>
            </a:avLst>
          </a:prstGeom>
          <a:solidFill>
            <a:srgbClr val="44261A"/>
          </a:solidFill>
          <a:ln/>
        </p:spPr>
      </p:sp>
      <p:sp>
        <p:nvSpPr>
          <p:cNvPr id="23" name="Text 18"/>
          <p:cNvSpPr/>
          <p:nvPr/>
        </p:nvSpPr>
        <p:spPr>
          <a:xfrm>
            <a:off x="6375400" y="3680644"/>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Circuito</a:t>
            </a:r>
            <a:endParaRPr lang="en-US" sz="1600" dirty="0"/>
          </a:p>
        </p:txBody>
      </p:sp>
      <p:sp>
        <p:nvSpPr>
          <p:cNvPr id="24" name="Text 19"/>
          <p:cNvSpPr/>
          <p:nvPr/>
        </p:nvSpPr>
        <p:spPr>
          <a:xfrm>
            <a:off x="6375400" y="4000661"/>
            <a:ext cx="4944618" cy="761389"/>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FBF4E8"/>
                </a:solidFill>
                <a:latin typeface="Arial" pitchFamily="34" charset="0"/>
                <a:ea typeface="Arial" pitchFamily="34" charset="-122"/>
                <a:cs typeface="Arial" pitchFamily="34" charset="-120"/>
              </a:rPr>
              <a:t>Directo:</a:t>
            </a:r>
            <a:r>
              <a:rPr lang="en-US" sz="1400" dirty="0">
                <a:solidFill>
                  <a:srgbClr val="FBF4E8"/>
                </a:solidFill>
                <a:latin typeface="Arial" pitchFamily="34" charset="0"/>
                <a:ea typeface="Arial" pitchFamily="34" charset="-122"/>
                <a:cs typeface="Arial" pitchFamily="34" charset="-120"/>
              </a:rPr>
              <a:t> calienta el agua de consumo. </a:t>
            </a:r>
            <a:r>
              <a:rPr lang="en-US" sz="1400" b="1" dirty="0">
                <a:solidFill>
                  <a:srgbClr val="FBF4E8"/>
                </a:solidFill>
                <a:latin typeface="Arial" pitchFamily="34" charset="0"/>
                <a:ea typeface="Arial" pitchFamily="34" charset="-122"/>
                <a:cs typeface="Arial" pitchFamily="34" charset="-120"/>
              </a:rPr>
              <a:t>Indirecto:</a:t>
            </a:r>
            <a:r>
              <a:rPr lang="en-US" sz="1400" dirty="0">
                <a:solidFill>
                  <a:srgbClr val="FBF4E8"/>
                </a:solidFill>
                <a:latin typeface="Arial" pitchFamily="34" charset="0"/>
                <a:ea typeface="Arial" pitchFamily="34" charset="-122"/>
                <a:cs typeface="Arial" pitchFamily="34" charset="-120"/>
              </a:rPr>
              <a:t> fluido térmico e intercambiador, contra congelamiento o incrustación.</a:t>
            </a:r>
            <a:endParaRPr lang="en-US" sz="1400" dirty="0"/>
          </a:p>
        </p:txBody>
      </p:sp>
      <p:sp>
        <p:nvSpPr>
          <p:cNvPr id="25" name="Text 20"/>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Kalogirou (2009).</a:t>
            </a:r>
            <a:endParaRPr lang="en-US" sz="1200" dirty="0"/>
          </a:p>
        </p:txBody>
      </p:sp>
      <p:sp>
        <p:nvSpPr>
          <p:cNvPr id="26" name="Text 21"/>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22</a:t>
            </a:r>
            <a:endParaRPr lang="en-US" sz="12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 · CIRCULACIÓN</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Termosifón o circulación forzada</a:t>
            </a:r>
            <a:endParaRPr lang="en-US" sz="3200" dirty="0"/>
          </a:p>
        </p:txBody>
      </p:sp>
      <p:pic>
        <p:nvPicPr>
          <p:cNvPr id="4" name="Image 0" descr="Sistema por termosifón con tanque sobre el colector y sistema de circulación forzada con bomba, tanque con serpentín y control diferencial">    </p:cNvPr>
          <p:cNvPicPr>
            <a:picLocks noChangeAspect="1"/>
          </p:cNvPicPr>
          <p:nvPr/>
        </p:nvPicPr>
        <p:blipFill>
          <a:blip r:embed="rId1"/>
          <a:srcRect l="0" r="0" t="-40" b="-40"/>
          <a:stretch/>
        </p:blipFill>
        <p:spPr>
          <a:xfrm>
            <a:off x="812800" y="1864333"/>
            <a:ext cx="10566400" cy="2984500"/>
          </a:xfrm>
          <a:prstGeom prst="rect">
            <a:avLst/>
          </a:prstGeom>
        </p:spPr>
      </p:pic>
      <p:sp>
        <p:nvSpPr>
          <p:cNvPr id="5" name="Text 2"/>
          <p:cNvSpPr/>
          <p:nvPr/>
        </p:nvSpPr>
        <p:spPr>
          <a:xfrm>
            <a:off x="812800" y="1864333"/>
            <a:ext cx="215836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810"/>
                </a:solidFill>
                <a:latin typeface="Arial" pitchFamily="34" charset="0"/>
                <a:ea typeface="Arial" pitchFamily="34" charset="-122"/>
                <a:cs typeface="Arial" pitchFamily="34" charset="-120"/>
              </a:rPr>
              <a:t>Termosifón (sin bomba)</a:t>
            </a:r>
            <a:endParaRPr lang="en-US" sz="1400" dirty="0"/>
          </a:p>
        </p:txBody>
      </p:sp>
      <p:sp>
        <p:nvSpPr>
          <p:cNvPr id="6" name="Text 3"/>
          <p:cNvSpPr/>
          <p:nvPr/>
        </p:nvSpPr>
        <p:spPr>
          <a:xfrm>
            <a:off x="6146800" y="1864333"/>
            <a:ext cx="274701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810"/>
                </a:solidFill>
                <a:latin typeface="Arial" pitchFamily="34" charset="0"/>
                <a:ea typeface="Arial" pitchFamily="34" charset="-122"/>
                <a:cs typeface="Arial" pitchFamily="34" charset="-120"/>
              </a:rPr>
              <a:t>Circulación forzada</a:t>
            </a:r>
            <a:endParaRPr lang="en-US" sz="1400" dirty="0"/>
          </a:p>
        </p:txBody>
      </p:sp>
      <p:sp>
        <p:nvSpPr>
          <p:cNvPr id="7" name="Text 4"/>
          <p:cNvSpPr/>
          <p:nvPr/>
        </p:nvSpPr>
        <p:spPr>
          <a:xfrm>
            <a:off x="3072130" y="2677133"/>
            <a:ext cx="183134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Tanque arriba</a:t>
            </a:r>
            <a:endParaRPr lang="en-US" sz="1300" dirty="0"/>
          </a:p>
        </p:txBody>
      </p:sp>
      <p:sp>
        <p:nvSpPr>
          <p:cNvPr id="8" name="Text 5"/>
          <p:cNvSpPr/>
          <p:nvPr/>
        </p:nvSpPr>
        <p:spPr>
          <a:xfrm>
            <a:off x="1447800" y="3070833"/>
            <a:ext cx="1511300" cy="391095"/>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El agua caliente sube por densidad</a:t>
            </a:r>
            <a:endParaRPr lang="en-US" sz="1200" dirty="0"/>
          </a:p>
        </p:txBody>
      </p:sp>
      <p:sp>
        <p:nvSpPr>
          <p:cNvPr id="9" name="Text 6"/>
          <p:cNvSpPr/>
          <p:nvPr/>
        </p:nvSpPr>
        <p:spPr>
          <a:xfrm>
            <a:off x="4851400" y="3769333"/>
            <a:ext cx="10033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La fría baja</a:t>
            </a:r>
            <a:endParaRPr lang="en-US" sz="1200" dirty="0"/>
          </a:p>
        </p:txBody>
      </p:sp>
      <p:sp>
        <p:nvSpPr>
          <p:cNvPr id="10" name="Text 7"/>
          <p:cNvSpPr/>
          <p:nvPr/>
        </p:nvSpPr>
        <p:spPr>
          <a:xfrm>
            <a:off x="7073900" y="3426433"/>
            <a:ext cx="11303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FBF4E8"/>
                </a:solidFill>
                <a:latin typeface="Arial" pitchFamily="34" charset="0"/>
                <a:ea typeface="Arial" pitchFamily="34" charset="-122"/>
                <a:cs typeface="Arial" pitchFamily="34" charset="-120"/>
              </a:rPr>
              <a:t>Control ΔT</a:t>
            </a:r>
            <a:endParaRPr lang="en-US" sz="1200" dirty="0"/>
          </a:p>
        </p:txBody>
      </p:sp>
      <p:sp>
        <p:nvSpPr>
          <p:cNvPr id="11" name="Text 8"/>
          <p:cNvSpPr/>
          <p:nvPr/>
        </p:nvSpPr>
        <p:spPr>
          <a:xfrm>
            <a:off x="7327900" y="4620233"/>
            <a:ext cx="8128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A1810"/>
                </a:solidFill>
                <a:latin typeface="Arial" pitchFamily="34" charset="0"/>
                <a:ea typeface="Arial" pitchFamily="34" charset="-122"/>
                <a:cs typeface="Arial" pitchFamily="34" charset="-120"/>
              </a:rPr>
              <a:t>Bomba</a:t>
            </a:r>
            <a:endParaRPr lang="en-US" sz="1200" dirty="0"/>
          </a:p>
        </p:txBody>
      </p:sp>
      <p:sp>
        <p:nvSpPr>
          <p:cNvPr id="12" name="Text 9"/>
          <p:cNvSpPr/>
          <p:nvPr/>
        </p:nvSpPr>
        <p:spPr>
          <a:xfrm>
            <a:off x="9296400" y="4594833"/>
            <a:ext cx="17018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A1810"/>
                </a:solidFill>
                <a:latin typeface="Arial" pitchFamily="34" charset="0"/>
                <a:ea typeface="Arial" pitchFamily="34" charset="-122"/>
                <a:cs typeface="Arial" pitchFamily="34" charset="-120"/>
              </a:rPr>
              <a:t>Tanque con serpentín</a:t>
            </a:r>
            <a:endParaRPr lang="en-US" sz="1200" dirty="0"/>
          </a:p>
        </p:txBody>
      </p:sp>
      <p:sp>
        <p:nvSpPr>
          <p:cNvPr id="13" name="Text 10"/>
          <p:cNvSpPr/>
          <p:nvPr/>
        </p:nvSpPr>
        <p:spPr>
          <a:xfrm>
            <a:off x="812800" y="5026633"/>
            <a:ext cx="5284724" cy="735135"/>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2A1810"/>
                </a:solidFill>
                <a:latin typeface="Arial" pitchFamily="34" charset="0"/>
                <a:ea typeface="Arial" pitchFamily="34" charset="-122"/>
                <a:cs typeface="Arial" pitchFamily="34" charset="-120"/>
              </a:rPr>
              <a:t>Termosifón:</a:t>
            </a:r>
            <a:r>
              <a:rPr lang="en-US" sz="1350" dirty="0">
                <a:solidFill>
                  <a:srgbClr val="2A1810"/>
                </a:solidFill>
                <a:latin typeface="Arial" pitchFamily="34" charset="0"/>
                <a:ea typeface="Arial" pitchFamily="34" charset="-122"/>
                <a:cs typeface="Arial" pitchFamily="34" charset="-120"/>
              </a:rPr>
              <a:t> el agua caliente es menos densa y sube sola al tanque; simple y sin electricidad (Duffie et al., 2020).</a:t>
            </a:r>
            <a:endParaRPr lang="en-US" sz="1350" dirty="0"/>
          </a:p>
        </p:txBody>
      </p:sp>
      <p:sp>
        <p:nvSpPr>
          <p:cNvPr id="14" name="Text 11"/>
          <p:cNvSpPr/>
          <p:nvPr/>
        </p:nvSpPr>
        <p:spPr>
          <a:xfrm>
            <a:off x="6248400" y="5026633"/>
            <a:ext cx="5284724" cy="735135"/>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2A1810"/>
                </a:solidFill>
                <a:latin typeface="Arial" pitchFamily="34" charset="0"/>
                <a:ea typeface="Arial" pitchFamily="34" charset="-122"/>
                <a:cs typeface="Arial" pitchFamily="34" charset="-120"/>
              </a:rPr>
              <a:t>Forzada:</a:t>
            </a:r>
            <a:r>
              <a:rPr lang="en-US" sz="1350" dirty="0">
                <a:solidFill>
                  <a:srgbClr val="2A1810"/>
                </a:solidFill>
                <a:latin typeface="Arial" pitchFamily="34" charset="0"/>
                <a:ea typeface="Arial" pitchFamily="34" charset="-122"/>
                <a:cs typeface="Arial" pitchFamily="34" charset="-120"/>
              </a:rPr>
              <a:t> la bomba arranca cuando el colector está más caliente que el tanque; permite el tanque lejos o abajo (Duffie et al., 2020; Kalogirou, 2009).</a:t>
            </a:r>
            <a:endParaRPr lang="en-US" sz="1350" dirty="0"/>
          </a:p>
        </p:txBody>
      </p:sp>
      <p:sp>
        <p:nvSpPr>
          <p:cNvPr id="15" name="Text 12"/>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Ilustración propia a partir de estas fuentes.</a:t>
            </a:r>
            <a:endParaRPr lang="en-US" sz="1200" dirty="0"/>
          </a:p>
        </p:txBody>
      </p:sp>
      <p:sp>
        <p:nvSpPr>
          <p:cNvPr id="16" name="Text 13"/>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23</a:t>
            </a:r>
            <a:endParaRPr lang="en-US" sz="12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2 · PRINCIPIO FÍSICO</a:t>
            </a:r>
            <a:endParaRPr lang="en-US" sz="1400" dirty="0"/>
          </a:p>
        </p:txBody>
      </p:sp>
      <p:sp>
        <p:nvSpPr>
          <p:cNvPr id="3" name="Text 1"/>
          <p:cNvSpPr/>
          <p:nvPr>
            <p:ph type="title"/>
          </p:nvPr>
        </p:nvSpPr>
        <p:spPr>
          <a:xfrm>
            <a:off x="812800" y="12776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Cómo un colector convierte luz en calor</a:t>
            </a:r>
            <a:endParaRPr lang="en-US" sz="3200" dirty="0"/>
          </a:p>
        </p:txBody>
      </p:sp>
      <p:sp>
        <p:nvSpPr>
          <p:cNvPr id="4" name="Shape 2"/>
          <p:cNvSpPr/>
          <p:nvPr/>
        </p:nvSpPr>
        <p:spPr>
          <a:xfrm>
            <a:off x="815975" y="1943708"/>
            <a:ext cx="2292350" cy="1769574"/>
          </a:xfrm>
          <a:prstGeom prst="roundRect">
            <a:avLst>
              <a:gd name="adj" fmla="val 5562"/>
            </a:avLst>
          </a:prstGeom>
          <a:solidFill>
            <a:srgbClr val="FFFFFF"/>
          </a:solidFill>
          <a:ln w="6350">
            <a:solidFill>
              <a:srgbClr val="EADBC4"/>
            </a:solidFill>
            <a:prstDash val="solid"/>
          </a:ln>
        </p:spPr>
      </p:sp>
      <p:sp>
        <p:nvSpPr>
          <p:cNvPr id="5" name="Text 3"/>
          <p:cNvSpPr/>
          <p:nvPr/>
        </p:nvSpPr>
        <p:spPr>
          <a:xfrm>
            <a:off x="995810" y="2123542"/>
            <a:ext cx="19906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3E00"/>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995810" y="2542642"/>
            <a:ext cx="1990660"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810"/>
                </a:solidFill>
                <a:latin typeface="Arial" pitchFamily="34" charset="0"/>
                <a:ea typeface="Arial" pitchFamily="34" charset="-122"/>
                <a:cs typeface="Arial" pitchFamily="34" charset="-120"/>
              </a:rPr>
              <a:t>Transmisión</a:t>
            </a:r>
            <a:endParaRPr lang="en-US" sz="1600" dirty="0"/>
          </a:p>
        </p:txBody>
      </p:sp>
      <p:sp>
        <p:nvSpPr>
          <p:cNvPr id="7" name="Text 5"/>
          <p:cNvSpPr/>
          <p:nvPr/>
        </p:nvSpPr>
        <p:spPr>
          <a:xfrm>
            <a:off x="995810" y="2849972"/>
            <a:ext cx="1990660"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A1810"/>
                </a:solidFill>
                <a:latin typeface="Arial" pitchFamily="34" charset="0"/>
                <a:ea typeface="Arial" pitchFamily="34" charset="-122"/>
                <a:cs typeface="Arial" pitchFamily="34" charset="-120"/>
              </a:rPr>
              <a:t>El vidrio deja pasar casi toda la luz: transmitancia τ cercana a 0,9.</a:t>
            </a:r>
            <a:endParaRPr lang="en-US" sz="1300" dirty="0"/>
          </a:p>
        </p:txBody>
      </p:sp>
      <p:pic>
        <p:nvPicPr>
          <p:cNvPr id="8" name="Image 0" descr="Play">    </p:cNvPr>
          <p:cNvPicPr>
            <a:picLocks noChangeAspect="1"/>
          </p:cNvPicPr>
          <p:nvPr/>
        </p:nvPicPr>
        <p:blipFill>
          <a:blip r:embed="rId1"/>
          <a:srcRect l="0" r="0" t="0" b="0"/>
          <a:stretch/>
        </p:blipFill>
        <p:spPr>
          <a:xfrm>
            <a:off x="3213100" y="2701479"/>
            <a:ext cx="254000" cy="254000"/>
          </a:xfrm>
          <a:prstGeom prst="rect">
            <a:avLst/>
          </a:prstGeom>
        </p:spPr>
      </p:pic>
      <p:sp>
        <p:nvSpPr>
          <p:cNvPr id="9" name="Shape 6"/>
          <p:cNvSpPr/>
          <p:nvPr/>
        </p:nvSpPr>
        <p:spPr>
          <a:xfrm>
            <a:off x="3571875" y="1943708"/>
            <a:ext cx="2292350" cy="1769574"/>
          </a:xfrm>
          <a:prstGeom prst="roundRect">
            <a:avLst>
              <a:gd name="adj" fmla="val 5562"/>
            </a:avLst>
          </a:prstGeom>
          <a:solidFill>
            <a:srgbClr val="FFFFFF"/>
          </a:solidFill>
          <a:ln w="6350">
            <a:solidFill>
              <a:srgbClr val="EADBC4"/>
            </a:solidFill>
            <a:prstDash val="solid"/>
          </a:ln>
        </p:spPr>
      </p:sp>
      <p:sp>
        <p:nvSpPr>
          <p:cNvPr id="10" name="Text 7"/>
          <p:cNvSpPr/>
          <p:nvPr/>
        </p:nvSpPr>
        <p:spPr>
          <a:xfrm>
            <a:off x="3751710" y="2123542"/>
            <a:ext cx="19906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3E00"/>
                </a:solidFill>
                <a:latin typeface="Arial" pitchFamily="34" charset="0"/>
                <a:ea typeface="Arial" pitchFamily="34" charset="-122"/>
                <a:cs typeface="Arial" pitchFamily="34" charset="-120"/>
              </a:rPr>
              <a:t>2</a:t>
            </a:r>
            <a:endParaRPr lang="en-US" sz="2800" dirty="0"/>
          </a:p>
        </p:txBody>
      </p:sp>
      <p:sp>
        <p:nvSpPr>
          <p:cNvPr id="11" name="Text 8"/>
          <p:cNvSpPr/>
          <p:nvPr/>
        </p:nvSpPr>
        <p:spPr>
          <a:xfrm>
            <a:off x="3751710" y="2542642"/>
            <a:ext cx="1990660"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810"/>
                </a:solidFill>
                <a:latin typeface="Arial" pitchFamily="34" charset="0"/>
                <a:ea typeface="Arial" pitchFamily="34" charset="-122"/>
                <a:cs typeface="Arial" pitchFamily="34" charset="-120"/>
              </a:rPr>
              <a:t>Absorción</a:t>
            </a:r>
            <a:endParaRPr lang="en-US" sz="1600" dirty="0"/>
          </a:p>
        </p:txBody>
      </p:sp>
      <p:sp>
        <p:nvSpPr>
          <p:cNvPr id="12" name="Text 9"/>
          <p:cNvSpPr/>
          <p:nvPr/>
        </p:nvSpPr>
        <p:spPr>
          <a:xfrm>
            <a:off x="3751710" y="2849972"/>
            <a:ext cx="1990660"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A1810"/>
                </a:solidFill>
                <a:latin typeface="Arial" pitchFamily="34" charset="0"/>
                <a:ea typeface="Arial" pitchFamily="34" charset="-122"/>
                <a:cs typeface="Arial" pitchFamily="34" charset="-120"/>
              </a:rPr>
              <a:t>La placa oscura absorbe una fracción α cercana a 0,95 y se calienta.</a:t>
            </a:r>
            <a:endParaRPr lang="en-US" sz="1300" dirty="0"/>
          </a:p>
        </p:txBody>
      </p:sp>
      <p:pic>
        <p:nvPicPr>
          <p:cNvPr id="13" name="Image 1" descr="Play">    </p:cNvPr>
          <p:cNvPicPr>
            <a:picLocks noChangeAspect="1"/>
          </p:cNvPicPr>
          <p:nvPr/>
        </p:nvPicPr>
        <p:blipFill>
          <a:blip r:embed="rId2"/>
          <a:srcRect l="0" r="0" t="0" b="0"/>
          <a:stretch/>
        </p:blipFill>
        <p:spPr>
          <a:xfrm>
            <a:off x="5969000" y="2701479"/>
            <a:ext cx="254000" cy="254000"/>
          </a:xfrm>
          <a:prstGeom prst="rect">
            <a:avLst/>
          </a:prstGeom>
        </p:spPr>
      </p:pic>
      <p:sp>
        <p:nvSpPr>
          <p:cNvPr id="14" name="Shape 10"/>
          <p:cNvSpPr/>
          <p:nvPr/>
        </p:nvSpPr>
        <p:spPr>
          <a:xfrm>
            <a:off x="6327775" y="1943708"/>
            <a:ext cx="2292350" cy="1769574"/>
          </a:xfrm>
          <a:prstGeom prst="roundRect">
            <a:avLst>
              <a:gd name="adj" fmla="val 5562"/>
            </a:avLst>
          </a:prstGeom>
          <a:solidFill>
            <a:srgbClr val="FFFFFF"/>
          </a:solidFill>
          <a:ln w="6350">
            <a:solidFill>
              <a:srgbClr val="EADBC4"/>
            </a:solidFill>
            <a:prstDash val="solid"/>
          </a:ln>
        </p:spPr>
      </p:sp>
      <p:sp>
        <p:nvSpPr>
          <p:cNvPr id="15" name="Text 11"/>
          <p:cNvSpPr/>
          <p:nvPr/>
        </p:nvSpPr>
        <p:spPr>
          <a:xfrm>
            <a:off x="6507611" y="2123542"/>
            <a:ext cx="19906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3E00"/>
                </a:solidFill>
                <a:latin typeface="Arial" pitchFamily="34" charset="0"/>
                <a:ea typeface="Arial" pitchFamily="34" charset="-122"/>
                <a:cs typeface="Arial" pitchFamily="34" charset="-120"/>
              </a:rPr>
              <a:t>3</a:t>
            </a:r>
            <a:endParaRPr lang="en-US" sz="2800" dirty="0"/>
          </a:p>
        </p:txBody>
      </p:sp>
      <p:sp>
        <p:nvSpPr>
          <p:cNvPr id="16" name="Text 12"/>
          <p:cNvSpPr/>
          <p:nvPr/>
        </p:nvSpPr>
        <p:spPr>
          <a:xfrm>
            <a:off x="6507611" y="2542642"/>
            <a:ext cx="1990660"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810"/>
                </a:solidFill>
                <a:latin typeface="Arial" pitchFamily="34" charset="0"/>
                <a:ea typeface="Arial" pitchFamily="34" charset="-122"/>
                <a:cs typeface="Arial" pitchFamily="34" charset="-120"/>
              </a:rPr>
              <a:t>Pérdidas</a:t>
            </a:r>
            <a:endParaRPr lang="en-US" sz="1600" dirty="0"/>
          </a:p>
        </p:txBody>
      </p:sp>
      <p:sp>
        <p:nvSpPr>
          <p:cNvPr id="17" name="Text 13"/>
          <p:cNvSpPr/>
          <p:nvPr/>
        </p:nvSpPr>
        <p:spPr>
          <a:xfrm>
            <a:off x="6507611" y="2849972"/>
            <a:ext cx="1990660"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A1810"/>
                </a:solidFill>
                <a:latin typeface="Arial" pitchFamily="34" charset="0"/>
                <a:ea typeface="Arial" pitchFamily="34" charset="-122"/>
                <a:cs typeface="Arial" pitchFamily="34" charset="-120"/>
              </a:rPr>
              <a:t>Parte del calor se va por conducción, convección y radiación.</a:t>
            </a:r>
            <a:endParaRPr lang="en-US" sz="1300" dirty="0"/>
          </a:p>
        </p:txBody>
      </p:sp>
      <p:pic>
        <p:nvPicPr>
          <p:cNvPr id="18" name="Image 2" descr="Play">    </p:cNvPr>
          <p:cNvPicPr>
            <a:picLocks noChangeAspect="1"/>
          </p:cNvPicPr>
          <p:nvPr/>
        </p:nvPicPr>
        <p:blipFill>
          <a:blip r:embed="rId3"/>
          <a:srcRect l="0" r="0" t="0" b="0"/>
          <a:stretch/>
        </p:blipFill>
        <p:spPr>
          <a:xfrm>
            <a:off x="8724900" y="2701479"/>
            <a:ext cx="254000" cy="254000"/>
          </a:xfrm>
          <a:prstGeom prst="rect">
            <a:avLst/>
          </a:prstGeom>
        </p:spPr>
      </p:pic>
      <p:sp>
        <p:nvSpPr>
          <p:cNvPr id="19" name="Shape 14"/>
          <p:cNvSpPr/>
          <p:nvPr/>
        </p:nvSpPr>
        <p:spPr>
          <a:xfrm>
            <a:off x="9083675" y="2057611"/>
            <a:ext cx="2292350" cy="1541747"/>
          </a:xfrm>
          <a:prstGeom prst="roundRect">
            <a:avLst>
              <a:gd name="adj" fmla="val 6384"/>
            </a:avLst>
          </a:prstGeom>
          <a:solidFill>
            <a:srgbClr val="FFFFFF"/>
          </a:solidFill>
          <a:ln w="6350">
            <a:solidFill>
              <a:srgbClr val="EADBC4"/>
            </a:solidFill>
            <a:prstDash val="solid"/>
          </a:ln>
        </p:spPr>
      </p:sp>
      <p:sp>
        <p:nvSpPr>
          <p:cNvPr id="20" name="Text 15"/>
          <p:cNvSpPr/>
          <p:nvPr/>
        </p:nvSpPr>
        <p:spPr>
          <a:xfrm>
            <a:off x="9263511" y="2237445"/>
            <a:ext cx="19906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3E00"/>
                </a:solidFill>
                <a:latin typeface="Arial" pitchFamily="34" charset="0"/>
                <a:ea typeface="Arial" pitchFamily="34" charset="-122"/>
                <a:cs typeface="Arial" pitchFamily="34" charset="-120"/>
              </a:rPr>
              <a:t>4</a:t>
            </a:r>
            <a:endParaRPr lang="en-US" sz="2800" dirty="0"/>
          </a:p>
        </p:txBody>
      </p:sp>
      <p:sp>
        <p:nvSpPr>
          <p:cNvPr id="21" name="Text 16"/>
          <p:cNvSpPr/>
          <p:nvPr/>
        </p:nvSpPr>
        <p:spPr>
          <a:xfrm>
            <a:off x="9263511" y="2656545"/>
            <a:ext cx="1990660"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810"/>
                </a:solidFill>
                <a:latin typeface="Arial" pitchFamily="34" charset="0"/>
                <a:ea typeface="Arial" pitchFamily="34" charset="-122"/>
                <a:cs typeface="Arial" pitchFamily="34" charset="-120"/>
              </a:rPr>
              <a:t>Calor útil</a:t>
            </a:r>
            <a:endParaRPr lang="en-US" sz="1600" dirty="0"/>
          </a:p>
        </p:txBody>
      </p:sp>
      <p:sp>
        <p:nvSpPr>
          <p:cNvPr id="22" name="Text 17"/>
          <p:cNvSpPr/>
          <p:nvPr/>
        </p:nvSpPr>
        <p:spPr>
          <a:xfrm>
            <a:off x="9263511" y="2963863"/>
            <a:ext cx="1990660"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A1810"/>
                </a:solidFill>
                <a:latin typeface="Arial" pitchFamily="34" charset="0"/>
                <a:ea typeface="Arial" pitchFamily="34" charset="-122"/>
                <a:cs typeface="Arial" pitchFamily="34" charset="-120"/>
              </a:rPr>
              <a:t>El resto pasa al fluido que circula por los tubos.</a:t>
            </a:r>
            <a:endParaRPr lang="en-US" sz="1300" dirty="0"/>
          </a:p>
        </p:txBody>
      </p:sp>
      <p:sp>
        <p:nvSpPr>
          <p:cNvPr id="23" name="Text 18"/>
          <p:cNvSpPr/>
          <p:nvPr/>
        </p:nvSpPr>
        <p:spPr>
          <a:xfrm>
            <a:off x="812800" y="3932362"/>
            <a:ext cx="4076700" cy="502912"/>
          </a:xfrm>
          <a:prstGeom prst="rect">
            <a:avLst/>
          </a:prstGeom>
          <a:solidFill>
            <a:srgbClr val="FFB347"/>
          </a:solidFill>
          <a:ln/>
        </p:spPr>
        <p:txBody>
          <a:bodyPr wrap="square" lIns="69660" tIns="127000" rIns="69660" bIns="101600" rtlCol="0" anchor="t">
            <a:normAutofit/>
          </a:bodyPr>
          <a:lstStyle/>
          <a:p>
            <a:pPr algn="ctr" indent="0" marL="0">
              <a:lnSpc>
                <a:spcPts val="1960"/>
              </a:lnSpc>
              <a:buNone/>
            </a:pPr>
            <a:r>
              <a:rPr lang="en-US" sz="1400" b="1" dirty="0">
                <a:solidFill>
                  <a:srgbClr val="2A1810"/>
                </a:solidFill>
                <a:latin typeface="Arial" pitchFamily="34" charset="0"/>
                <a:ea typeface="Arial" pitchFamily="34" charset="-122"/>
                <a:cs typeface="Arial" pitchFamily="34" charset="-120"/>
              </a:rPr>
              <a:t>Luz solar: onda corta, 0,5 μm</a:t>
            </a:r>
            <a:endParaRPr lang="en-US" sz="1400" dirty="0"/>
          </a:p>
        </p:txBody>
      </p:sp>
      <p:sp>
        <p:nvSpPr>
          <p:cNvPr id="24" name="Text 19"/>
          <p:cNvSpPr/>
          <p:nvPr/>
        </p:nvSpPr>
        <p:spPr>
          <a:xfrm>
            <a:off x="4889500" y="3932362"/>
            <a:ext cx="2413000" cy="502912"/>
          </a:xfrm>
          <a:prstGeom prst="rect">
            <a:avLst/>
          </a:prstGeom>
          <a:solidFill>
            <a:srgbClr val="2A1810"/>
          </a:solidFill>
          <a:ln/>
        </p:spPr>
        <p:txBody>
          <a:bodyPr wrap="square" lIns="94615" tIns="127000" rIns="94615" bIns="101600" rtlCol="0" anchor="t">
            <a:normAutofit/>
          </a:bodyPr>
          <a:lstStyle/>
          <a:p>
            <a:pPr algn="ctr" indent="0" marL="0">
              <a:lnSpc>
                <a:spcPts val="1960"/>
              </a:lnSpc>
              <a:buNone/>
            </a:pPr>
            <a:r>
              <a:rPr lang="en-US" sz="1400" b="1" dirty="0">
                <a:solidFill>
                  <a:srgbClr val="FBF4E8"/>
                </a:solidFill>
                <a:latin typeface="Arial" pitchFamily="34" charset="0"/>
                <a:ea typeface="Arial" pitchFamily="34" charset="-122"/>
                <a:cs typeface="Arial" pitchFamily="34" charset="-120"/>
              </a:rPr>
              <a:t>Vidrio: efecto invernadero</a:t>
            </a:r>
            <a:endParaRPr lang="en-US" sz="1400" dirty="0"/>
          </a:p>
        </p:txBody>
      </p:sp>
      <p:sp>
        <p:nvSpPr>
          <p:cNvPr id="25" name="Text 20"/>
          <p:cNvSpPr/>
          <p:nvPr/>
        </p:nvSpPr>
        <p:spPr>
          <a:xfrm>
            <a:off x="7302500" y="3932362"/>
            <a:ext cx="4076700" cy="502912"/>
          </a:xfrm>
          <a:prstGeom prst="rect">
            <a:avLst/>
          </a:prstGeom>
          <a:solidFill>
            <a:srgbClr val="B43E00"/>
          </a:solidFill>
          <a:ln/>
        </p:spPr>
        <p:txBody>
          <a:bodyPr wrap="square" lIns="69660" tIns="127000" rIns="69660" bIns="101600" rtlCol="0" anchor="t">
            <a:normAutofit/>
          </a:bodyPr>
          <a:lstStyle/>
          <a:p>
            <a:pPr algn="ctr" indent="0" marL="0">
              <a:lnSpc>
                <a:spcPts val="1960"/>
              </a:lnSpc>
              <a:buNone/>
            </a:pPr>
            <a:r>
              <a:rPr lang="en-US" sz="1400" b="1" dirty="0">
                <a:solidFill>
                  <a:srgbClr val="FBF4E8"/>
                </a:solidFill>
                <a:latin typeface="Arial" pitchFamily="34" charset="0"/>
                <a:ea typeface="Arial" pitchFamily="34" charset="-122"/>
                <a:cs typeface="Arial" pitchFamily="34" charset="-120"/>
              </a:rPr>
              <a:t>Calor de la placa: onda larga, 8 μm</a:t>
            </a:r>
            <a:endParaRPr lang="en-US" sz="1400" dirty="0"/>
          </a:p>
        </p:txBody>
      </p:sp>
      <p:sp>
        <p:nvSpPr>
          <p:cNvPr id="26" name="Text 21"/>
          <p:cNvSpPr/>
          <p:nvPr/>
        </p:nvSpPr>
        <p:spPr>
          <a:xfrm>
            <a:off x="812800" y="4651177"/>
            <a:ext cx="10883392"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2A1810"/>
                </a:solidFill>
                <a:latin typeface="Arial" pitchFamily="34" charset="0"/>
                <a:ea typeface="Arial" pitchFamily="34" charset="-122"/>
                <a:cs typeface="Arial" pitchFamily="34" charset="-120"/>
              </a:rPr>
              <a:t>El vidrio es transparente a la luz solar pero casi opaco al infrarrojo largo que emite la placa caliente (Duffie et al., 2020).</a:t>
            </a:r>
            <a:endParaRPr lang="en-US" sz="1500" dirty="0"/>
          </a:p>
        </p:txBody>
      </p:sp>
      <p:sp>
        <p:nvSpPr>
          <p:cNvPr id="27" name="Text 22"/>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Esquema propio.</a:t>
            </a:r>
            <a:endParaRPr lang="en-US" sz="1200" dirty="0"/>
          </a:p>
        </p:txBody>
      </p:sp>
      <p:sp>
        <p:nvSpPr>
          <p:cNvPr id="28" name="Text 23"/>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25</a:t>
            </a:r>
            <a:endParaRPr lang="en-US" sz="12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2 · BALANCE DE ENERGÍA</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A dónde va la energía que llega al colector</a:t>
            </a:r>
            <a:endParaRPr lang="en-US" sz="3200" dirty="0"/>
          </a:p>
        </p:txBody>
      </p:sp>
      <p:pic>
        <p:nvPicPr>
          <p:cNvPr id="4" name="Image 0" descr="Balance de energía de un colector: de la radiación incidente se pierde un 15 % óptico y un 16 % térmico, y queda 69 % de calor útil">    </p:cNvPr>
          <p:cNvPicPr>
            <a:picLocks noChangeAspect="1"/>
          </p:cNvPicPr>
          <p:nvPr/>
        </p:nvPicPr>
        <p:blipFill>
          <a:blip r:embed="rId1"/>
          <a:srcRect l="0" r="0" t="0" b="0"/>
          <a:stretch/>
        </p:blipFill>
        <p:spPr>
          <a:xfrm>
            <a:off x="812800" y="1915133"/>
            <a:ext cx="6350000" cy="2921000"/>
          </a:xfrm>
          <a:prstGeom prst="rect">
            <a:avLst/>
          </a:prstGeom>
        </p:spPr>
      </p:pic>
      <p:sp>
        <p:nvSpPr>
          <p:cNvPr id="5" name="Text 2"/>
          <p:cNvSpPr/>
          <p:nvPr/>
        </p:nvSpPr>
        <p:spPr>
          <a:xfrm>
            <a:off x="1041400" y="3413733"/>
            <a:ext cx="1638300" cy="421624"/>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Radiación</a:t>
            </a:r>
            <a:endParaRPr lang="en-US" sz="1300" dirty="0"/>
          </a:p>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G·A = 100 %</a:t>
            </a:r>
            <a:endParaRPr lang="en-US" sz="1300" dirty="0"/>
          </a:p>
        </p:txBody>
      </p:sp>
      <p:sp>
        <p:nvSpPr>
          <p:cNvPr id="6" name="Text 3"/>
          <p:cNvSpPr/>
          <p:nvPr/>
        </p:nvSpPr>
        <p:spPr>
          <a:xfrm>
            <a:off x="3924300" y="1915133"/>
            <a:ext cx="1701800" cy="360647"/>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E8CDB0"/>
                </a:solidFill>
                <a:latin typeface="Arial" pitchFamily="34" charset="0"/>
                <a:ea typeface="Arial" pitchFamily="34" charset="-122"/>
                <a:cs typeface="Arial" pitchFamily="34" charset="-120"/>
              </a:rPr>
              <a:t>No transmitida o reflejada ≈ 15 %</a:t>
            </a:r>
            <a:endParaRPr lang="en-US" sz="1100" dirty="0"/>
          </a:p>
        </p:txBody>
      </p:sp>
      <p:sp>
        <p:nvSpPr>
          <p:cNvPr id="7" name="Text 4"/>
          <p:cNvSpPr/>
          <p:nvPr/>
        </p:nvSpPr>
        <p:spPr>
          <a:xfrm>
            <a:off x="5588000" y="2550133"/>
            <a:ext cx="1574800" cy="360647"/>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FFB347"/>
                </a:solidFill>
                <a:latin typeface="Arial" pitchFamily="34" charset="0"/>
                <a:ea typeface="Arial" pitchFamily="34" charset="-122"/>
                <a:cs typeface="Arial" pitchFamily="34" charset="-120"/>
              </a:rPr>
              <a:t>Pérdidas térmicas ≈ 16 %</a:t>
            </a:r>
            <a:endParaRPr lang="en-US" sz="1100" dirty="0"/>
          </a:p>
        </p:txBody>
      </p:sp>
      <p:sp>
        <p:nvSpPr>
          <p:cNvPr id="8" name="Text 5"/>
          <p:cNvSpPr/>
          <p:nvPr/>
        </p:nvSpPr>
        <p:spPr>
          <a:xfrm>
            <a:off x="4622800" y="3731233"/>
            <a:ext cx="189674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810"/>
                </a:solidFill>
                <a:latin typeface="Arial" pitchFamily="34" charset="0"/>
                <a:ea typeface="Arial" pitchFamily="34" charset="-122"/>
                <a:cs typeface="Arial" pitchFamily="34" charset="-120"/>
              </a:rPr>
              <a:t>Calor útil Qu ≈ 69 %</a:t>
            </a:r>
            <a:endParaRPr lang="en-US" sz="1400" dirty="0"/>
          </a:p>
        </p:txBody>
      </p:sp>
      <p:sp>
        <p:nvSpPr>
          <p:cNvPr id="9" name="Text 6"/>
          <p:cNvSpPr/>
          <p:nvPr/>
        </p:nvSpPr>
        <p:spPr>
          <a:xfrm>
            <a:off x="7467600" y="1915133"/>
            <a:ext cx="4028948"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FBF4E8"/>
                </a:solidFill>
                <a:latin typeface="Arial" pitchFamily="34" charset="0"/>
                <a:ea typeface="Arial" pitchFamily="34" charset="-122"/>
                <a:cs typeface="Arial" pitchFamily="34" charset="-120"/>
              </a:rPr>
              <a:t>Energía absorbida: S = G · (τα)</a:t>
            </a:r>
            <a:endParaRPr lang="en-US" sz="1500" dirty="0"/>
          </a:p>
        </p:txBody>
      </p:sp>
      <p:sp>
        <p:nvSpPr>
          <p:cNvPr id="10" name="Text 7"/>
          <p:cNvSpPr/>
          <p:nvPr/>
        </p:nvSpPr>
        <p:spPr>
          <a:xfrm>
            <a:off x="7467600" y="2292313"/>
            <a:ext cx="4028948"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FBF4E8"/>
                </a:solidFill>
                <a:latin typeface="Arial" pitchFamily="34" charset="0"/>
                <a:ea typeface="Arial" pitchFamily="34" charset="-122"/>
                <a:cs typeface="Arial" pitchFamily="34" charset="-120"/>
              </a:rPr>
              <a:t>Calor útil: Qu = A · [S − UL · (Tp − Ta)]</a:t>
            </a:r>
            <a:endParaRPr lang="en-US" sz="1500" dirty="0"/>
          </a:p>
        </p:txBody>
      </p:sp>
      <p:sp>
        <p:nvSpPr>
          <p:cNvPr id="11" name="Text 8"/>
          <p:cNvSpPr/>
          <p:nvPr/>
        </p:nvSpPr>
        <p:spPr>
          <a:xfrm>
            <a:off x="7467600" y="2669480"/>
            <a:ext cx="402894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Con la temperatura de entrada Ti y el factor de remoción FR:</a:t>
            </a:r>
            <a:endParaRPr lang="en-US" sz="1400" dirty="0"/>
          </a:p>
        </p:txBody>
      </p:sp>
      <p:sp>
        <p:nvSpPr>
          <p:cNvPr id="12" name="Text 9"/>
          <p:cNvSpPr/>
          <p:nvPr/>
        </p:nvSpPr>
        <p:spPr>
          <a:xfrm>
            <a:off x="7467600" y="3274442"/>
            <a:ext cx="3911600" cy="520700"/>
          </a:xfrm>
          <a:prstGeom prst="roundRect">
            <a:avLst>
              <a:gd name="adj" fmla="val 14634"/>
            </a:avLst>
          </a:prstGeom>
          <a:solidFill>
            <a:srgbClr val="44261A"/>
          </a:solidFill>
          <a:ln/>
        </p:spPr>
        <p:txBody>
          <a:bodyPr wrap="square" lIns="104682" tIns="104682" rIns="0" bIns="79282"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Qu = A · FR · [G(τα) − UL(Ti − Ta)]</a:t>
            </a:r>
            <a:endParaRPr lang="en-US" sz="1500" dirty="0"/>
          </a:p>
        </p:txBody>
      </p:sp>
      <p:sp>
        <p:nvSpPr>
          <p:cNvPr id="13" name="Text 10"/>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ecuación de Hottel-Whillier-Bliss. Porcentajes ilustrativos.</a:t>
            </a:r>
            <a:endParaRPr lang="en-US" sz="1200" dirty="0"/>
          </a:p>
        </p:txBody>
      </p:sp>
      <p:sp>
        <p:nvSpPr>
          <p:cNvPr id="14" name="Text 11"/>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27</a:t>
            </a:r>
            <a:endParaRPr lang="en-US" sz="12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2 · CURVA DE EFICIENCIA</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La recta que caracteriza a cada colector</a:t>
            </a:r>
            <a:endParaRPr lang="en-US" sz="3200" dirty="0"/>
          </a:p>
        </p:txBody>
      </p:sp>
      <p:sp>
        <p:nvSpPr>
          <p:cNvPr id="4" name="Shape 2"/>
          <p:cNvSpPr/>
          <p:nvPr/>
        </p:nvSpPr>
        <p:spPr>
          <a:xfrm>
            <a:off x="815975" y="1918308"/>
            <a:ext cx="4819650" cy="3422650"/>
          </a:xfrm>
          <a:prstGeom prst="roundRect">
            <a:avLst>
              <a:gd name="adj" fmla="val 2876"/>
            </a:avLst>
          </a:prstGeom>
          <a:solidFill>
            <a:srgbClr val="FFFFFF"/>
          </a:solidFill>
          <a:ln w="6350">
            <a:solidFill>
              <a:srgbClr val="EADBC4"/>
            </a:solidFill>
            <a:prstDash val="solid"/>
          </a:ln>
        </p:spPr>
      </p:sp>
      <p:pic>
        <p:nvPicPr>
          <p:cNvPr id="5" name="Image 0" descr="Curvas de eficiencia de un colector plano y uno de tubos evacuados en función de ΔT sobre G">    </p:cNvPr>
          <p:cNvPicPr>
            <a:picLocks noChangeAspect="1"/>
          </p:cNvPicPr>
          <p:nvPr/>
        </p:nvPicPr>
        <p:blipFill>
          <a:blip r:embed="rId1"/>
          <a:srcRect l="0" r="0" t="0" b="0"/>
          <a:stretch/>
        </p:blipFill>
        <p:spPr>
          <a:xfrm>
            <a:off x="812800" y="1915133"/>
            <a:ext cx="4826000" cy="3429000"/>
          </a:xfrm>
          <a:prstGeom prst="rect">
            <a:avLst/>
          </a:prstGeom>
        </p:spPr>
      </p:pic>
      <p:sp>
        <p:nvSpPr>
          <p:cNvPr id="6" name="Text 3"/>
          <p:cNvSpPr/>
          <p:nvPr/>
        </p:nvSpPr>
        <p:spPr>
          <a:xfrm>
            <a:off x="1422400" y="2194533"/>
            <a:ext cx="132080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η</a:t>
            </a:r>
            <a:endParaRPr lang="en-US" sz="1300" dirty="0"/>
          </a:p>
        </p:txBody>
      </p:sp>
      <p:sp>
        <p:nvSpPr>
          <p:cNvPr id="7" name="Text 4"/>
          <p:cNvSpPr/>
          <p:nvPr/>
        </p:nvSpPr>
        <p:spPr>
          <a:xfrm>
            <a:off x="4114800" y="3502633"/>
            <a:ext cx="132080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3E00"/>
                </a:solidFill>
                <a:latin typeface="Arial" pitchFamily="34" charset="0"/>
                <a:ea typeface="Arial" pitchFamily="34" charset="-122"/>
                <a:cs typeface="Arial" pitchFamily="34" charset="-120"/>
              </a:rPr>
              <a:t>Plano</a:t>
            </a:r>
            <a:endParaRPr lang="en-US" sz="1300" dirty="0"/>
          </a:p>
        </p:txBody>
      </p:sp>
      <p:sp>
        <p:nvSpPr>
          <p:cNvPr id="8" name="Text 5"/>
          <p:cNvSpPr/>
          <p:nvPr/>
        </p:nvSpPr>
        <p:spPr>
          <a:xfrm>
            <a:off x="3543300" y="2702533"/>
            <a:ext cx="1896745"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D7A8C"/>
                </a:solidFill>
                <a:latin typeface="Arial" pitchFamily="34" charset="0"/>
                <a:ea typeface="Arial" pitchFamily="34" charset="-122"/>
                <a:cs typeface="Arial" pitchFamily="34" charset="-120"/>
              </a:rPr>
              <a:t>Tubos evacuados</a:t>
            </a:r>
            <a:endParaRPr lang="en-US" sz="1300" dirty="0"/>
          </a:p>
        </p:txBody>
      </p:sp>
      <p:sp>
        <p:nvSpPr>
          <p:cNvPr id="9" name="Text 6"/>
          <p:cNvSpPr/>
          <p:nvPr/>
        </p:nvSpPr>
        <p:spPr>
          <a:xfrm>
            <a:off x="2273300" y="2372333"/>
            <a:ext cx="1962150" cy="223512"/>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1810"/>
                </a:solidFill>
                <a:latin typeface="Arial" pitchFamily="34" charset="0"/>
                <a:ea typeface="Arial" pitchFamily="34" charset="-122"/>
                <a:cs typeface="Arial" pitchFamily="34" charset="-120"/>
              </a:rPr>
              <a:t>Cruce en 0,033</a:t>
            </a:r>
            <a:endParaRPr lang="en-US" sz="1300" dirty="0"/>
          </a:p>
        </p:txBody>
      </p:sp>
      <p:sp>
        <p:nvSpPr>
          <p:cNvPr id="10" name="Text 7"/>
          <p:cNvSpPr/>
          <p:nvPr/>
        </p:nvSpPr>
        <p:spPr>
          <a:xfrm>
            <a:off x="2717800" y="5013933"/>
            <a:ext cx="2158365" cy="20824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A1810"/>
                </a:solidFill>
                <a:latin typeface="Arial" pitchFamily="34" charset="0"/>
                <a:ea typeface="Arial" pitchFamily="34" charset="-122"/>
                <a:cs typeface="Arial" pitchFamily="34" charset="-120"/>
              </a:rPr>
              <a:t>ΔT / G (m²·K/W)</a:t>
            </a:r>
            <a:endParaRPr lang="en-US" sz="1200" dirty="0"/>
          </a:p>
        </p:txBody>
      </p:sp>
      <p:sp>
        <p:nvSpPr>
          <p:cNvPr id="11" name="Text 8"/>
          <p:cNvSpPr/>
          <p:nvPr/>
        </p:nvSpPr>
        <p:spPr>
          <a:xfrm>
            <a:off x="5943600" y="1915133"/>
            <a:ext cx="5435600" cy="561975"/>
          </a:xfrm>
          <a:prstGeom prst="roundRect">
            <a:avLst>
              <a:gd name="adj" fmla="val 13559"/>
            </a:avLst>
          </a:prstGeom>
          <a:solidFill>
            <a:srgbClr val="2A1810"/>
          </a:solidFill>
          <a:ln/>
        </p:spPr>
        <p:txBody>
          <a:bodyPr wrap="square" lIns="130082" tIns="130082" rIns="0" bIns="104682" rtlCol="0" anchor="t">
            <a:normAutofit/>
          </a:bodyPr>
          <a:lstStyle/>
          <a:p>
            <a:pPr algn="l" indent="0" marL="0">
              <a:lnSpc>
                <a:spcPts val="2025"/>
              </a:lnSpc>
              <a:buNone/>
            </a:pPr>
            <a:r>
              <a:rPr lang="en-US" sz="1500" dirty="0">
                <a:solidFill>
                  <a:srgbClr val="FBF4E8"/>
                </a:solidFill>
                <a:latin typeface="Arial" pitchFamily="34" charset="0"/>
                <a:ea typeface="Arial" pitchFamily="34" charset="-122"/>
                <a:cs typeface="Arial" pitchFamily="34" charset="-120"/>
              </a:rPr>
              <a:t>η = F</a:t>
            </a:r>
            <a:r>
              <a:rPr lang="en-US" sz="1500" dirty="0">
                <a:solidFill>
                  <a:srgbClr val="FFB347"/>
                </a:solidFill>
                <a:latin typeface="Arial" pitchFamily="34" charset="0"/>
                <a:ea typeface="Arial" pitchFamily="34" charset="-122"/>
                <a:cs typeface="Arial" pitchFamily="34" charset="-120"/>
              </a:rPr>
              <a:t>R</a:t>
            </a:r>
            <a:r>
              <a:rPr lang="en-US" sz="1500" dirty="0">
                <a:solidFill>
                  <a:srgbClr val="FBF4E8"/>
                </a:solidFill>
                <a:latin typeface="Arial" pitchFamily="34" charset="0"/>
                <a:ea typeface="Arial" pitchFamily="34" charset="-122"/>
                <a:cs typeface="Arial" pitchFamily="34" charset="-120"/>
              </a:rPr>
              <a:t>(τα) − F</a:t>
            </a:r>
            <a:r>
              <a:rPr lang="en-US" sz="1500" dirty="0">
                <a:solidFill>
                  <a:srgbClr val="FFB347"/>
                </a:solidFill>
                <a:latin typeface="Arial" pitchFamily="34" charset="0"/>
                <a:ea typeface="Arial" pitchFamily="34" charset="-122"/>
                <a:cs typeface="Arial" pitchFamily="34" charset="-120"/>
              </a:rPr>
              <a:t>R</a:t>
            </a:r>
            <a:r>
              <a:rPr lang="en-US" sz="1500" dirty="0">
                <a:solidFill>
                  <a:srgbClr val="FBF4E8"/>
                </a:solidFill>
                <a:latin typeface="Arial" pitchFamily="34" charset="0"/>
                <a:ea typeface="Arial" pitchFamily="34" charset="-122"/>
                <a:cs typeface="Arial" pitchFamily="34" charset="-120"/>
              </a:rPr>
              <a:t>·U</a:t>
            </a:r>
            <a:r>
              <a:rPr lang="en-US" sz="1500" dirty="0">
                <a:solidFill>
                  <a:srgbClr val="FFB347"/>
                </a:solidFill>
                <a:latin typeface="Arial" pitchFamily="34" charset="0"/>
                <a:ea typeface="Arial" pitchFamily="34" charset="-122"/>
                <a:cs typeface="Arial" pitchFamily="34" charset="-120"/>
              </a:rPr>
              <a:t>L</a:t>
            </a:r>
            <a:r>
              <a:rPr lang="en-US" sz="1500" dirty="0">
                <a:solidFill>
                  <a:srgbClr val="FBF4E8"/>
                </a:solidFill>
                <a:latin typeface="Arial" pitchFamily="34" charset="0"/>
                <a:ea typeface="Arial" pitchFamily="34" charset="-122"/>
                <a:cs typeface="Arial" pitchFamily="34" charset="-120"/>
              </a:rPr>
              <a:t> · (Ti − Ta) / G</a:t>
            </a:r>
            <a:endParaRPr lang="en-US" sz="1500" dirty="0"/>
          </a:p>
        </p:txBody>
      </p:sp>
      <p:sp>
        <p:nvSpPr>
          <p:cNvPr id="12" name="Text 9"/>
          <p:cNvSpPr/>
          <p:nvPr/>
        </p:nvSpPr>
        <p:spPr>
          <a:xfrm>
            <a:off x="5943600" y="2604108"/>
            <a:ext cx="559866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2A1810"/>
                </a:solidFill>
                <a:latin typeface="Arial" pitchFamily="34" charset="0"/>
                <a:ea typeface="Arial" pitchFamily="34" charset="-122"/>
                <a:cs typeface="Arial" pitchFamily="34" charset="-120"/>
              </a:rPr>
              <a:t>Ordenada:</a:t>
            </a:r>
            <a:r>
              <a:rPr lang="en-US" sz="1400" dirty="0">
                <a:solidFill>
                  <a:srgbClr val="2A1810"/>
                </a:solidFill>
                <a:latin typeface="Arial" pitchFamily="34" charset="0"/>
                <a:ea typeface="Arial" pitchFamily="34" charset="-122"/>
                <a:cs typeface="Arial" pitchFamily="34" charset="-120"/>
              </a:rPr>
              <a:t> FR(τα), la eficiencia óptica. </a:t>
            </a:r>
            <a:r>
              <a:rPr lang="en-US" sz="1400" b="1" dirty="0">
                <a:solidFill>
                  <a:srgbClr val="2A1810"/>
                </a:solidFill>
                <a:latin typeface="Arial" pitchFamily="34" charset="0"/>
                <a:ea typeface="Arial" pitchFamily="34" charset="-122"/>
                <a:cs typeface="Arial" pitchFamily="34" charset="-120"/>
              </a:rPr>
              <a:t>Pendiente:</a:t>
            </a:r>
            <a:r>
              <a:rPr lang="en-US" sz="1400" dirty="0">
                <a:solidFill>
                  <a:srgbClr val="2A1810"/>
                </a:solidFill>
                <a:latin typeface="Arial" pitchFamily="34" charset="0"/>
                <a:ea typeface="Arial" pitchFamily="34" charset="-122"/>
                <a:cs typeface="Arial" pitchFamily="34" charset="-120"/>
              </a:rPr>
              <a:t> FR·UL, las pérdidas térmicas (Duffie et al., 2020).</a:t>
            </a:r>
            <a:endParaRPr lang="en-US" sz="1400" dirty="0"/>
          </a:p>
        </p:txBody>
      </p:sp>
      <p:sp>
        <p:nvSpPr>
          <p:cNvPr id="13" name="Text 10"/>
          <p:cNvSpPr/>
          <p:nvPr/>
        </p:nvSpPr>
        <p:spPr>
          <a:xfrm>
            <a:off x="5943600" y="3221769"/>
            <a:ext cx="5598668" cy="516060"/>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2A1810"/>
                </a:solidFill>
                <a:latin typeface="Arial" pitchFamily="34" charset="0"/>
                <a:ea typeface="Arial" pitchFamily="34" charset="-122"/>
                <a:cs typeface="Arial" pitchFamily="34" charset="-120"/>
              </a:rPr>
              <a:t>Plano:</a:t>
            </a:r>
            <a:r>
              <a:rPr lang="en-US" sz="1400" dirty="0">
                <a:solidFill>
                  <a:srgbClr val="2A1810"/>
                </a:solidFill>
                <a:latin typeface="Arial" pitchFamily="34" charset="0"/>
                <a:ea typeface="Arial" pitchFamily="34" charset="-122"/>
                <a:cs typeface="Arial" pitchFamily="34" charset="-120"/>
              </a:rPr>
              <a:t> 0,75 y 4,5 W/m²K. </a:t>
            </a:r>
            <a:r>
              <a:rPr lang="en-US" sz="1400" b="1" dirty="0">
                <a:solidFill>
                  <a:srgbClr val="2A1810"/>
                </a:solidFill>
                <a:latin typeface="Arial" pitchFamily="34" charset="0"/>
                <a:ea typeface="Arial" pitchFamily="34" charset="-122"/>
                <a:cs typeface="Arial" pitchFamily="34" charset="-120"/>
              </a:rPr>
              <a:t>Tubos:</a:t>
            </a:r>
            <a:r>
              <a:rPr lang="en-US" sz="1400" dirty="0">
                <a:solidFill>
                  <a:srgbClr val="2A1810"/>
                </a:solidFill>
                <a:latin typeface="Arial" pitchFamily="34" charset="0"/>
                <a:ea typeface="Arial" pitchFamily="34" charset="-122"/>
                <a:cs typeface="Arial" pitchFamily="34" charset="-120"/>
              </a:rPr>
              <a:t> 0,65 y 1,5 W/m²K. Valores típicos supuestos.</a:t>
            </a:r>
            <a:endParaRPr lang="en-US" sz="1400" dirty="0"/>
          </a:p>
        </p:txBody>
      </p:sp>
      <p:sp>
        <p:nvSpPr>
          <p:cNvPr id="14" name="Text 11"/>
          <p:cNvSpPr/>
          <p:nvPr/>
        </p:nvSpPr>
        <p:spPr>
          <a:xfrm>
            <a:off x="5943600" y="3839431"/>
            <a:ext cx="559866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Con poco ΔT gana el plano; con mucho ΔT gana el tubo (Duffie et al., 2020; Kalogirou, 2009).</a:t>
            </a:r>
            <a:endParaRPr lang="en-US" sz="1400" dirty="0"/>
          </a:p>
        </p:txBody>
      </p:sp>
      <p:sp>
        <p:nvSpPr>
          <p:cNvPr id="15" name="Text 12"/>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ISO (2025). Parámetros supuestos.</a:t>
            </a:r>
            <a:endParaRPr lang="en-US" sz="1200" dirty="0"/>
          </a:p>
        </p:txBody>
      </p:sp>
      <p:sp>
        <p:nvSpPr>
          <p:cNvPr id="16" name="Text 13"/>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28</a:t>
            </a:r>
            <a:endParaRPr lang="en-US" sz="12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2 · DOS ESPECTROS QUE CASI NO SE TOCAN</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Por qué funciona la superficie selectiva</a:t>
            </a:r>
            <a:endParaRPr lang="en-US" sz="3200" dirty="0"/>
          </a:p>
        </p:txBody>
      </p:sp>
      <p:sp>
        <p:nvSpPr>
          <p:cNvPr id="4" name="Shape 2"/>
          <p:cNvSpPr/>
          <p:nvPr/>
        </p:nvSpPr>
        <p:spPr>
          <a:xfrm>
            <a:off x="815975" y="1918308"/>
            <a:ext cx="6343650" cy="3232150"/>
          </a:xfrm>
          <a:prstGeom prst="roundRect">
            <a:avLst>
              <a:gd name="adj" fmla="val 3045"/>
            </a:avLst>
          </a:prstGeom>
          <a:solidFill>
            <a:srgbClr val="FFFFFF"/>
          </a:solidFill>
          <a:ln w="6350">
            <a:solidFill>
              <a:srgbClr val="EADBC4"/>
            </a:solidFill>
            <a:prstDash val="solid"/>
          </a:ln>
        </p:spPr>
      </p:sp>
      <p:pic>
        <p:nvPicPr>
          <p:cNvPr id="5" name="Image 0" descr="Espectros normalizados del sol a 5778 K y de una placa a 80 °C, separados alrededor de 2,5 micrómetros">    </p:cNvPr>
          <p:cNvPicPr>
            <a:picLocks noChangeAspect="1"/>
          </p:cNvPicPr>
          <p:nvPr/>
        </p:nvPicPr>
        <p:blipFill>
          <a:blip r:embed="rId1"/>
          <a:srcRect l="0" r="0" t="0" b="0"/>
          <a:stretch/>
        </p:blipFill>
        <p:spPr>
          <a:xfrm>
            <a:off x="812800" y="1915133"/>
            <a:ext cx="6350000" cy="3238500"/>
          </a:xfrm>
          <a:prstGeom prst="rect">
            <a:avLst/>
          </a:prstGeom>
        </p:spPr>
      </p:pic>
      <p:sp>
        <p:nvSpPr>
          <p:cNvPr id="6" name="Text 3"/>
          <p:cNvSpPr/>
          <p:nvPr/>
        </p:nvSpPr>
        <p:spPr>
          <a:xfrm>
            <a:off x="1320800" y="4709133"/>
            <a:ext cx="5588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2540000" y="4709133"/>
            <a:ext cx="5588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3651250" y="4709133"/>
            <a:ext cx="5588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3</a:t>
            </a:r>
            <a:endParaRPr lang="en-US" sz="1200" dirty="0"/>
          </a:p>
        </p:txBody>
      </p:sp>
      <p:sp>
        <p:nvSpPr>
          <p:cNvPr id="9" name="Text 6"/>
          <p:cNvSpPr/>
          <p:nvPr/>
        </p:nvSpPr>
        <p:spPr>
          <a:xfrm>
            <a:off x="4870450" y="4709133"/>
            <a:ext cx="5588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10</a:t>
            </a:r>
            <a:endParaRPr lang="en-US" sz="1200" dirty="0"/>
          </a:p>
        </p:txBody>
      </p:sp>
      <p:sp>
        <p:nvSpPr>
          <p:cNvPr id="10" name="Text 7"/>
          <p:cNvSpPr/>
          <p:nvPr/>
        </p:nvSpPr>
        <p:spPr>
          <a:xfrm>
            <a:off x="5981700" y="4709133"/>
            <a:ext cx="5588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30</a:t>
            </a:r>
            <a:endParaRPr lang="en-US" sz="1200" dirty="0"/>
          </a:p>
        </p:txBody>
      </p:sp>
      <p:sp>
        <p:nvSpPr>
          <p:cNvPr id="11" name="Text 8"/>
          <p:cNvSpPr/>
          <p:nvPr/>
        </p:nvSpPr>
        <p:spPr>
          <a:xfrm>
            <a:off x="2677795" y="4925033"/>
            <a:ext cx="2747010" cy="391095"/>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Longitud de onda (μm), escala logarítmica</a:t>
            </a:r>
            <a:endParaRPr lang="en-US" sz="1200" dirty="0"/>
          </a:p>
        </p:txBody>
      </p:sp>
      <p:sp>
        <p:nvSpPr>
          <p:cNvPr id="12" name="Text 9"/>
          <p:cNvSpPr/>
          <p:nvPr/>
        </p:nvSpPr>
        <p:spPr>
          <a:xfrm>
            <a:off x="1993900" y="2169133"/>
            <a:ext cx="1574800" cy="391095"/>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E08A1E"/>
                </a:solidFill>
                <a:latin typeface="Arial" pitchFamily="34" charset="0"/>
                <a:ea typeface="Arial" pitchFamily="34" charset="-122"/>
                <a:cs typeface="Arial" pitchFamily="34" charset="-120"/>
              </a:rPr>
              <a:t>Sol, 5778 K: máx. 0,5 μm</a:t>
            </a:r>
            <a:endParaRPr lang="en-US" sz="1200" dirty="0"/>
          </a:p>
        </p:txBody>
      </p:sp>
      <p:sp>
        <p:nvSpPr>
          <p:cNvPr id="13" name="Text 10"/>
          <p:cNvSpPr/>
          <p:nvPr/>
        </p:nvSpPr>
        <p:spPr>
          <a:xfrm>
            <a:off x="4667250" y="2169133"/>
            <a:ext cx="1701800" cy="391095"/>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Placa a 80 °C: máx. 8,2 μm</a:t>
            </a:r>
            <a:endParaRPr lang="en-US" sz="1200" dirty="0"/>
          </a:p>
        </p:txBody>
      </p:sp>
      <p:sp>
        <p:nvSpPr>
          <p:cNvPr id="14" name="Text 11"/>
          <p:cNvSpPr/>
          <p:nvPr/>
        </p:nvSpPr>
        <p:spPr>
          <a:xfrm>
            <a:off x="3810000" y="4010633"/>
            <a:ext cx="1003300" cy="193024"/>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2A1810"/>
                </a:solidFill>
                <a:latin typeface="Arial" pitchFamily="34" charset="0"/>
                <a:ea typeface="Arial" pitchFamily="34" charset="-122"/>
                <a:cs typeface="Arial" pitchFamily="34" charset="-120"/>
              </a:rPr>
              <a:t>Corte ≈ 2,5 μm</a:t>
            </a:r>
            <a:endParaRPr lang="en-US" sz="1100" dirty="0"/>
          </a:p>
        </p:txBody>
      </p:sp>
      <p:sp>
        <p:nvSpPr>
          <p:cNvPr id="15" name="Text 12"/>
          <p:cNvSpPr/>
          <p:nvPr/>
        </p:nvSpPr>
        <p:spPr>
          <a:xfrm>
            <a:off x="7467600" y="1915133"/>
            <a:ext cx="402894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La luz solar llega casi toda por debajo de 2,5 μm; la placa caliente emite por encima de 3 μm (Duffie et al., 2020).</a:t>
            </a:r>
            <a:endParaRPr lang="en-US" sz="1400" dirty="0"/>
          </a:p>
        </p:txBody>
      </p:sp>
      <p:sp>
        <p:nvSpPr>
          <p:cNvPr id="16" name="Text 13"/>
          <p:cNvSpPr/>
          <p:nvPr/>
        </p:nvSpPr>
        <p:spPr>
          <a:xfrm>
            <a:off x="7467600" y="2790825"/>
            <a:ext cx="402894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Una superficie selectiva absorbe mucho en onda corta (</a:t>
            </a:r>
            <a:r>
              <a:rPr lang="en-US" sz="1400" b="1" dirty="0">
                <a:solidFill>
                  <a:srgbClr val="2A1810"/>
                </a:solidFill>
                <a:latin typeface="Arial" pitchFamily="34" charset="0"/>
                <a:ea typeface="Arial" pitchFamily="34" charset="-122"/>
                <a:cs typeface="Arial" pitchFamily="34" charset="-120"/>
              </a:rPr>
              <a:t>α ≈ 0,95</a:t>
            </a:r>
            <a:r>
              <a:rPr lang="en-US" sz="1400" dirty="0">
                <a:solidFill>
                  <a:srgbClr val="2A1810"/>
                </a:solidFill>
                <a:latin typeface="Arial" pitchFamily="34" charset="0"/>
                <a:ea typeface="Arial" pitchFamily="34" charset="-122"/>
                <a:cs typeface="Arial" pitchFamily="34" charset="-120"/>
              </a:rPr>
              <a:t>) y emite poco en onda larga (</a:t>
            </a:r>
            <a:r>
              <a:rPr lang="en-US" sz="1400" b="1" dirty="0">
                <a:solidFill>
                  <a:srgbClr val="2A1810"/>
                </a:solidFill>
                <a:latin typeface="Arial" pitchFamily="34" charset="0"/>
                <a:ea typeface="Arial" pitchFamily="34" charset="-122"/>
                <a:cs typeface="Arial" pitchFamily="34" charset="-120"/>
              </a:rPr>
              <a:t>ε ≈ 0,05</a:t>
            </a:r>
            <a:r>
              <a:rPr lang="en-US" sz="1400" dirty="0">
                <a:solidFill>
                  <a:srgbClr val="2A1810"/>
                </a:solidFill>
                <a:latin typeface="Arial" pitchFamily="34" charset="0"/>
                <a:ea typeface="Arial" pitchFamily="34" charset="-122"/>
                <a:cs typeface="Arial" pitchFamily="34" charset="-120"/>
              </a:rPr>
              <a:t>) (Duffie et al., 2020; Kalogirou, 2009).</a:t>
            </a:r>
            <a:endParaRPr lang="en-US" sz="1400" dirty="0"/>
          </a:p>
        </p:txBody>
      </p:sp>
      <p:sp>
        <p:nvSpPr>
          <p:cNvPr id="17" name="Text 14"/>
          <p:cNvSpPr/>
          <p:nvPr/>
        </p:nvSpPr>
        <p:spPr>
          <a:xfrm>
            <a:off x="7467600" y="3666517"/>
            <a:ext cx="4028948"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6A5444"/>
                </a:solidFill>
                <a:latin typeface="Arial" pitchFamily="34" charset="0"/>
                <a:ea typeface="Arial" pitchFamily="34" charset="-122"/>
                <a:cs typeface="Arial" pitchFamily="34" charset="-120"/>
              </a:rPr>
              <a:t>Curvas de Planck normalizadas cada una a su máximo, calculadas con la ley de Wien: λmáx = 2898/T (Duffie et al., 2020).</a:t>
            </a:r>
            <a:endParaRPr lang="en-US" sz="1300" dirty="0"/>
          </a:p>
        </p:txBody>
      </p:sp>
      <p:sp>
        <p:nvSpPr>
          <p:cNvPr id="18" name="Text 15"/>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 Gráfica: cálculo propio con la ley de Planck.</a:t>
            </a:r>
            <a:endParaRPr lang="en-US" sz="1200" dirty="0"/>
          </a:p>
        </p:txBody>
      </p:sp>
      <p:sp>
        <p:nvSpPr>
          <p:cNvPr id="19" name="Text 16"/>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29</a:t>
            </a:r>
            <a:endParaRPr lang="en-US" sz="12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2 · RADIACIÓN Y SUPERFICIES SELECTIVAS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Los números detrás del efecto invernadero</a:t>
            </a:r>
            <a:endParaRPr lang="en-US" sz="3200" dirty="0"/>
          </a:p>
        </p:txBody>
      </p:sp>
      <p:sp>
        <p:nvSpPr>
          <p:cNvPr id="4" name="Shape 2"/>
          <p:cNvSpPr/>
          <p:nvPr/>
        </p:nvSpPr>
        <p:spPr>
          <a:xfrm>
            <a:off x="812800" y="1915133"/>
            <a:ext cx="5207000" cy="1538613"/>
          </a:xfrm>
          <a:prstGeom prst="roundRect">
            <a:avLst>
              <a:gd name="adj" fmla="val 6603"/>
            </a:avLst>
          </a:prstGeom>
          <a:solidFill>
            <a:srgbClr val="44261A"/>
          </a:solidFill>
          <a:ln/>
        </p:spPr>
      </p:sp>
      <p:sp>
        <p:nvSpPr>
          <p:cNvPr id="5" name="Text 3"/>
          <p:cNvSpPr/>
          <p:nvPr/>
        </p:nvSpPr>
        <p:spPr>
          <a:xfrm>
            <a:off x="1016000" y="2118333"/>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Ley de Wien</a:t>
            </a:r>
            <a:endParaRPr lang="en-US" sz="1600" dirty="0"/>
          </a:p>
        </p:txBody>
      </p:sp>
      <p:sp>
        <p:nvSpPr>
          <p:cNvPr id="6" name="Text 4"/>
          <p:cNvSpPr/>
          <p:nvPr/>
        </p:nvSpPr>
        <p:spPr>
          <a:xfrm>
            <a:off x="1016000" y="2438363"/>
            <a:ext cx="4944618"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λmáx = 2898 / T (μm, K) (Duffie et al., 2020).</a:t>
            </a:r>
            <a:endParaRPr lang="en-US" sz="1400" dirty="0"/>
          </a:p>
        </p:txBody>
      </p:sp>
      <p:sp>
        <p:nvSpPr>
          <p:cNvPr id="7" name="Text 5"/>
          <p:cNvSpPr/>
          <p:nvPr/>
        </p:nvSpPr>
        <p:spPr>
          <a:xfrm>
            <a:off x="1016000" y="2759894"/>
            <a:ext cx="4944618"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Sol (5778 K): 0,50 μm. Placa a 80 °C (353 K): 8,2 μm.</a:t>
            </a:r>
            <a:endParaRPr lang="en-US" sz="1400" dirty="0"/>
          </a:p>
        </p:txBody>
      </p:sp>
      <p:sp>
        <p:nvSpPr>
          <p:cNvPr id="8" name="Shape 6"/>
          <p:cNvSpPr/>
          <p:nvPr/>
        </p:nvSpPr>
        <p:spPr>
          <a:xfrm>
            <a:off x="6172200" y="1915133"/>
            <a:ext cx="5207000" cy="1538613"/>
          </a:xfrm>
          <a:prstGeom prst="roundRect">
            <a:avLst>
              <a:gd name="adj" fmla="val 6603"/>
            </a:avLst>
          </a:prstGeom>
          <a:solidFill>
            <a:srgbClr val="44261A"/>
          </a:solidFill>
          <a:ln/>
        </p:spPr>
      </p:sp>
      <p:sp>
        <p:nvSpPr>
          <p:cNvPr id="9" name="Text 7"/>
          <p:cNvSpPr/>
          <p:nvPr/>
        </p:nvSpPr>
        <p:spPr>
          <a:xfrm>
            <a:off x="6375400" y="2118333"/>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Stefan-Boltzmann</a:t>
            </a:r>
            <a:endParaRPr lang="en-US" sz="1600" dirty="0"/>
          </a:p>
        </p:txBody>
      </p:sp>
      <p:sp>
        <p:nvSpPr>
          <p:cNvPr id="10" name="Text 8"/>
          <p:cNvSpPr/>
          <p:nvPr/>
        </p:nvSpPr>
        <p:spPr>
          <a:xfrm>
            <a:off x="6375400" y="2438363"/>
            <a:ext cx="494461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q = ε · σ · (Tp⁴ − Ta⁴), con σ = 5,67·10⁻⁸ W/m²K⁴ (Duffie et al., 2020).</a:t>
            </a:r>
            <a:endParaRPr lang="en-US" sz="1400" dirty="0"/>
          </a:p>
        </p:txBody>
      </p:sp>
      <p:sp>
        <p:nvSpPr>
          <p:cNvPr id="11" name="Text 9"/>
          <p:cNvSpPr/>
          <p:nvPr/>
        </p:nvSpPr>
        <p:spPr>
          <a:xfrm>
            <a:off x="6375400" y="3005224"/>
            <a:ext cx="4944618"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Placa a 80 °C y aire a 30 °C.</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3221" y="3667376"/>
          <a:ext cx="10555979" cy="1151182"/>
        </p:xfrm>
        <a:graphic>
          <a:graphicData uri="http://schemas.openxmlformats.org/drawingml/2006/table">
            <a:tbl>
              <a:tblPr/>
              <a:tblGrid>
                <a:gridCol w="4222392"/>
                <a:gridCol w="2111196"/>
                <a:gridCol w="4222392"/>
              </a:tblGrid>
              <a:tr h="383727">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Superficie</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Emisividad ε</a:t>
                      </a:r>
                      <a:endParaRPr lang="en-US" sz="1400" dirty="0">
                        <a:latin typeface="Arial" charset="0"/>
                        <a:ea typeface="Arial" charset="0"/>
                        <a:cs typeface="Arial" charset="0"/>
                      </a:endParaRPr>
                    </a:p>
                  </a:txBody>
                  <a:tcPr marL="62230" marR="62230" marT="62230" marB="62230"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Pérdida por radiación</a:t>
                      </a:r>
                      <a:endParaRPr lang="en-US" sz="1400" dirty="0">
                        <a:latin typeface="Arial" charset="0"/>
                        <a:ea typeface="Arial" charset="0"/>
                        <a:cs typeface="Arial" charset="0"/>
                      </a:endParaRPr>
                    </a:p>
                  </a:txBody>
                  <a:tcPr marL="62230" marR="62230" marT="62230" marB="62230"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r>
              <a:tr h="383727">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Pintura negra mate</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0,95</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383 W/m²</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83727">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Recubrimiento selectivo</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0,05</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960"/>
                        </a:lnSpc>
                        <a:buNone/>
                      </a:pPr>
                      <a:r>
                        <a:rPr lang="en-US" sz="1400" dirty="0">
                          <a:solidFill>
                            <a:srgbClr val="FBF4E8"/>
                          </a:solidFill>
                          <a:latin typeface="Arial" pitchFamily="34" charset="0"/>
                          <a:ea typeface="Arial" pitchFamily="34" charset="-122"/>
                          <a:cs typeface="Arial" pitchFamily="34" charset="-120"/>
                        </a:rPr>
                        <a:t>20 W/m²</a:t>
                      </a:r>
                      <a:endParaRPr lang="en-US" sz="1400" dirty="0">
                        <a:latin typeface="Arial" charset="0"/>
                        <a:ea typeface="Arial" charset="0"/>
                        <a:cs typeface="Arial" charset="0"/>
                      </a:endParaRPr>
                    </a:p>
                  </a:txBody>
                  <a:tcPr marL="62230" marR="62230" marT="62230" marB="62230"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bl>
          </a:graphicData>
        </a:graphic>
      </p:graphicFrame>
      <p:sp>
        <p:nvSpPr>
          <p:cNvPr id="13" name="Text 10"/>
          <p:cNvSpPr/>
          <p:nvPr/>
        </p:nvSpPr>
        <p:spPr>
          <a:xfrm>
            <a:off x="812800" y="5021759"/>
            <a:ext cx="10883392" cy="288274"/>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E8CDB0"/>
                </a:solidFill>
                <a:latin typeface="Arial" pitchFamily="34" charset="0"/>
                <a:ea typeface="Arial" pitchFamily="34" charset="-122"/>
                <a:cs typeface="Arial" pitchFamily="34" charset="-120"/>
              </a:rPr>
              <a:t>Con la superficie selectiva la pérdida por radiación es 19 veces menor a esa temperatura.</a:t>
            </a:r>
            <a:endParaRPr lang="en-US" sz="1500" dirty="0"/>
          </a:p>
        </p:txBody>
      </p:sp>
      <p:sp>
        <p:nvSpPr>
          <p:cNvPr id="14" name="Text 11"/>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Kalogirou (2009). Valores de ε supuestos; cálculo propio.</a:t>
            </a:r>
            <a:endParaRPr lang="en-US" sz="1200" dirty="0"/>
          </a:p>
        </p:txBody>
      </p:sp>
      <p:sp>
        <p:nvSpPr>
          <p:cNvPr id="15" name="Text 12"/>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30</a:t>
            </a:r>
            <a:endParaRPr lang="en-US" sz="12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3 · MATERIALES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Qué lleva por dentro un colector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925553"/>
          <a:ext cx="10555979" cy="2222500"/>
        </p:xfrm>
        <a:graphic>
          <a:graphicData uri="http://schemas.openxmlformats.org/drawingml/2006/table">
            <a:tbl>
              <a:tblPr/>
              <a:tblGrid>
                <a:gridCol w="2322315"/>
                <a:gridCol w="4011272"/>
                <a:gridCol w="4222392"/>
              </a:tblGrid>
              <a:tr h="370417">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Componente</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Materiales típicos</a:t>
                      </a:r>
                      <a:endParaRPr lang="en-US" sz="1350" dirty="0">
                        <a:latin typeface="Arial" charset="0"/>
                        <a:ea typeface="Arial" charset="0"/>
                        <a:cs typeface="Arial" charset="0"/>
                      </a:endParaRPr>
                    </a:p>
                  </a:txBody>
                  <a:tcPr marL="60007" marR="60007" marT="60007" marB="60007"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Qué se busca</a:t>
                      </a:r>
                      <a:endParaRPr lang="en-US" sz="1350" dirty="0">
                        <a:latin typeface="Arial" charset="0"/>
                        <a:ea typeface="Arial" charset="0"/>
                        <a:cs typeface="Arial" charset="0"/>
                      </a:endParaRPr>
                    </a:p>
                  </a:txBody>
                  <a:tcPr marL="60007" marR="60007" marT="60007" marB="60007"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Cubierta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Vidrio templado de bajo hierro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Alta transmitancia solar, resistencia al granizo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Absorbedor</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Cobre o aluminio con recubrimiento selectivo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Alta conductividad, α alta y ε baja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Aislamiento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Lana mineral o espuma de poliuretano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Baja conductividad, resistencia a la temperatura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Caja y sellos</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Aluminio, acero galvanizado, EPDM o silicona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Estanqueidad y durabilidad a la intemperie</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Fluido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Agua, agua-glicol, aceite térmico, sales fundidas</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Alto cp, estabilidad, sin corrosión</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4351263"/>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En ambiente costero como Barranquilla pesa la corrosión: proteger la estructura y revisar la compatibilidad de los metales.</a:t>
            </a:r>
            <a:endParaRPr lang="en-US" sz="1400" dirty="0"/>
          </a:p>
        </p:txBody>
      </p:sp>
      <p:sp>
        <p:nvSpPr>
          <p:cNvPr id="6" name="Text 3"/>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Kalogirou (2009).</a:t>
            </a:r>
            <a:endParaRPr lang="en-US" sz="1200" dirty="0"/>
          </a:p>
        </p:txBody>
      </p:sp>
      <p:sp>
        <p:nvSpPr>
          <p:cNvPr id="7" name="Text 4"/>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31</a:t>
            </a:r>
            <a:endParaRPr lang="en-US" sz="12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4 · CRITERIOS DE DISEÑO Y CÁLCULO</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Cómo se diseña un sistema, paso a paso</a:t>
            </a:r>
            <a:endParaRPr lang="en-US" sz="3200" dirty="0"/>
          </a:p>
        </p:txBody>
      </p:sp>
      <p:sp>
        <p:nvSpPr>
          <p:cNvPr id="4" name="Shape 2"/>
          <p:cNvSpPr/>
          <p:nvPr/>
        </p:nvSpPr>
        <p:spPr>
          <a:xfrm>
            <a:off x="812800" y="1915133"/>
            <a:ext cx="2298700" cy="1359104"/>
          </a:xfrm>
          <a:prstGeom prst="roundRect">
            <a:avLst>
              <a:gd name="adj" fmla="val 7476"/>
            </a:avLst>
          </a:prstGeom>
          <a:solidFill>
            <a:srgbClr val="44261A"/>
          </a:solidFill>
          <a:ln/>
        </p:spPr>
      </p:sp>
      <p:sp>
        <p:nvSpPr>
          <p:cNvPr id="5" name="Text 3"/>
          <p:cNvSpPr/>
          <p:nvPr/>
        </p:nvSpPr>
        <p:spPr>
          <a:xfrm>
            <a:off x="9906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1. Demanda</a:t>
            </a:r>
            <a:endParaRPr lang="en-US" sz="1600" dirty="0"/>
          </a:p>
        </p:txBody>
      </p:sp>
      <p:sp>
        <p:nvSpPr>
          <p:cNvPr id="6" name="Text 4"/>
          <p:cNvSpPr/>
          <p:nvPr/>
        </p:nvSpPr>
        <p:spPr>
          <a:xfrm>
            <a:off x="9906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Litros por persona al día y temperatura de uso: Q = m · cp · ΔT.</a:t>
            </a:r>
            <a:endParaRPr lang="en-US" sz="1300" dirty="0"/>
          </a:p>
        </p:txBody>
      </p:sp>
      <p:pic>
        <p:nvPicPr>
          <p:cNvPr id="7" name="Image 0" descr="Play">    </p:cNvPr>
          <p:cNvPicPr>
            <a:picLocks noChangeAspect="1"/>
          </p:cNvPicPr>
          <p:nvPr/>
        </p:nvPicPr>
        <p:blipFill>
          <a:blip r:embed="rId1"/>
          <a:srcRect l="0" r="0" t="0" b="0"/>
          <a:stretch/>
        </p:blipFill>
        <p:spPr>
          <a:xfrm>
            <a:off x="3213100" y="2467670"/>
            <a:ext cx="254000" cy="254000"/>
          </a:xfrm>
          <a:prstGeom prst="rect">
            <a:avLst/>
          </a:prstGeom>
        </p:spPr>
      </p:pic>
      <p:sp>
        <p:nvSpPr>
          <p:cNvPr id="8" name="Shape 5"/>
          <p:cNvSpPr/>
          <p:nvPr/>
        </p:nvSpPr>
        <p:spPr>
          <a:xfrm>
            <a:off x="3568700" y="1915133"/>
            <a:ext cx="2298700" cy="1359104"/>
          </a:xfrm>
          <a:prstGeom prst="roundRect">
            <a:avLst>
              <a:gd name="adj" fmla="val 7476"/>
            </a:avLst>
          </a:prstGeom>
          <a:solidFill>
            <a:srgbClr val="44261A"/>
          </a:solidFill>
          <a:ln/>
        </p:spPr>
      </p:sp>
      <p:sp>
        <p:nvSpPr>
          <p:cNvPr id="9" name="Text 6"/>
          <p:cNvSpPr/>
          <p:nvPr/>
        </p:nvSpPr>
        <p:spPr>
          <a:xfrm>
            <a:off x="37465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2. Recurso</a:t>
            </a:r>
            <a:endParaRPr lang="en-US" sz="1600" dirty="0"/>
          </a:p>
        </p:txBody>
      </p:sp>
      <p:sp>
        <p:nvSpPr>
          <p:cNvPr id="10" name="Text 7"/>
          <p:cNvSpPr/>
          <p:nvPr/>
        </p:nvSpPr>
        <p:spPr>
          <a:xfrm>
            <a:off x="37465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Irradiación diaria H del sitio e inclinación del colector.</a:t>
            </a:r>
            <a:endParaRPr lang="en-US" sz="1300" dirty="0"/>
          </a:p>
        </p:txBody>
      </p:sp>
      <p:pic>
        <p:nvPicPr>
          <p:cNvPr id="11" name="Image 1" descr="Play">    </p:cNvPr>
          <p:cNvPicPr>
            <a:picLocks noChangeAspect="1"/>
          </p:cNvPicPr>
          <p:nvPr/>
        </p:nvPicPr>
        <p:blipFill>
          <a:blip r:embed="rId2"/>
          <a:srcRect l="0" r="0" t="0" b="0"/>
          <a:stretch/>
        </p:blipFill>
        <p:spPr>
          <a:xfrm>
            <a:off x="5969000" y="2467670"/>
            <a:ext cx="254000" cy="254000"/>
          </a:xfrm>
          <a:prstGeom prst="rect">
            <a:avLst/>
          </a:prstGeom>
        </p:spPr>
      </p:pic>
      <p:sp>
        <p:nvSpPr>
          <p:cNvPr id="12" name="Shape 8"/>
          <p:cNvSpPr/>
          <p:nvPr/>
        </p:nvSpPr>
        <p:spPr>
          <a:xfrm>
            <a:off x="6324600" y="1915133"/>
            <a:ext cx="2298700" cy="1359104"/>
          </a:xfrm>
          <a:prstGeom prst="roundRect">
            <a:avLst>
              <a:gd name="adj" fmla="val 7476"/>
            </a:avLst>
          </a:prstGeom>
          <a:solidFill>
            <a:srgbClr val="44261A"/>
          </a:solidFill>
          <a:ln/>
        </p:spPr>
      </p:sp>
      <p:sp>
        <p:nvSpPr>
          <p:cNvPr id="13" name="Text 9"/>
          <p:cNvSpPr/>
          <p:nvPr/>
        </p:nvSpPr>
        <p:spPr>
          <a:xfrm>
            <a:off x="65024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3. Colector</a:t>
            </a:r>
            <a:endParaRPr lang="en-US" sz="1600" dirty="0"/>
          </a:p>
        </p:txBody>
      </p:sp>
      <p:sp>
        <p:nvSpPr>
          <p:cNvPr id="14" name="Text 10"/>
          <p:cNvSpPr/>
          <p:nvPr/>
        </p:nvSpPr>
        <p:spPr>
          <a:xfrm>
            <a:off x="65024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Tipo y eficiencia η a la temperatura de trabajo, según su curva.</a:t>
            </a:r>
            <a:endParaRPr lang="en-US" sz="1300" dirty="0"/>
          </a:p>
        </p:txBody>
      </p:sp>
      <p:pic>
        <p:nvPicPr>
          <p:cNvPr id="15" name="Image 2" descr="Play">    </p:cNvPr>
          <p:cNvPicPr>
            <a:picLocks noChangeAspect="1"/>
          </p:cNvPicPr>
          <p:nvPr/>
        </p:nvPicPr>
        <p:blipFill>
          <a:blip r:embed="rId3"/>
          <a:srcRect l="0" r="0" t="0" b="0"/>
          <a:stretch/>
        </p:blipFill>
        <p:spPr>
          <a:xfrm>
            <a:off x="8724900" y="2467670"/>
            <a:ext cx="254000" cy="254000"/>
          </a:xfrm>
          <a:prstGeom prst="rect">
            <a:avLst/>
          </a:prstGeom>
        </p:spPr>
      </p:pic>
      <p:sp>
        <p:nvSpPr>
          <p:cNvPr id="16" name="Shape 11"/>
          <p:cNvSpPr/>
          <p:nvPr/>
        </p:nvSpPr>
        <p:spPr>
          <a:xfrm>
            <a:off x="9080500" y="1915133"/>
            <a:ext cx="2298700" cy="1359104"/>
          </a:xfrm>
          <a:prstGeom prst="roundRect">
            <a:avLst>
              <a:gd name="adj" fmla="val 7476"/>
            </a:avLst>
          </a:prstGeom>
          <a:solidFill>
            <a:srgbClr val="44261A"/>
          </a:solidFill>
          <a:ln/>
        </p:spPr>
      </p:sp>
      <p:sp>
        <p:nvSpPr>
          <p:cNvPr id="17" name="Text 12"/>
          <p:cNvSpPr/>
          <p:nvPr/>
        </p:nvSpPr>
        <p:spPr>
          <a:xfrm>
            <a:off x="9258300" y="2092933"/>
            <a:ext cx="200139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4. Área y tanque</a:t>
            </a:r>
            <a:endParaRPr lang="en-US" sz="1600" dirty="0"/>
          </a:p>
        </p:txBody>
      </p:sp>
      <p:sp>
        <p:nvSpPr>
          <p:cNvPr id="18" name="Text 13"/>
          <p:cNvSpPr/>
          <p:nvPr/>
        </p:nvSpPr>
        <p:spPr>
          <a:xfrm>
            <a:off x="9258300" y="2412963"/>
            <a:ext cx="200139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A = f · Q / (H · η). Tanque de 1 a 1,5 veces la demanda diaria.</a:t>
            </a:r>
            <a:endParaRPr lang="en-US" sz="1300" dirty="0"/>
          </a:p>
        </p:txBody>
      </p:sp>
      <p:sp>
        <p:nvSpPr>
          <p:cNvPr id="19" name="Shape 14"/>
          <p:cNvSpPr/>
          <p:nvPr/>
        </p:nvSpPr>
        <p:spPr>
          <a:xfrm>
            <a:off x="812800" y="3477444"/>
            <a:ext cx="5207000" cy="1462413"/>
          </a:xfrm>
          <a:prstGeom prst="roundRect">
            <a:avLst>
              <a:gd name="adj" fmla="val 6947"/>
            </a:avLst>
          </a:prstGeom>
          <a:solidFill>
            <a:srgbClr val="44261A"/>
          </a:solidFill>
          <a:ln/>
        </p:spPr>
      </p:sp>
      <p:sp>
        <p:nvSpPr>
          <p:cNvPr id="20" name="Text 15"/>
          <p:cNvSpPr/>
          <p:nvPr/>
        </p:nvSpPr>
        <p:spPr>
          <a:xfrm>
            <a:off x="1016000" y="3680644"/>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Otros criterios</a:t>
            </a:r>
            <a:endParaRPr lang="en-US" sz="1600" dirty="0"/>
          </a:p>
        </p:txBody>
      </p:sp>
      <p:sp>
        <p:nvSpPr>
          <p:cNvPr id="21" name="Text 16"/>
          <p:cNvSpPr/>
          <p:nvPr/>
        </p:nvSpPr>
        <p:spPr>
          <a:xfrm>
            <a:off x="1016000" y="4000661"/>
            <a:ext cx="494461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Orientación hacia el ecuador, sombras, pérdidas en tuberías, carga de viento en el techo y protección contra sobrecalentamiento.</a:t>
            </a:r>
            <a:endParaRPr lang="en-US" sz="1400" dirty="0"/>
          </a:p>
        </p:txBody>
      </p:sp>
      <p:sp>
        <p:nvSpPr>
          <p:cNvPr id="22" name="Shape 17"/>
          <p:cNvSpPr/>
          <p:nvPr/>
        </p:nvSpPr>
        <p:spPr>
          <a:xfrm>
            <a:off x="6172200" y="3477444"/>
            <a:ext cx="5207000" cy="1462413"/>
          </a:xfrm>
          <a:prstGeom prst="roundRect">
            <a:avLst>
              <a:gd name="adj" fmla="val 6947"/>
            </a:avLst>
          </a:prstGeom>
          <a:solidFill>
            <a:srgbClr val="44261A"/>
          </a:solidFill>
          <a:ln/>
        </p:spPr>
      </p:sp>
      <p:sp>
        <p:nvSpPr>
          <p:cNvPr id="23" name="Text 18"/>
          <p:cNvSpPr/>
          <p:nvPr/>
        </p:nvSpPr>
        <p:spPr>
          <a:xfrm>
            <a:off x="6375400" y="3680644"/>
            <a:ext cx="4944618"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Fracción solar f</a:t>
            </a:r>
            <a:endParaRPr lang="en-US" sz="1600" dirty="0"/>
          </a:p>
        </p:txBody>
      </p:sp>
      <p:sp>
        <p:nvSpPr>
          <p:cNvPr id="24" name="Text 19"/>
          <p:cNvSpPr/>
          <p:nvPr/>
        </p:nvSpPr>
        <p:spPr>
          <a:xfrm>
            <a:off x="6375400" y="4000661"/>
            <a:ext cx="494461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Parte de la demanda que cubre el sol. Se elige con criterio económico, rara vez 100 %, para evitar exceso de calor.</a:t>
            </a:r>
            <a:endParaRPr lang="en-US" sz="1400" dirty="0"/>
          </a:p>
        </p:txBody>
      </p:sp>
      <p:sp>
        <p:nvSpPr>
          <p:cNvPr id="25" name="Text 20"/>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Kalogirou (2009).</a:t>
            </a:r>
            <a:endParaRPr lang="en-US" sz="1200" dirty="0"/>
          </a:p>
        </p:txBody>
      </p:sp>
      <p:sp>
        <p:nvSpPr>
          <p:cNvPr id="26" name="Text 21"/>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32</a:t>
            </a:r>
            <a:endParaRPr lang="en-US" sz="12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5 · CÁLCULO DE EFICIENCIAS ENERGÉTICAS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Tres eficiencias que no hay que confundir</a:t>
            </a:r>
            <a:endParaRPr lang="en-US" sz="3200" dirty="0"/>
          </a:p>
        </p:txBody>
      </p:sp>
      <p:sp>
        <p:nvSpPr>
          <p:cNvPr id="4" name="Shape 2"/>
          <p:cNvSpPr/>
          <p:nvPr/>
        </p:nvSpPr>
        <p:spPr>
          <a:xfrm>
            <a:off x="815975" y="1918308"/>
            <a:ext cx="3414183" cy="1753007"/>
          </a:xfrm>
          <a:prstGeom prst="roundRect">
            <a:avLst>
              <a:gd name="adj" fmla="val 5615"/>
            </a:avLst>
          </a:prstGeom>
          <a:solidFill>
            <a:srgbClr val="FFFFFF"/>
          </a:solidFill>
          <a:ln w="6350">
            <a:solidFill>
              <a:srgbClr val="EADBC4"/>
            </a:solidFill>
            <a:prstDash val="solid"/>
          </a:ln>
        </p:spPr>
      </p:sp>
      <p:sp>
        <p:nvSpPr>
          <p:cNvPr id="5" name="Text 3"/>
          <p:cNvSpPr/>
          <p:nvPr/>
        </p:nvSpPr>
        <p:spPr>
          <a:xfrm>
            <a:off x="1021210"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Del colector</a:t>
            </a:r>
            <a:endParaRPr lang="en-US" sz="1600" dirty="0"/>
          </a:p>
        </p:txBody>
      </p:sp>
      <p:sp>
        <p:nvSpPr>
          <p:cNvPr id="6" name="Text 4"/>
          <p:cNvSpPr/>
          <p:nvPr/>
        </p:nvSpPr>
        <p:spPr>
          <a:xfrm>
            <a:off x="1021210" y="2443572"/>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η = Qu / (A · G)</a:t>
            </a:r>
            <a:endParaRPr lang="en-US" sz="1350" dirty="0"/>
          </a:p>
        </p:txBody>
      </p:sp>
      <p:sp>
        <p:nvSpPr>
          <p:cNvPr id="7" name="Text 5"/>
          <p:cNvSpPr/>
          <p:nvPr/>
        </p:nvSpPr>
        <p:spPr>
          <a:xfrm>
            <a:off x="1021210" y="2756346"/>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Depende de la temperatura de trabajo y de G (Duffie et al., 2020).</a:t>
            </a:r>
            <a:endParaRPr lang="en-US" sz="1350" dirty="0"/>
          </a:p>
        </p:txBody>
      </p:sp>
      <p:sp>
        <p:nvSpPr>
          <p:cNvPr id="8" name="Shape 6"/>
          <p:cNvSpPr/>
          <p:nvPr/>
        </p:nvSpPr>
        <p:spPr>
          <a:xfrm>
            <a:off x="4388908" y="1918308"/>
            <a:ext cx="3414183" cy="1753007"/>
          </a:xfrm>
          <a:prstGeom prst="roundRect">
            <a:avLst>
              <a:gd name="adj" fmla="val 5615"/>
            </a:avLst>
          </a:prstGeom>
          <a:solidFill>
            <a:srgbClr val="FFFFFF"/>
          </a:solidFill>
          <a:ln w="6350">
            <a:solidFill>
              <a:srgbClr val="EADBC4"/>
            </a:solidFill>
            <a:prstDash val="solid"/>
          </a:ln>
        </p:spPr>
      </p:sp>
      <p:sp>
        <p:nvSpPr>
          <p:cNvPr id="9" name="Text 7"/>
          <p:cNvSpPr/>
          <p:nvPr/>
        </p:nvSpPr>
        <p:spPr>
          <a:xfrm>
            <a:off x="4594144"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Del sistema</a:t>
            </a:r>
            <a:endParaRPr lang="en-US" sz="1600" dirty="0"/>
          </a:p>
        </p:txBody>
      </p:sp>
      <p:sp>
        <p:nvSpPr>
          <p:cNvPr id="10" name="Text 8"/>
          <p:cNvSpPr/>
          <p:nvPr/>
        </p:nvSpPr>
        <p:spPr>
          <a:xfrm>
            <a:off x="4594144" y="2443572"/>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ηsis = energía entregada / energía solar incidente</a:t>
            </a:r>
            <a:endParaRPr lang="en-US" sz="1350" dirty="0"/>
          </a:p>
        </p:txBody>
      </p:sp>
      <p:sp>
        <p:nvSpPr>
          <p:cNvPr id="11" name="Text 9"/>
          <p:cNvSpPr/>
          <p:nvPr/>
        </p:nvSpPr>
        <p:spPr>
          <a:xfrm>
            <a:off x="4594144" y="2992934"/>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Incluye tuberías y tanque; aquí, factor 0,85 supuesto.</a:t>
            </a:r>
            <a:endParaRPr lang="en-US" sz="1350" dirty="0"/>
          </a:p>
        </p:txBody>
      </p:sp>
      <p:sp>
        <p:nvSpPr>
          <p:cNvPr id="12" name="Shape 10"/>
          <p:cNvSpPr/>
          <p:nvPr/>
        </p:nvSpPr>
        <p:spPr>
          <a:xfrm>
            <a:off x="7961842" y="1918308"/>
            <a:ext cx="3414183" cy="1753007"/>
          </a:xfrm>
          <a:prstGeom prst="roundRect">
            <a:avLst>
              <a:gd name="adj" fmla="val 5615"/>
            </a:avLst>
          </a:prstGeom>
          <a:solidFill>
            <a:srgbClr val="FFFFFF"/>
          </a:solidFill>
          <a:ln w="6350">
            <a:solidFill>
              <a:srgbClr val="EADBC4"/>
            </a:solidFill>
            <a:prstDash val="solid"/>
          </a:ln>
        </p:spPr>
      </p:sp>
      <p:sp>
        <p:nvSpPr>
          <p:cNvPr id="13" name="Text 11"/>
          <p:cNvSpPr/>
          <p:nvPr/>
        </p:nvSpPr>
        <p:spPr>
          <a:xfrm>
            <a:off x="8167077"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Fracción solar</a:t>
            </a:r>
            <a:endParaRPr lang="en-US" sz="1600" dirty="0"/>
          </a:p>
        </p:txBody>
      </p:sp>
      <p:sp>
        <p:nvSpPr>
          <p:cNvPr id="14" name="Text 12"/>
          <p:cNvSpPr/>
          <p:nvPr/>
        </p:nvSpPr>
        <p:spPr>
          <a:xfrm>
            <a:off x="8167077" y="2443572"/>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f = energía solar útil / demanda total</a:t>
            </a:r>
            <a:endParaRPr lang="en-US" sz="1350" dirty="0"/>
          </a:p>
        </p:txBody>
      </p:sp>
      <p:sp>
        <p:nvSpPr>
          <p:cNvPr id="15" name="Text 13"/>
          <p:cNvSpPr/>
          <p:nvPr/>
        </p:nvSpPr>
        <p:spPr>
          <a:xfrm>
            <a:off x="8167077" y="2756346"/>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Dice cuánta energía auxiliar se ahorra (Duffie et al., 2020).</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3221" y="3888113"/>
          <a:ext cx="10555979" cy="1151182"/>
        </p:xfrm>
        <a:graphic>
          <a:graphicData uri="http://schemas.openxmlformats.org/drawingml/2006/table">
            <a:tbl>
              <a:tblPr/>
              <a:tblGrid>
                <a:gridCol w="5911348"/>
                <a:gridCol w="1900076"/>
                <a:gridCol w="2744555"/>
              </a:tblGrid>
              <a:tr h="383727">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Colector plano (G = 800 W/m², Ta = 30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Ti</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960"/>
                        </a:lnSpc>
                        <a:buNone/>
                      </a:pPr>
                      <a:r>
                        <a:rPr lang="en-US" sz="1400" b="1" dirty="0">
                          <a:solidFill>
                            <a:srgbClr val="2A1810"/>
                          </a:solidFill>
                          <a:latin typeface="Arial" pitchFamily="34" charset="0"/>
                          <a:ea typeface="Arial" pitchFamily="34" charset="-122"/>
                          <a:cs typeface="Arial" pitchFamily="34" charset="-120"/>
                        </a:rPr>
                        <a:t>η colector</a:t>
                      </a:r>
                      <a:endParaRPr lang="en-US" sz="1400" dirty="0">
                        <a:latin typeface="Arial" charset="0"/>
                        <a:ea typeface="Arial" charset="0"/>
                        <a:cs typeface="Arial" charset="0"/>
                      </a:endParaRPr>
                    </a:p>
                  </a:txBody>
                  <a:tcPr marL="62230" marR="62230" marT="62230" marB="6223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Agua entrando a 40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40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0,69</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727">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Agua entrando a 70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70 °C</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2A1810"/>
                          </a:solidFill>
                          <a:latin typeface="Arial" pitchFamily="34" charset="0"/>
                          <a:ea typeface="Arial" pitchFamily="34" charset="-122"/>
                          <a:cs typeface="Arial" pitchFamily="34" charset="-120"/>
                        </a:rPr>
                        <a:t>0,53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17" name="Text 14"/>
          <p:cNvSpPr/>
          <p:nvPr/>
        </p:nvSpPr>
        <p:spPr>
          <a:xfrm>
            <a:off x="812800" y="5242496"/>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Calentar más el agua baja la eficiencia: el mismo colector rinde distinto según el uso.</a:t>
            </a:r>
            <a:endParaRPr lang="en-US" sz="1400" dirty="0"/>
          </a:p>
        </p:txBody>
      </p:sp>
      <p:sp>
        <p:nvSpPr>
          <p:cNvPr id="18" name="Text 15"/>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ISO (2025). Parámetros supuestos; cálculo propio.</a:t>
            </a:r>
            <a:endParaRPr lang="en-US" sz="1200" dirty="0"/>
          </a:p>
        </p:txBody>
      </p:sp>
      <p:sp>
        <p:nvSpPr>
          <p:cNvPr id="19" name="Text 16"/>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33</a:t>
            </a:r>
            <a:endParaRPr lang="en-US" sz="12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6 · SISTEMAS DE ALMACENAMIENTO</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Guardar el calor para cuando no hay sol</a:t>
            </a:r>
            <a:endParaRPr lang="en-US" sz="3200" dirty="0"/>
          </a:p>
        </p:txBody>
      </p:sp>
      <p:sp>
        <p:nvSpPr>
          <p:cNvPr id="4" name="Shape 2"/>
          <p:cNvSpPr/>
          <p:nvPr/>
        </p:nvSpPr>
        <p:spPr>
          <a:xfrm>
            <a:off x="812800" y="1915133"/>
            <a:ext cx="3420533" cy="1985515"/>
          </a:xfrm>
          <a:prstGeom prst="roundRect">
            <a:avLst>
              <a:gd name="adj" fmla="val 5117"/>
            </a:avLst>
          </a:prstGeom>
          <a:solidFill>
            <a:srgbClr val="44261A"/>
          </a:solidFill>
          <a:ln/>
        </p:spPr>
      </p:sp>
      <p:sp>
        <p:nvSpPr>
          <p:cNvPr id="5" name="Text 3"/>
          <p:cNvSpPr/>
          <p:nvPr/>
        </p:nvSpPr>
        <p:spPr>
          <a:xfrm>
            <a:off x="1016000" y="2118333"/>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Calor sensible</a:t>
            </a:r>
            <a:endParaRPr lang="en-US" sz="1600" dirty="0"/>
          </a:p>
        </p:txBody>
      </p:sp>
      <p:sp>
        <p:nvSpPr>
          <p:cNvPr id="6" name="Text 4"/>
          <p:cNvSpPr/>
          <p:nvPr/>
        </p:nvSpPr>
        <p:spPr>
          <a:xfrm>
            <a:off x="1016000" y="2438363"/>
            <a:ext cx="3104557"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Q = m · cp · ΔT. Agua en tanques aislados; sales fundidas en CSP.</a:t>
            </a:r>
            <a:endParaRPr lang="en-US" sz="1350" dirty="0"/>
          </a:p>
        </p:txBody>
      </p:sp>
      <p:sp>
        <p:nvSpPr>
          <p:cNvPr id="7" name="Text 5"/>
          <p:cNvSpPr/>
          <p:nvPr/>
        </p:nvSpPr>
        <p:spPr>
          <a:xfrm>
            <a:off x="1016000" y="2987712"/>
            <a:ext cx="3104557"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La opción más madura y barata (Kalogirou, 2009).</a:t>
            </a:r>
            <a:endParaRPr lang="en-US" sz="1350" dirty="0"/>
          </a:p>
        </p:txBody>
      </p:sp>
      <p:sp>
        <p:nvSpPr>
          <p:cNvPr id="8" name="Shape 6"/>
          <p:cNvSpPr/>
          <p:nvPr/>
        </p:nvSpPr>
        <p:spPr>
          <a:xfrm>
            <a:off x="4385733" y="1915133"/>
            <a:ext cx="3420533" cy="1985515"/>
          </a:xfrm>
          <a:prstGeom prst="roundRect">
            <a:avLst>
              <a:gd name="adj" fmla="val 5117"/>
            </a:avLst>
          </a:prstGeom>
          <a:solidFill>
            <a:srgbClr val="44261A"/>
          </a:solidFill>
          <a:ln/>
        </p:spPr>
      </p:sp>
      <p:sp>
        <p:nvSpPr>
          <p:cNvPr id="9" name="Text 7"/>
          <p:cNvSpPr/>
          <p:nvPr/>
        </p:nvSpPr>
        <p:spPr>
          <a:xfrm>
            <a:off x="4588933" y="2118333"/>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Calor latente</a:t>
            </a:r>
            <a:endParaRPr lang="en-US" sz="1600" dirty="0"/>
          </a:p>
        </p:txBody>
      </p:sp>
      <p:sp>
        <p:nvSpPr>
          <p:cNvPr id="10" name="Text 8"/>
          <p:cNvSpPr/>
          <p:nvPr/>
        </p:nvSpPr>
        <p:spPr>
          <a:xfrm>
            <a:off x="4588933" y="2438363"/>
            <a:ext cx="3104557"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Q = m · L. Materiales de cambio de fase (PCM) que funden a temperatura casi constante.</a:t>
            </a:r>
            <a:endParaRPr lang="en-US" sz="1350" dirty="0"/>
          </a:p>
        </p:txBody>
      </p:sp>
      <p:sp>
        <p:nvSpPr>
          <p:cNvPr id="11" name="Text 9"/>
          <p:cNvSpPr/>
          <p:nvPr/>
        </p:nvSpPr>
        <p:spPr>
          <a:xfrm>
            <a:off x="4588933" y="3224299"/>
            <a:ext cx="3104557"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Más compacto, menos extendido (Kalogirou, 2009).</a:t>
            </a:r>
            <a:endParaRPr lang="en-US" sz="1350" dirty="0"/>
          </a:p>
        </p:txBody>
      </p:sp>
      <p:sp>
        <p:nvSpPr>
          <p:cNvPr id="12" name="Shape 10"/>
          <p:cNvSpPr/>
          <p:nvPr/>
        </p:nvSpPr>
        <p:spPr>
          <a:xfrm>
            <a:off x="7958667" y="1915133"/>
            <a:ext cx="3420533" cy="1985515"/>
          </a:xfrm>
          <a:prstGeom prst="roundRect">
            <a:avLst>
              <a:gd name="adj" fmla="val 5117"/>
            </a:avLst>
          </a:prstGeom>
          <a:solidFill>
            <a:srgbClr val="44261A"/>
          </a:solidFill>
          <a:ln/>
        </p:spPr>
      </p:sp>
      <p:sp>
        <p:nvSpPr>
          <p:cNvPr id="13" name="Text 11"/>
          <p:cNvSpPr/>
          <p:nvPr/>
        </p:nvSpPr>
        <p:spPr>
          <a:xfrm>
            <a:off x="8161867" y="2118333"/>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Termoquímico</a:t>
            </a:r>
            <a:endParaRPr lang="en-US" sz="1600" dirty="0"/>
          </a:p>
        </p:txBody>
      </p:sp>
      <p:sp>
        <p:nvSpPr>
          <p:cNvPr id="14" name="Text 12"/>
          <p:cNvSpPr/>
          <p:nvPr/>
        </p:nvSpPr>
        <p:spPr>
          <a:xfrm>
            <a:off x="8161867" y="2438363"/>
            <a:ext cx="3104557"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Reacciones reversibles que guardan el calor como energía química.</a:t>
            </a:r>
            <a:endParaRPr lang="en-US" sz="1350" dirty="0"/>
          </a:p>
        </p:txBody>
      </p:sp>
      <p:sp>
        <p:nvSpPr>
          <p:cNvPr id="15" name="Text 13"/>
          <p:cNvSpPr/>
          <p:nvPr/>
        </p:nvSpPr>
        <p:spPr>
          <a:xfrm>
            <a:off x="8161867" y="2987712"/>
            <a:ext cx="3104557"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FBF4E8"/>
                </a:solidFill>
                <a:latin typeface="Arial" pitchFamily="34" charset="0"/>
                <a:ea typeface="Arial" pitchFamily="34" charset="-122"/>
                <a:cs typeface="Arial" pitchFamily="34" charset="-120"/>
              </a:rPr>
              <a:t>Alta densidad, aún en investigación (Kalogirou, 2009).</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3221" y="4114269"/>
          <a:ext cx="10555979" cy="1481667"/>
        </p:xfrm>
        <a:graphic>
          <a:graphicData uri="http://schemas.openxmlformats.org/drawingml/2006/table">
            <a:tbl>
              <a:tblPr/>
              <a:tblGrid>
                <a:gridCol w="4855751"/>
                <a:gridCol w="2322315"/>
                <a:gridCol w="3377913"/>
              </a:tblGrid>
              <a:tr h="370417">
                <a:tc>
                  <a:txBody>
                    <a:bodyPr/>
                    <a:lstStyle/>
                    <a:p>
                      <a:pPr indent="0" marL="0">
                        <a:lnSpc>
                          <a:spcPts val="1890"/>
                        </a:lnSpc>
                        <a:buNone/>
                      </a:pPr>
                      <a:r>
                        <a:rPr lang="en-US" sz="1350" b="1" dirty="0">
                          <a:solidFill>
                            <a:srgbClr val="FBF4E8"/>
                          </a:solidFill>
                          <a:latin typeface="Arial" pitchFamily="34" charset="0"/>
                          <a:ea typeface="Arial" pitchFamily="34" charset="-122"/>
                          <a:cs typeface="Arial" pitchFamily="34" charset="-120"/>
                        </a:rPr>
                        <a:t>Caso</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890"/>
                        </a:lnSpc>
                        <a:buNone/>
                      </a:pPr>
                      <a:r>
                        <a:rPr lang="en-US" sz="1350" b="1" dirty="0">
                          <a:solidFill>
                            <a:srgbClr val="FBF4E8"/>
                          </a:solidFill>
                          <a:latin typeface="Arial" pitchFamily="34" charset="0"/>
                          <a:ea typeface="Arial" pitchFamily="34" charset="-122"/>
                          <a:cs typeface="Arial" pitchFamily="34" charset="-120"/>
                        </a:rPr>
                        <a:t>Energía</a:t>
                      </a:r>
                      <a:endParaRPr lang="en-US" sz="1350" dirty="0">
                        <a:latin typeface="Arial" charset="0"/>
                        <a:ea typeface="Arial" charset="0"/>
                        <a:cs typeface="Arial" charset="0"/>
                      </a:endParaRPr>
                    </a:p>
                  </a:txBody>
                  <a:tcPr marL="60007" marR="60007" marT="60007" marB="60007"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890"/>
                        </a:lnSpc>
                        <a:buNone/>
                      </a:pPr>
                      <a:r>
                        <a:rPr lang="en-US" sz="1350" b="1" dirty="0">
                          <a:solidFill>
                            <a:srgbClr val="FBF4E8"/>
                          </a:solidFill>
                          <a:latin typeface="Arial" pitchFamily="34" charset="0"/>
                          <a:ea typeface="Arial" pitchFamily="34" charset="-122"/>
                          <a:cs typeface="Arial" pitchFamily="34" charset="-120"/>
                        </a:rPr>
                        <a:t>Dato</a:t>
                      </a:r>
                      <a:endParaRPr lang="en-US" sz="1350" dirty="0">
                        <a:latin typeface="Arial" charset="0"/>
                        <a:ea typeface="Arial" charset="0"/>
                        <a:cs typeface="Arial" charset="0"/>
                      </a:endParaRPr>
                    </a:p>
                  </a:txBody>
                  <a:tcPr marL="60007" marR="60007" marT="60007" marB="60007"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r>
              <a:tr h="370417">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Tanque de 400 L con ΔT = 25 K</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11,6 kWh</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cp = 4,186 kJ/kg·K</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70417">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Misma energía con PCM de 200 kJ/kg</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11,6 kWh</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209 kg de PCM</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70417">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Sales: 1 MWh térmico con ΔT = 275 K</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1 MWh</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90"/>
                        </a:lnSpc>
                        <a:buNone/>
                      </a:pPr>
                      <a:r>
                        <a:rPr lang="en-US" sz="1350" dirty="0">
                          <a:solidFill>
                            <a:srgbClr val="FBF4E8"/>
                          </a:solidFill>
                          <a:latin typeface="Arial" pitchFamily="34" charset="0"/>
                          <a:ea typeface="Arial" pitchFamily="34" charset="-122"/>
                          <a:cs typeface="Arial" pitchFamily="34" charset="-120"/>
                        </a:rPr>
                        <a:t>8,7 t de sal, cp = 1,5 kJ/kg·K</a:t>
                      </a:r>
                      <a:endParaRPr lang="en-US" sz="1350" dirty="0">
                        <a:latin typeface="Arial" charset="0"/>
                        <a:ea typeface="Arial" charset="0"/>
                        <a:cs typeface="Arial" charset="0"/>
                      </a:endParaRPr>
                    </a:p>
                  </a:txBody>
                  <a:tcPr marL="60007" marR="60007" marT="60007" marB="60007"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bl>
          </a:graphicData>
        </a:graphic>
      </p:graphicFrame>
      <p:sp>
        <p:nvSpPr>
          <p:cNvPr id="17" name="Text 14"/>
          <p:cNvSpPr/>
          <p:nvPr/>
        </p:nvSpPr>
        <p:spPr>
          <a:xfrm>
            <a:off x="812800" y="6238267"/>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Kalogirou (2009). Propiedades supuestas; cálculo propio.</a:t>
            </a:r>
            <a:endParaRPr lang="en-US" sz="1200" dirty="0"/>
          </a:p>
        </p:txBody>
      </p:sp>
      <p:sp>
        <p:nvSpPr>
          <p:cNvPr id="18" name="Text 15"/>
          <p:cNvSpPr/>
          <p:nvPr/>
        </p:nvSpPr>
        <p:spPr>
          <a:xfrm>
            <a:off x="10972800" y="6238267"/>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34</a:t>
            </a:r>
            <a:endParaRPr lang="en-US" sz="12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6 · ALMACENAMIENTO EN PLANTAS CSP</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Dos tanques de sales fundidas</a:t>
            </a:r>
            <a:endParaRPr lang="en-US" sz="3200" dirty="0"/>
          </a:p>
        </p:txBody>
      </p:sp>
      <p:sp>
        <p:nvSpPr>
          <p:cNvPr id="4" name="Text 2"/>
          <p:cNvSpPr/>
          <p:nvPr/>
        </p:nvSpPr>
        <p:spPr>
          <a:xfrm>
            <a:off x="819150" y="2124683"/>
            <a:ext cx="1765300" cy="708106"/>
          </a:xfrm>
          <a:custGeom>
            <a:avLst/>
            <a:gdLst/>
            <a:ahLst/>
            <a:cxnLst/>
            <a:rect l="l" t="t" r="r" b="b"/>
            <a:pathLst>
              <a:path w="1765300" h="708106">
                <a:moveTo>
                  <a:pt x="82550" y="0"/>
                </a:moveTo>
                <a:lnTo>
                  <a:pt x="1682750" y="0"/>
                </a:lnTo>
                <a:arcTo hR="82550" wR="82550" stAng="16200000" swAng="5400000"/>
                <a:lnTo>
                  <a:pt x="17653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Receptor solar</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en la torre</a:t>
            </a:r>
            <a:endParaRPr lang="en-US" sz="1300" dirty="0"/>
          </a:p>
        </p:txBody>
      </p:sp>
      <p:sp>
        <p:nvSpPr>
          <p:cNvPr id="5" name="Text 3"/>
          <p:cNvSpPr/>
          <p:nvPr/>
        </p:nvSpPr>
        <p:spPr>
          <a:xfrm>
            <a:off x="3733800" y="2118333"/>
            <a:ext cx="1778000" cy="699965"/>
          </a:xfrm>
          <a:custGeom>
            <a:avLst/>
            <a:gdLst/>
            <a:ahLst/>
            <a:cxnLst/>
            <a:rect l="l" t="t" r="r" b="b"/>
            <a:pathLst>
              <a:path w="1778000" h="699965">
                <a:moveTo>
                  <a:pt x="88900" y="0"/>
                </a:moveTo>
                <a:lnTo>
                  <a:pt x="1689100" y="0"/>
                </a:lnTo>
                <a:arcTo hR="88900" wR="88900" stAng="16200000" swAng="5400000"/>
                <a:lnTo>
                  <a:pt x="1778000" y="611065"/>
                </a:lnTo>
                <a:arcTo hR="88900" wR="88900" stAng="0" swAng="5400000"/>
                <a:lnTo>
                  <a:pt x="88900" y="699965"/>
                </a:lnTo>
                <a:arcTo hR="88900" wR="88900" stAng="5400000" swAng="5400000"/>
                <a:lnTo>
                  <a:pt x="0" y="88900"/>
                </a:lnTo>
                <a:arcTo hR="88900" wR="88900" stAng="10800000" swAng="5400000"/>
                <a:close/>
              </a:path>
            </a:pathLst>
          </a:custGeom>
          <a:solidFill>
            <a:srgbClr val="B43E00"/>
          </a:solidFill>
          <a:ln/>
        </p:spPr>
        <p:txBody>
          <a:bodyPr wrap="square" lIns="0" tIns="0" rIns="0" bIns="0" rtlCol="0" anchor="t">
            <a:normAutofit/>
          </a:bodyPr>
          <a:lstStyle/>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Tanque caliente</a:t>
            </a:r>
            <a:endParaRPr lang="en-US" sz="1300" dirty="0"/>
          </a:p>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565 °C</a:t>
            </a:r>
            <a:endParaRPr lang="en-US" sz="1300" dirty="0"/>
          </a:p>
        </p:txBody>
      </p:sp>
      <p:sp>
        <p:nvSpPr>
          <p:cNvPr id="6" name="Text 4"/>
          <p:cNvSpPr/>
          <p:nvPr/>
        </p:nvSpPr>
        <p:spPr>
          <a:xfrm>
            <a:off x="6661150" y="2124683"/>
            <a:ext cx="1765300" cy="708106"/>
          </a:xfrm>
          <a:custGeom>
            <a:avLst/>
            <a:gdLst/>
            <a:ahLst/>
            <a:cxnLst/>
            <a:rect l="l" t="t" r="r" b="b"/>
            <a:pathLst>
              <a:path w="1765300" h="708106">
                <a:moveTo>
                  <a:pt x="82550" y="0"/>
                </a:moveTo>
                <a:lnTo>
                  <a:pt x="1682750" y="0"/>
                </a:lnTo>
                <a:arcTo hR="82550" wR="82550" stAng="16200000" swAng="5400000"/>
                <a:lnTo>
                  <a:pt x="17653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Generador</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de vapor</a:t>
            </a:r>
            <a:endParaRPr lang="en-US" sz="1300" dirty="0"/>
          </a:p>
        </p:txBody>
      </p:sp>
      <p:sp>
        <p:nvSpPr>
          <p:cNvPr id="7" name="Text 5"/>
          <p:cNvSpPr/>
          <p:nvPr/>
        </p:nvSpPr>
        <p:spPr>
          <a:xfrm>
            <a:off x="9582150" y="2124683"/>
            <a:ext cx="1790700" cy="708106"/>
          </a:xfrm>
          <a:custGeom>
            <a:avLst/>
            <a:gdLst/>
            <a:ahLst/>
            <a:cxnLst/>
            <a:rect l="l" t="t" r="r" b="b"/>
            <a:pathLst>
              <a:path w="1790700" h="708106">
                <a:moveTo>
                  <a:pt x="82550" y="0"/>
                </a:moveTo>
                <a:lnTo>
                  <a:pt x="1708150" y="0"/>
                </a:lnTo>
                <a:arcTo hR="82550" wR="82550" stAng="16200000" swAng="5400000"/>
                <a:lnTo>
                  <a:pt x="17907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Turbina y</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generador</a:t>
            </a:r>
            <a:endParaRPr lang="en-US" sz="1300" dirty="0"/>
          </a:p>
        </p:txBody>
      </p:sp>
      <p:sp>
        <p:nvSpPr>
          <p:cNvPr id="8" name="Text 6"/>
          <p:cNvSpPr/>
          <p:nvPr/>
        </p:nvSpPr>
        <p:spPr>
          <a:xfrm>
            <a:off x="3733800" y="3769345"/>
            <a:ext cx="1778000" cy="699965"/>
          </a:xfrm>
          <a:custGeom>
            <a:avLst/>
            <a:gdLst/>
            <a:ahLst/>
            <a:cxnLst/>
            <a:rect l="l" t="t" r="r" b="b"/>
            <a:pathLst>
              <a:path w="1778000" h="699965">
                <a:moveTo>
                  <a:pt x="88900" y="0"/>
                </a:moveTo>
                <a:lnTo>
                  <a:pt x="1689100" y="0"/>
                </a:lnTo>
                <a:arcTo hR="88900" wR="88900" stAng="16200000" swAng="5400000"/>
                <a:lnTo>
                  <a:pt x="1778000" y="611065"/>
                </a:lnTo>
                <a:arcTo hR="88900" wR="88900" stAng="0" swAng="5400000"/>
                <a:lnTo>
                  <a:pt x="88900" y="699965"/>
                </a:lnTo>
                <a:arcTo hR="88900" wR="88900" stAng="5400000" swAng="5400000"/>
                <a:lnTo>
                  <a:pt x="0" y="88900"/>
                </a:lnTo>
                <a:arcTo hR="88900" wR="88900" stAng="10800000" swAng="5400000"/>
                <a:close/>
              </a:path>
            </a:pathLst>
          </a:custGeom>
          <a:solidFill>
            <a:srgbClr val="1D7A8C"/>
          </a:solidFill>
          <a:ln/>
        </p:spPr>
        <p:txBody>
          <a:bodyPr wrap="square" lIns="0" tIns="0" rIns="0" bIns="0" rtlCol="0" anchor="t">
            <a:normAutofit/>
          </a:bodyPr>
          <a:lstStyle/>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Tanque frío</a:t>
            </a:r>
            <a:endParaRPr lang="en-US" sz="1300" dirty="0"/>
          </a:p>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290 °C</a:t>
            </a:r>
            <a:endParaRPr lang="en-US" sz="1300" dirty="0"/>
          </a:p>
        </p:txBody>
      </p:sp>
      <p:pic>
        <p:nvPicPr>
          <p:cNvPr id="9" name="Image 0" descr="connector">    </p:cNvPr>
          <p:cNvPicPr>
            <a:picLocks noChangeAspect="1"/>
          </p:cNvPicPr>
          <p:nvPr/>
        </p:nvPicPr>
        <p:blipFill>
          <a:blip r:embed="rId1"/>
          <a:srcRect l="0" r="0" t="0" b="0"/>
          <a:stretch/>
        </p:blipFill>
        <p:spPr>
          <a:xfrm>
            <a:off x="2540000" y="2416795"/>
            <a:ext cx="1244600" cy="101600"/>
          </a:xfrm>
          <a:prstGeom prst="rect">
            <a:avLst/>
          </a:prstGeom>
        </p:spPr>
      </p:pic>
      <p:pic>
        <p:nvPicPr>
          <p:cNvPr id="10" name="Image 1" descr="connector">    </p:cNvPr>
          <p:cNvPicPr>
            <a:picLocks noChangeAspect="1"/>
          </p:cNvPicPr>
          <p:nvPr/>
        </p:nvPicPr>
        <p:blipFill>
          <a:blip r:embed="rId2"/>
          <a:srcRect l="0" r="0" t="0" b="0"/>
          <a:stretch/>
        </p:blipFill>
        <p:spPr>
          <a:xfrm>
            <a:off x="5461000" y="2416795"/>
            <a:ext cx="1244600" cy="101600"/>
          </a:xfrm>
          <a:prstGeom prst="rect">
            <a:avLst/>
          </a:prstGeom>
        </p:spPr>
      </p:pic>
      <p:pic>
        <p:nvPicPr>
          <p:cNvPr id="11" name="Image 2" descr="connector">    </p:cNvPr>
          <p:cNvPicPr>
            <a:picLocks noChangeAspect="1"/>
          </p:cNvPicPr>
          <p:nvPr/>
        </p:nvPicPr>
        <p:blipFill>
          <a:blip r:embed="rId3"/>
          <a:srcRect l="0" r="0" t="0" b="0"/>
          <a:stretch/>
        </p:blipFill>
        <p:spPr>
          <a:xfrm>
            <a:off x="8382000" y="2416795"/>
            <a:ext cx="1244600" cy="101600"/>
          </a:xfrm>
          <a:prstGeom prst="rect">
            <a:avLst/>
          </a:prstGeom>
        </p:spPr>
      </p:pic>
      <p:pic>
        <p:nvPicPr>
          <p:cNvPr id="12" name="Image 3" descr="connector">    </p:cNvPr>
          <p:cNvPicPr>
            <a:picLocks noChangeAspect="1"/>
          </p:cNvPicPr>
          <p:nvPr/>
        </p:nvPicPr>
        <p:blipFill>
          <a:blip r:embed="rId4"/>
          <a:srcRect l="0" r="0" t="0" b="0"/>
          <a:stretch/>
        </p:blipFill>
        <p:spPr>
          <a:xfrm>
            <a:off x="5461000" y="2766045"/>
            <a:ext cx="2133600" cy="1403350"/>
          </a:xfrm>
          <a:prstGeom prst="rect">
            <a:avLst/>
          </a:prstGeom>
        </p:spPr>
      </p:pic>
      <p:pic>
        <p:nvPicPr>
          <p:cNvPr id="13" name="Image 4" descr="connector">    </p:cNvPr>
          <p:cNvPicPr>
            <a:picLocks noChangeAspect="1"/>
          </p:cNvPicPr>
          <p:nvPr/>
        </p:nvPicPr>
        <p:blipFill>
          <a:blip r:embed="rId5"/>
          <a:srcRect l="0" r="0" t="0" b="0"/>
          <a:stretch/>
        </p:blipFill>
        <p:spPr>
          <a:xfrm>
            <a:off x="1651000" y="2766045"/>
            <a:ext cx="2133600" cy="1403350"/>
          </a:xfrm>
          <a:prstGeom prst="rect">
            <a:avLst/>
          </a:prstGeom>
        </p:spPr>
      </p:pic>
      <p:sp>
        <p:nvSpPr>
          <p:cNvPr id="14" name="Text 7"/>
          <p:cNvSpPr/>
          <p:nvPr/>
        </p:nvSpPr>
        <p:spPr>
          <a:xfrm>
            <a:off x="2654300" y="2531095"/>
            <a:ext cx="11303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Sal caliente</a:t>
            </a:r>
            <a:endParaRPr lang="en-US" sz="1200" dirty="0"/>
          </a:p>
        </p:txBody>
      </p:sp>
      <p:sp>
        <p:nvSpPr>
          <p:cNvPr id="15" name="Text 8"/>
          <p:cNvSpPr/>
          <p:nvPr/>
        </p:nvSpPr>
        <p:spPr>
          <a:xfrm>
            <a:off x="8496300" y="25310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6A5444"/>
                </a:solidFill>
                <a:latin typeface="Arial" pitchFamily="34" charset="0"/>
                <a:ea typeface="Arial" pitchFamily="34" charset="-122"/>
                <a:cs typeface="Arial" pitchFamily="34" charset="-120"/>
              </a:rPr>
              <a:t>Vapor</a:t>
            </a:r>
            <a:endParaRPr lang="en-US" sz="1200" dirty="0"/>
          </a:p>
        </p:txBody>
      </p:sp>
      <p:sp>
        <p:nvSpPr>
          <p:cNvPr id="16" name="Text 9"/>
          <p:cNvSpPr/>
          <p:nvPr/>
        </p:nvSpPr>
        <p:spPr>
          <a:xfrm>
            <a:off x="7639050" y="3324845"/>
            <a:ext cx="1447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Sal enfriada</a:t>
            </a:r>
            <a:endParaRPr lang="en-US" sz="1200" dirty="0"/>
          </a:p>
        </p:txBody>
      </p:sp>
      <p:sp>
        <p:nvSpPr>
          <p:cNvPr id="17" name="Text 10"/>
          <p:cNvSpPr/>
          <p:nvPr/>
        </p:nvSpPr>
        <p:spPr>
          <a:xfrm>
            <a:off x="1892300" y="4194795"/>
            <a:ext cx="183134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Sal fría bombeada</a:t>
            </a:r>
            <a:endParaRPr lang="en-US" sz="1200" dirty="0"/>
          </a:p>
        </p:txBody>
      </p:sp>
      <p:sp>
        <p:nvSpPr>
          <p:cNvPr id="18" name="Text 11"/>
          <p:cNvSpPr/>
          <p:nvPr/>
        </p:nvSpPr>
        <p:spPr>
          <a:xfrm>
            <a:off x="812800" y="4709145"/>
            <a:ext cx="10883392"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La sal se calienta de día y se guarda; la turbina puede funcionar de noche. Gemasolar opera 15 h sin sol («Gemasolar Thermosolar Plant», s. f.); VS1 (Australia) almacena 288 MWh y Yadnarie, en proyecto, 720 MWh (REN21, 2025).</a:t>
            </a:r>
            <a:endParaRPr lang="en-US" sz="1400" dirty="0"/>
          </a:p>
        </p:txBody>
      </p:sp>
      <p:sp>
        <p:nvSpPr>
          <p:cNvPr id="19" name="Text 12"/>
          <p:cNvSpPr/>
          <p:nvPr/>
        </p:nvSpPr>
        <p:spPr>
          <a:xfrm>
            <a:off x="812800" y="6238255"/>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REN21 (2025); «Gemasolar Thermosolar Plant» (s. f.). Esquema propio.</a:t>
            </a:r>
            <a:endParaRPr lang="en-US" sz="1200" dirty="0"/>
          </a:p>
        </p:txBody>
      </p:sp>
      <p:sp>
        <p:nvSpPr>
          <p:cNvPr id="20" name="Text 13"/>
          <p:cNvSpPr/>
          <p:nvPr/>
        </p:nvSpPr>
        <p:spPr>
          <a:xfrm>
            <a:off x="10972800" y="6238255"/>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35</a:t>
            </a:r>
            <a:endParaRPr lang="en-US" sz="12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7 · DIMENSIONADO · EJEMPLO, PARTE 1</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Vivienda en Barranquilla: energía y área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925566"/>
          <a:ext cx="10555979" cy="2222500"/>
        </p:xfrm>
        <a:graphic>
          <a:graphicData uri="http://schemas.openxmlformats.org/drawingml/2006/table">
            <a:tbl>
              <a:tblPr/>
              <a:tblGrid>
                <a:gridCol w="3800153"/>
                <a:gridCol w="2533435"/>
                <a:gridCol w="4222392"/>
              </a:tblGrid>
              <a:tr h="370417">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Dato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Valor</a:t>
                      </a:r>
                      <a:endParaRPr lang="en-US" sz="1350" dirty="0">
                        <a:latin typeface="Arial" charset="0"/>
                        <a:ea typeface="Arial" charset="0"/>
                        <a:cs typeface="Arial" charset="0"/>
                      </a:endParaRPr>
                    </a:p>
                  </a:txBody>
                  <a:tcPr marL="60007" marR="60007" marT="60007" marB="60007"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Nota</a:t>
                      </a:r>
                      <a:endParaRPr lang="en-US" sz="1350" dirty="0">
                        <a:latin typeface="Arial" charset="0"/>
                        <a:ea typeface="Arial" charset="0"/>
                        <a:cs typeface="Arial" charset="0"/>
                      </a:endParaRPr>
                    </a:p>
                  </a:txBody>
                  <a:tcPr marL="60007" marR="60007" marT="60007" marB="60007"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Personas y consumo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4 × 60 L/día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240 L/día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Temperatura de uso y de red</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50 °C y 28 °C</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ΔT = 22 K</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Irradiación H</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5,2 kWh/m²·día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Supuesto didáctico</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Eficiencia del colector</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0,69</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FR(τα) = 0,75, FRUL = 4,5, Ti = 40 °C</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Eficiencia del sistema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0,59</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0,69 × 0,85 de pérdidas</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4351263"/>
            <a:ext cx="5207000" cy="561975"/>
          </a:xfrm>
          <a:prstGeom prst="roundRect">
            <a:avLst>
              <a:gd name="adj" fmla="val 13559"/>
            </a:avLst>
          </a:prstGeom>
          <a:solidFill>
            <a:srgbClr val="2A1810"/>
          </a:solidFill>
          <a:ln/>
        </p:spPr>
        <p:txBody>
          <a:bodyPr wrap="square" lIns="130082" tIns="130082" rIns="0" bIns="104682" rtlCol="0" anchor="t">
            <a:normAutofit/>
          </a:bodyPr>
          <a:lstStyle/>
          <a:p>
            <a:pPr algn="l" indent="0" marL="0">
              <a:lnSpc>
                <a:spcPts val="2025"/>
              </a:lnSpc>
              <a:buNone/>
            </a:pPr>
            <a:r>
              <a:rPr lang="en-US" sz="1500" dirty="0">
                <a:solidFill>
                  <a:srgbClr val="FBF4E8"/>
                </a:solidFill>
                <a:latin typeface="Arial" pitchFamily="34" charset="0"/>
                <a:ea typeface="Arial" pitchFamily="34" charset="-122"/>
                <a:cs typeface="Arial" pitchFamily="34" charset="-120"/>
              </a:rPr>
              <a:t>Q = 240 · 4,186 · 22 / 3600 = </a:t>
            </a:r>
            <a:r>
              <a:rPr lang="en-US" sz="1500" b="1" dirty="0">
                <a:solidFill>
                  <a:srgbClr val="FFB347"/>
                </a:solidFill>
                <a:latin typeface="Arial" pitchFamily="34" charset="0"/>
                <a:ea typeface="Arial" pitchFamily="34" charset="-122"/>
                <a:cs typeface="Arial" pitchFamily="34" charset="-120"/>
              </a:rPr>
              <a:t>6,14 kWh/día</a:t>
            </a:r>
            <a:endParaRPr lang="en-US" sz="1500" dirty="0"/>
          </a:p>
        </p:txBody>
      </p:sp>
      <p:sp>
        <p:nvSpPr>
          <p:cNvPr id="6" name="Text 3"/>
          <p:cNvSpPr/>
          <p:nvPr/>
        </p:nvSpPr>
        <p:spPr>
          <a:xfrm>
            <a:off x="6172200" y="4351263"/>
            <a:ext cx="5207000" cy="561975"/>
          </a:xfrm>
          <a:prstGeom prst="roundRect">
            <a:avLst>
              <a:gd name="adj" fmla="val 13559"/>
            </a:avLst>
          </a:prstGeom>
          <a:solidFill>
            <a:srgbClr val="2A1810"/>
          </a:solidFill>
          <a:ln/>
        </p:spPr>
        <p:txBody>
          <a:bodyPr wrap="square" lIns="130082" tIns="130082" rIns="0" bIns="104682" rtlCol="0" anchor="t">
            <a:normAutofit/>
          </a:bodyPr>
          <a:lstStyle/>
          <a:p>
            <a:pPr algn="l" indent="0" marL="0">
              <a:lnSpc>
                <a:spcPts val="2025"/>
              </a:lnSpc>
              <a:buNone/>
            </a:pPr>
            <a:r>
              <a:rPr lang="en-US" sz="1500" dirty="0">
                <a:solidFill>
                  <a:srgbClr val="FBF4E8"/>
                </a:solidFill>
                <a:latin typeface="Arial" pitchFamily="34" charset="0"/>
                <a:ea typeface="Arial" pitchFamily="34" charset="-122"/>
                <a:cs typeface="Arial" pitchFamily="34" charset="-120"/>
              </a:rPr>
              <a:t>A = 0,8 · 6,14 / (5,2 · 0,59) = </a:t>
            </a:r>
            <a:r>
              <a:rPr lang="en-US" sz="1500" b="1" dirty="0">
                <a:solidFill>
                  <a:srgbClr val="FFB347"/>
                </a:solidFill>
                <a:latin typeface="Arial" pitchFamily="34" charset="0"/>
                <a:ea typeface="Arial" pitchFamily="34" charset="-122"/>
                <a:cs typeface="Arial" pitchFamily="34" charset="-120"/>
              </a:rPr>
              <a:t>1,6 m²</a:t>
            </a:r>
            <a:endParaRPr lang="en-US" sz="1500" dirty="0"/>
          </a:p>
        </p:txBody>
      </p:sp>
      <p:sp>
        <p:nvSpPr>
          <p:cNvPr id="7" name="Text 4"/>
          <p:cNvSpPr/>
          <p:nvPr/>
        </p:nvSpPr>
        <p:spPr>
          <a:xfrm>
            <a:off x="812800" y="5116438"/>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Con f = 1 serían 2,0 m². Se escoge f = 0,8 para no sobredimensionar.</a:t>
            </a:r>
            <a:endParaRPr lang="en-US" sz="1400" dirty="0"/>
          </a:p>
        </p:txBody>
      </p:sp>
      <p:sp>
        <p:nvSpPr>
          <p:cNvPr id="8" name="Text 5"/>
          <p:cNvSpPr/>
          <p:nvPr/>
        </p:nvSpPr>
        <p:spPr>
          <a:xfrm>
            <a:off x="812800" y="6238255"/>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Método tomado de Duffie et al. (2020); H por verificar en Banco Mundial y Solargis (s. f.). Cálculo propio.</a:t>
            </a:r>
            <a:endParaRPr lang="en-US" sz="1200" dirty="0"/>
          </a:p>
        </p:txBody>
      </p:sp>
      <p:sp>
        <p:nvSpPr>
          <p:cNvPr id="9" name="Text 6"/>
          <p:cNvSpPr/>
          <p:nvPr/>
        </p:nvSpPr>
        <p:spPr>
          <a:xfrm>
            <a:off x="10972800" y="6238255"/>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37</a:t>
            </a:r>
            <a:endParaRPr lang="en-US" sz="12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7 · DIMENSIONADO · EJEMPLO, PARTE 2</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Del cálculo al equipo que se compra</a:t>
            </a:r>
            <a:endParaRPr lang="en-US" sz="3200" dirty="0"/>
          </a:p>
        </p:txBody>
      </p:sp>
      <p:sp>
        <p:nvSpPr>
          <p:cNvPr id="4" name="Shape 2"/>
          <p:cNvSpPr/>
          <p:nvPr/>
        </p:nvSpPr>
        <p:spPr>
          <a:xfrm>
            <a:off x="815975" y="1918320"/>
            <a:ext cx="3414183" cy="1829207"/>
          </a:xfrm>
          <a:prstGeom prst="roundRect">
            <a:avLst>
              <a:gd name="adj" fmla="val 5381"/>
            </a:avLst>
          </a:prstGeom>
          <a:solidFill>
            <a:srgbClr val="FFFFFF"/>
          </a:solidFill>
          <a:ln w="6350">
            <a:solidFill>
              <a:srgbClr val="EADBC4"/>
            </a:solidFill>
            <a:prstDash val="solid"/>
          </a:ln>
        </p:spPr>
      </p:sp>
      <p:sp>
        <p:nvSpPr>
          <p:cNvPr id="5" name="Text 3"/>
          <p:cNvSpPr/>
          <p:nvPr/>
        </p:nvSpPr>
        <p:spPr>
          <a:xfrm>
            <a:off x="1021210"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Colector</a:t>
            </a:r>
            <a:endParaRPr lang="en-US" sz="1600" dirty="0"/>
          </a:p>
        </p:txBody>
      </p:sp>
      <p:sp>
        <p:nvSpPr>
          <p:cNvPr id="6" name="Text 4"/>
          <p:cNvSpPr/>
          <p:nvPr/>
        </p:nvSpPr>
        <p:spPr>
          <a:xfrm>
            <a:off x="1021210" y="2443584"/>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1 colector plano de 1,85 m² de apertura.</a:t>
            </a:r>
            <a:endParaRPr lang="en-US" sz="1350" dirty="0"/>
          </a:p>
        </p:txBody>
      </p:sp>
      <p:sp>
        <p:nvSpPr>
          <p:cNvPr id="7" name="Text 5"/>
          <p:cNvSpPr/>
          <p:nvPr/>
        </p:nvSpPr>
        <p:spPr>
          <a:xfrm>
            <a:off x="1021210" y="2992934"/>
            <a:ext cx="3205773"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Aporte: 1,85 · 5,2 · 0,59 = </a:t>
            </a:r>
            <a:r>
              <a:rPr lang="en-US" sz="1350" b="1" dirty="0">
                <a:solidFill>
                  <a:srgbClr val="2A1810"/>
                </a:solidFill>
                <a:latin typeface="Arial" pitchFamily="34" charset="0"/>
                <a:ea typeface="Arial" pitchFamily="34" charset="-122"/>
                <a:cs typeface="Arial" pitchFamily="34" charset="-120"/>
              </a:rPr>
              <a:t>5,67 kWh/día</a:t>
            </a:r>
            <a:endParaRPr lang="en-US" sz="1350" dirty="0"/>
          </a:p>
        </p:txBody>
      </p:sp>
      <p:sp>
        <p:nvSpPr>
          <p:cNvPr id="8" name="Text 6"/>
          <p:cNvSpPr/>
          <p:nvPr/>
        </p:nvSpPr>
        <p:spPr>
          <a:xfrm>
            <a:off x="1021210" y="3305696"/>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f = 5,67 / 6,14 = </a:t>
            </a:r>
            <a:r>
              <a:rPr lang="en-US" sz="1350" b="1" dirty="0">
                <a:solidFill>
                  <a:srgbClr val="2A1810"/>
                </a:solidFill>
                <a:latin typeface="Arial" pitchFamily="34" charset="0"/>
                <a:ea typeface="Arial" pitchFamily="34" charset="-122"/>
                <a:cs typeface="Arial" pitchFamily="34" charset="-120"/>
              </a:rPr>
              <a:t>0,92</a:t>
            </a:r>
            <a:endParaRPr lang="en-US" sz="1350" dirty="0"/>
          </a:p>
        </p:txBody>
      </p:sp>
      <p:sp>
        <p:nvSpPr>
          <p:cNvPr id="9" name="Shape 7"/>
          <p:cNvSpPr/>
          <p:nvPr/>
        </p:nvSpPr>
        <p:spPr>
          <a:xfrm>
            <a:off x="4388908" y="1918320"/>
            <a:ext cx="3414183" cy="1829207"/>
          </a:xfrm>
          <a:prstGeom prst="roundRect">
            <a:avLst>
              <a:gd name="adj" fmla="val 5381"/>
            </a:avLst>
          </a:prstGeom>
          <a:solidFill>
            <a:srgbClr val="FFFFFF"/>
          </a:solidFill>
          <a:ln w="6350">
            <a:solidFill>
              <a:srgbClr val="EADBC4"/>
            </a:solidFill>
            <a:prstDash val="solid"/>
          </a:ln>
        </p:spPr>
      </p:sp>
      <p:sp>
        <p:nvSpPr>
          <p:cNvPr id="10" name="Text 8"/>
          <p:cNvSpPr/>
          <p:nvPr/>
        </p:nvSpPr>
        <p:spPr>
          <a:xfrm>
            <a:off x="4594144"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Tanque</a:t>
            </a:r>
            <a:endParaRPr lang="en-US" sz="1600" dirty="0"/>
          </a:p>
        </p:txBody>
      </p:sp>
      <p:sp>
        <p:nvSpPr>
          <p:cNvPr id="11" name="Text 9"/>
          <p:cNvSpPr/>
          <p:nvPr/>
        </p:nvSpPr>
        <p:spPr>
          <a:xfrm>
            <a:off x="4594144" y="2443584"/>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Rango: 1 a 1,5 × 240 L = 240 a 360 L.</a:t>
            </a:r>
            <a:endParaRPr lang="en-US" sz="1350" dirty="0"/>
          </a:p>
        </p:txBody>
      </p:sp>
      <p:sp>
        <p:nvSpPr>
          <p:cNvPr id="12" name="Text 10"/>
          <p:cNvSpPr/>
          <p:nvPr/>
        </p:nvSpPr>
        <p:spPr>
          <a:xfrm>
            <a:off x="4594144" y="2756346"/>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Se elige </a:t>
            </a:r>
            <a:r>
              <a:rPr lang="en-US" sz="1350" b="1" dirty="0">
                <a:solidFill>
                  <a:srgbClr val="2A1810"/>
                </a:solidFill>
                <a:latin typeface="Arial" pitchFamily="34" charset="0"/>
                <a:ea typeface="Arial" pitchFamily="34" charset="-122"/>
                <a:cs typeface="Arial" pitchFamily="34" charset="-120"/>
              </a:rPr>
              <a:t>250 L</a:t>
            </a:r>
            <a:r>
              <a:rPr lang="en-US" sz="1350" dirty="0">
                <a:solidFill>
                  <a:srgbClr val="2A1810"/>
                </a:solidFill>
                <a:latin typeface="Arial" pitchFamily="34" charset="0"/>
                <a:ea typeface="Arial" pitchFamily="34" charset="-122"/>
                <a:cs typeface="Arial" pitchFamily="34" charset="-120"/>
              </a:rPr>
              <a:t>, unos 135 L por m².</a:t>
            </a:r>
            <a:endParaRPr lang="en-US" sz="1350" dirty="0"/>
          </a:p>
        </p:txBody>
      </p:sp>
      <p:sp>
        <p:nvSpPr>
          <p:cNvPr id="13" name="Text 11"/>
          <p:cNvSpPr/>
          <p:nvPr/>
        </p:nvSpPr>
        <p:spPr>
          <a:xfrm>
            <a:off x="4594144" y="3069134"/>
            <a:ext cx="3093824" cy="261978"/>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Guarda 6,4 kWh con ΔT = 22 K.</a:t>
            </a:r>
            <a:endParaRPr lang="en-US" sz="1350" dirty="0"/>
          </a:p>
        </p:txBody>
      </p:sp>
      <p:sp>
        <p:nvSpPr>
          <p:cNvPr id="14" name="Shape 12"/>
          <p:cNvSpPr/>
          <p:nvPr/>
        </p:nvSpPr>
        <p:spPr>
          <a:xfrm>
            <a:off x="7961842" y="1918320"/>
            <a:ext cx="3414183" cy="1829207"/>
          </a:xfrm>
          <a:prstGeom prst="roundRect">
            <a:avLst>
              <a:gd name="adj" fmla="val 5381"/>
            </a:avLst>
          </a:prstGeom>
          <a:solidFill>
            <a:srgbClr val="FFFFFF"/>
          </a:solidFill>
          <a:ln w="6350">
            <a:solidFill>
              <a:srgbClr val="EADBC4"/>
            </a:solidFill>
            <a:prstDash val="solid"/>
          </a:ln>
        </p:spPr>
      </p:sp>
      <p:sp>
        <p:nvSpPr>
          <p:cNvPr id="15" name="Text 13"/>
          <p:cNvSpPr/>
          <p:nvPr/>
        </p:nvSpPr>
        <p:spPr>
          <a:xfrm>
            <a:off x="8167077"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Caudal</a:t>
            </a:r>
            <a:endParaRPr lang="en-US" sz="1600" dirty="0"/>
          </a:p>
        </p:txBody>
      </p:sp>
      <p:sp>
        <p:nvSpPr>
          <p:cNvPr id="16" name="Text 14"/>
          <p:cNvSpPr/>
          <p:nvPr/>
        </p:nvSpPr>
        <p:spPr>
          <a:xfrm>
            <a:off x="8167077" y="2443584"/>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0,015 kg/s por m² → 0,028 kg/s, unos 100 kg/h.</a:t>
            </a:r>
            <a:endParaRPr lang="en-US" sz="1350" dirty="0"/>
          </a:p>
        </p:txBody>
      </p:sp>
      <p:sp>
        <p:nvSpPr>
          <p:cNvPr id="17" name="Text 15"/>
          <p:cNvSpPr/>
          <p:nvPr/>
        </p:nvSpPr>
        <p:spPr>
          <a:xfrm>
            <a:off x="8167077" y="2992934"/>
            <a:ext cx="3093824" cy="498556"/>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Con Qu = 1,03 kW el agua sube </a:t>
            </a:r>
            <a:r>
              <a:rPr lang="en-US" sz="1350" b="1" dirty="0">
                <a:solidFill>
                  <a:srgbClr val="2A1810"/>
                </a:solidFill>
                <a:latin typeface="Arial" pitchFamily="34" charset="0"/>
                <a:ea typeface="Arial" pitchFamily="34" charset="-122"/>
                <a:cs typeface="Arial" pitchFamily="34" charset="-120"/>
              </a:rPr>
              <a:t>8,8 K</a:t>
            </a:r>
            <a:r>
              <a:rPr lang="en-US" sz="1350" dirty="0">
                <a:solidFill>
                  <a:srgbClr val="2A1810"/>
                </a:solidFill>
                <a:latin typeface="Arial" pitchFamily="34" charset="0"/>
                <a:ea typeface="Arial" pitchFamily="34" charset="-122"/>
                <a:cs typeface="Arial" pitchFamily="34" charset="-120"/>
              </a:rPr>
              <a:t> por paso.</a:t>
            </a:r>
            <a:endParaRPr lang="en-US" sz="1350" dirty="0"/>
          </a:p>
        </p:txBody>
      </p:sp>
      <p:sp>
        <p:nvSpPr>
          <p:cNvPr id="18" name="Text 16"/>
          <p:cNvSpPr/>
          <p:nvPr/>
        </p:nvSpPr>
        <p:spPr>
          <a:xfrm>
            <a:off x="812800" y="3953892"/>
            <a:ext cx="10566400" cy="838200"/>
          </a:xfrm>
          <a:prstGeom prst="roundRect">
            <a:avLst>
              <a:gd name="adj" fmla="val 9091"/>
            </a:avLst>
          </a:prstGeom>
          <a:solidFill>
            <a:srgbClr val="2A1810"/>
          </a:solidFill>
          <a:ln/>
        </p:spPr>
        <p:txBody>
          <a:bodyPr wrap="square" lIns="130082" tIns="130082" rIns="0" bIns="104682"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Resultado: termosifón directo, 1 colector y tanque de 250 L. El sol aporta unos </a:t>
            </a:r>
            <a:r>
              <a:rPr lang="en-US" sz="1500" b="1" dirty="0">
                <a:solidFill>
                  <a:srgbClr val="FFB347"/>
                </a:solidFill>
                <a:latin typeface="Arial" pitchFamily="34" charset="0"/>
                <a:ea typeface="Arial" pitchFamily="34" charset="-122"/>
                <a:cs typeface="Arial" pitchFamily="34" charset="-120"/>
              </a:rPr>
              <a:t>2070 kWh al año</a:t>
            </a:r>
            <a:r>
              <a:rPr lang="en-US" sz="1500" dirty="0">
                <a:solidFill>
                  <a:srgbClr val="FBF4E8"/>
                </a:solidFill>
                <a:latin typeface="Arial" pitchFamily="34" charset="0"/>
                <a:ea typeface="Arial" pitchFamily="34" charset="-122"/>
                <a:cs typeface="Arial" pitchFamily="34" charset="-120"/>
              </a:rPr>
              <a:t>; el apoyo eléctrico cubre cerca de 0,5 kWh/día.</a:t>
            </a:r>
            <a:endParaRPr lang="en-US" sz="1500" dirty="0"/>
          </a:p>
        </p:txBody>
      </p:sp>
      <p:sp>
        <p:nvSpPr>
          <p:cNvPr id="19" name="Text 17"/>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Método tomado de Duffie et al. (2020) y Kalogirou (2009). Equipo genérico; cálculo propio.</a:t>
            </a:r>
            <a:endParaRPr lang="en-US" sz="1200" dirty="0"/>
          </a:p>
        </p:txBody>
      </p:sp>
      <p:sp>
        <p:nvSpPr>
          <p:cNvPr id="20" name="Text 18"/>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38</a:t>
            </a:r>
            <a:endParaRPr lang="en-US" sz="12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7 · SENSIBILIDAD DEL DISEÑO</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El dato de radiación cambia el área</a:t>
            </a:r>
            <a:endParaRPr lang="en-US" sz="3200" dirty="0"/>
          </a:p>
        </p:txBody>
      </p:sp>
      <p:sp>
        <p:nvSpPr>
          <p:cNvPr id="4" name="Shape 2"/>
          <p:cNvSpPr/>
          <p:nvPr/>
        </p:nvSpPr>
        <p:spPr>
          <a:xfrm>
            <a:off x="815975" y="1918320"/>
            <a:ext cx="6343650" cy="3232150"/>
          </a:xfrm>
          <a:prstGeom prst="roundRect">
            <a:avLst>
              <a:gd name="adj" fmla="val 3045"/>
            </a:avLst>
          </a:prstGeom>
          <a:solidFill>
            <a:srgbClr val="FFFFFF"/>
          </a:solidFill>
          <a:ln w="6350">
            <a:solidFill>
              <a:srgbClr val="EADBC4"/>
            </a:solidFill>
            <a:prstDash val="solid"/>
          </a:ln>
        </p:spPr>
      </p:sp>
      <p:pic>
        <p:nvPicPr>
          <p:cNvPr id="5" name="Image 0" descr="Área de colector necesaria según la irradiación: 1,85 m² con 4,5; 1,67 con 5,0; 1,60 con 5,2; 1,51 con 5,5; 1,39 con 6,0">    </p:cNvPr>
          <p:cNvPicPr>
            <a:picLocks noChangeAspect="1"/>
          </p:cNvPicPr>
          <p:nvPr/>
        </p:nvPicPr>
        <p:blipFill>
          <a:blip r:embed="rId1"/>
          <a:srcRect l="0" r="0" t="0" b="0"/>
          <a:stretch/>
        </p:blipFill>
        <p:spPr>
          <a:xfrm>
            <a:off x="812800" y="1915145"/>
            <a:ext cx="6350000" cy="3238500"/>
          </a:xfrm>
          <a:prstGeom prst="rect">
            <a:avLst/>
          </a:prstGeom>
        </p:spPr>
      </p:pic>
      <p:sp>
        <p:nvSpPr>
          <p:cNvPr id="6" name="Text 3"/>
          <p:cNvSpPr/>
          <p:nvPr/>
        </p:nvSpPr>
        <p:spPr>
          <a:xfrm>
            <a:off x="1358900" y="22072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1,85 m²</a:t>
            </a:r>
            <a:endParaRPr lang="en-US" sz="1300" dirty="0"/>
          </a:p>
        </p:txBody>
      </p:sp>
      <p:sp>
        <p:nvSpPr>
          <p:cNvPr id="7" name="Text 4"/>
          <p:cNvSpPr/>
          <p:nvPr/>
        </p:nvSpPr>
        <p:spPr>
          <a:xfrm>
            <a:off x="1358900" y="46583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4,5</a:t>
            </a:r>
            <a:endParaRPr lang="en-US" sz="1300" dirty="0"/>
          </a:p>
        </p:txBody>
      </p:sp>
      <p:sp>
        <p:nvSpPr>
          <p:cNvPr id="8" name="Text 5"/>
          <p:cNvSpPr/>
          <p:nvPr/>
        </p:nvSpPr>
        <p:spPr>
          <a:xfrm>
            <a:off x="2438400" y="24231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1,67 m²</a:t>
            </a:r>
            <a:endParaRPr lang="en-US" sz="1300" dirty="0"/>
          </a:p>
        </p:txBody>
      </p:sp>
      <p:sp>
        <p:nvSpPr>
          <p:cNvPr id="9" name="Text 6"/>
          <p:cNvSpPr/>
          <p:nvPr/>
        </p:nvSpPr>
        <p:spPr>
          <a:xfrm>
            <a:off x="2438400" y="46583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5,0</a:t>
            </a:r>
            <a:endParaRPr lang="en-US" sz="1300" dirty="0"/>
          </a:p>
        </p:txBody>
      </p:sp>
      <p:sp>
        <p:nvSpPr>
          <p:cNvPr id="10" name="Text 7"/>
          <p:cNvSpPr/>
          <p:nvPr/>
        </p:nvSpPr>
        <p:spPr>
          <a:xfrm>
            <a:off x="3517900" y="249299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1,60 m²</a:t>
            </a:r>
            <a:endParaRPr lang="en-US" sz="1300" dirty="0"/>
          </a:p>
        </p:txBody>
      </p:sp>
      <p:sp>
        <p:nvSpPr>
          <p:cNvPr id="11" name="Text 8"/>
          <p:cNvSpPr/>
          <p:nvPr/>
        </p:nvSpPr>
        <p:spPr>
          <a:xfrm>
            <a:off x="3517900" y="46583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5,2</a:t>
            </a:r>
            <a:endParaRPr lang="en-US" sz="1300" dirty="0"/>
          </a:p>
        </p:txBody>
      </p:sp>
      <p:sp>
        <p:nvSpPr>
          <p:cNvPr id="12" name="Text 9"/>
          <p:cNvSpPr/>
          <p:nvPr/>
        </p:nvSpPr>
        <p:spPr>
          <a:xfrm>
            <a:off x="4597400" y="259459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1,51 m²</a:t>
            </a:r>
            <a:endParaRPr lang="en-US" sz="1300" dirty="0"/>
          </a:p>
        </p:txBody>
      </p:sp>
      <p:sp>
        <p:nvSpPr>
          <p:cNvPr id="13" name="Text 10"/>
          <p:cNvSpPr/>
          <p:nvPr/>
        </p:nvSpPr>
        <p:spPr>
          <a:xfrm>
            <a:off x="4597400" y="46583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5,5</a:t>
            </a:r>
            <a:endParaRPr lang="en-US" sz="1300" dirty="0"/>
          </a:p>
        </p:txBody>
      </p:sp>
      <p:sp>
        <p:nvSpPr>
          <p:cNvPr id="14" name="Text 11"/>
          <p:cNvSpPr/>
          <p:nvPr/>
        </p:nvSpPr>
        <p:spPr>
          <a:xfrm>
            <a:off x="5676900" y="27406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1,39 m²</a:t>
            </a:r>
            <a:endParaRPr lang="en-US" sz="1300" dirty="0"/>
          </a:p>
        </p:txBody>
      </p:sp>
      <p:sp>
        <p:nvSpPr>
          <p:cNvPr id="15" name="Text 12"/>
          <p:cNvSpPr/>
          <p:nvPr/>
        </p:nvSpPr>
        <p:spPr>
          <a:xfrm>
            <a:off x="5676900" y="4658345"/>
            <a:ext cx="1003300" cy="223512"/>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1810"/>
                </a:solidFill>
                <a:latin typeface="Arial" pitchFamily="34" charset="0"/>
                <a:ea typeface="Arial" pitchFamily="34" charset="-122"/>
                <a:cs typeface="Arial" pitchFamily="34" charset="-120"/>
              </a:rPr>
              <a:t>6,0</a:t>
            </a:r>
            <a:endParaRPr lang="en-US" sz="1300" dirty="0"/>
          </a:p>
        </p:txBody>
      </p:sp>
      <p:sp>
        <p:nvSpPr>
          <p:cNvPr id="16" name="Text 13"/>
          <p:cNvSpPr/>
          <p:nvPr/>
        </p:nvSpPr>
        <p:spPr>
          <a:xfrm>
            <a:off x="2025650" y="4937745"/>
            <a:ext cx="3924300" cy="208247"/>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2A1810"/>
                </a:solidFill>
                <a:latin typeface="Arial" pitchFamily="34" charset="0"/>
                <a:ea typeface="Arial" pitchFamily="34" charset="-122"/>
                <a:cs typeface="Arial" pitchFamily="34" charset="-120"/>
              </a:rPr>
              <a:t>Irradiación H (kWh/m²·día)</a:t>
            </a:r>
            <a:endParaRPr lang="en-US" sz="1200" dirty="0"/>
          </a:p>
        </p:txBody>
      </p:sp>
      <p:sp>
        <p:nvSpPr>
          <p:cNvPr id="17" name="Text 14"/>
          <p:cNvSpPr/>
          <p:nvPr/>
        </p:nvSpPr>
        <p:spPr>
          <a:xfrm>
            <a:off x="7467600" y="1915145"/>
            <a:ext cx="402894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Misma vivienda, f = 0,8 y ηsis = 0,59; solo cambia H.</a:t>
            </a:r>
            <a:endParaRPr lang="en-US" sz="1400" dirty="0"/>
          </a:p>
        </p:txBody>
      </p:sp>
      <p:sp>
        <p:nvSpPr>
          <p:cNvPr id="18" name="Text 15"/>
          <p:cNvSpPr/>
          <p:nvPr/>
        </p:nvSpPr>
        <p:spPr>
          <a:xfrm>
            <a:off x="7467600" y="2545507"/>
            <a:ext cx="4028948"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Un error de 0,7 kWh/m²·día en H cambia el área en un 15 %.</a:t>
            </a:r>
            <a:endParaRPr lang="en-US" sz="1400" dirty="0"/>
          </a:p>
        </p:txBody>
      </p:sp>
      <p:sp>
        <p:nvSpPr>
          <p:cNvPr id="19" name="Text 16"/>
          <p:cNvSpPr/>
          <p:nvPr/>
        </p:nvSpPr>
        <p:spPr>
          <a:xfrm>
            <a:off x="7467600" y="3175868"/>
            <a:ext cx="4028948"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Por eso el dato del sitio debe venir de una fuente medida: IDEAM (IDEAM y UPME, 2005) o Global Solar Atlas (Banco Mundial y Solargis, s. f.).</a:t>
            </a:r>
            <a:endParaRPr lang="en-US" sz="1400" dirty="0"/>
          </a:p>
        </p:txBody>
      </p:sp>
      <p:sp>
        <p:nvSpPr>
          <p:cNvPr id="20" name="Text 17"/>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Método tomado de Duffie et al. (2020); IDEAM y UPME (2005); Banco Mundial y Solargis (s. f.).</a:t>
            </a:r>
            <a:endParaRPr lang="en-US" sz="1200" dirty="0"/>
          </a:p>
        </p:txBody>
      </p:sp>
      <p:sp>
        <p:nvSpPr>
          <p:cNvPr id="21" name="Text 18"/>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39</a:t>
            </a:r>
            <a:endParaRPr lang="en-US" sz="12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8 · VENTAJAS, DESVENTAJAS Y LIMITACIONES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Lo bueno, lo malo y lo que limita</a:t>
            </a:r>
            <a:endParaRPr lang="en-US" sz="3200" dirty="0"/>
          </a:p>
        </p:txBody>
      </p:sp>
      <p:sp>
        <p:nvSpPr>
          <p:cNvPr id="4" name="Shape 2"/>
          <p:cNvSpPr/>
          <p:nvPr/>
        </p:nvSpPr>
        <p:spPr>
          <a:xfrm>
            <a:off x="812800" y="1915145"/>
            <a:ext cx="3420533" cy="2701437"/>
          </a:xfrm>
          <a:prstGeom prst="roundRect">
            <a:avLst>
              <a:gd name="adj" fmla="val 3761"/>
            </a:avLst>
          </a:prstGeom>
          <a:solidFill>
            <a:srgbClr val="44261A"/>
          </a:solidFill>
          <a:ln/>
        </p:spPr>
      </p:sp>
      <p:sp>
        <p:nvSpPr>
          <p:cNvPr id="5" name="Text 3"/>
          <p:cNvSpPr/>
          <p:nvPr/>
        </p:nvSpPr>
        <p:spPr>
          <a:xfrm>
            <a:off x="1016000" y="2118345"/>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Ventajas</a:t>
            </a:r>
            <a:endParaRPr lang="en-US" sz="1600" dirty="0"/>
          </a:p>
        </p:txBody>
      </p:sp>
      <p:sp>
        <p:nvSpPr>
          <p:cNvPr id="6" name="Text 4"/>
          <p:cNvSpPr/>
          <p:nvPr/>
        </p:nvSpPr>
        <p:spPr>
          <a:xfrm>
            <a:off x="1016000" y="2438350"/>
            <a:ext cx="3104557"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Convierte luz en calor con eficiencias de 50 a 70 % en el colector (Duffie et al., 2020).</a:t>
            </a:r>
            <a:endParaRPr lang="en-US" sz="1300" dirty="0"/>
          </a:p>
        </p:txBody>
      </p:sp>
      <p:sp>
        <p:nvSpPr>
          <p:cNvPr id="7" name="Text 5"/>
          <p:cNvSpPr/>
          <p:nvPr/>
        </p:nvSpPr>
        <p:spPr>
          <a:xfrm>
            <a:off x="1016000" y="3198044"/>
            <a:ext cx="3104557"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Tecnología simple y madura; el termosifón no usa bomba (Kalogirou, 2009).</a:t>
            </a:r>
            <a:endParaRPr lang="en-US" sz="1300" dirty="0"/>
          </a:p>
        </p:txBody>
      </p:sp>
      <p:sp>
        <p:nvSpPr>
          <p:cNvPr id="8" name="Text 6"/>
          <p:cNvSpPr/>
          <p:nvPr/>
        </p:nvSpPr>
        <p:spPr>
          <a:xfrm>
            <a:off x="1016000" y="3957712"/>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Guardar calor es más barato que guardar electricidad (Kalogirou, 2009).</a:t>
            </a:r>
            <a:endParaRPr lang="en-US" sz="1300" dirty="0"/>
          </a:p>
        </p:txBody>
      </p:sp>
      <p:sp>
        <p:nvSpPr>
          <p:cNvPr id="9" name="Shape 7"/>
          <p:cNvSpPr/>
          <p:nvPr/>
        </p:nvSpPr>
        <p:spPr>
          <a:xfrm>
            <a:off x="4385733" y="1915145"/>
            <a:ext cx="3420533" cy="2701437"/>
          </a:xfrm>
          <a:prstGeom prst="roundRect">
            <a:avLst>
              <a:gd name="adj" fmla="val 3761"/>
            </a:avLst>
          </a:prstGeom>
          <a:solidFill>
            <a:srgbClr val="44261A"/>
          </a:solidFill>
          <a:ln/>
        </p:spPr>
      </p:sp>
      <p:sp>
        <p:nvSpPr>
          <p:cNvPr id="10" name="Text 8"/>
          <p:cNvSpPr/>
          <p:nvPr/>
        </p:nvSpPr>
        <p:spPr>
          <a:xfrm>
            <a:off x="4588933" y="2118345"/>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Desventajas</a:t>
            </a:r>
            <a:endParaRPr lang="en-US" sz="1600" dirty="0"/>
          </a:p>
        </p:txBody>
      </p:sp>
      <p:sp>
        <p:nvSpPr>
          <p:cNvPr id="11" name="Text 9"/>
          <p:cNvSpPr/>
          <p:nvPr/>
        </p:nvSpPr>
        <p:spPr>
          <a:xfrm>
            <a:off x="4588933" y="2438350"/>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El calor no viaja lejos: se usa cerca de donde se produce (Kalogirou, 2009).</a:t>
            </a:r>
            <a:endParaRPr lang="en-US" sz="1300" dirty="0"/>
          </a:p>
        </p:txBody>
      </p:sp>
      <p:sp>
        <p:nvSpPr>
          <p:cNvPr id="12" name="Text 10"/>
          <p:cNvSpPr/>
          <p:nvPr/>
        </p:nvSpPr>
        <p:spPr>
          <a:xfrm>
            <a:off x="4588933" y="2970213"/>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Necesita respaldo en días nublados (Duffie et al., 2020).</a:t>
            </a:r>
            <a:endParaRPr lang="en-US" sz="1300" dirty="0"/>
          </a:p>
        </p:txBody>
      </p:sp>
      <p:sp>
        <p:nvSpPr>
          <p:cNvPr id="13" name="Text 11"/>
          <p:cNvSpPr/>
          <p:nvPr/>
        </p:nvSpPr>
        <p:spPr>
          <a:xfrm>
            <a:off x="4588933" y="3502075"/>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Incrustaciones con agua dura; corrosión cerca del mar (Kalogirou, 2009).</a:t>
            </a:r>
            <a:endParaRPr lang="en-US" sz="1300" dirty="0"/>
          </a:p>
        </p:txBody>
      </p:sp>
      <p:sp>
        <p:nvSpPr>
          <p:cNvPr id="14" name="Shape 12"/>
          <p:cNvSpPr/>
          <p:nvPr/>
        </p:nvSpPr>
        <p:spPr>
          <a:xfrm>
            <a:off x="7958667" y="1915145"/>
            <a:ext cx="3420533" cy="2701437"/>
          </a:xfrm>
          <a:prstGeom prst="roundRect">
            <a:avLst>
              <a:gd name="adj" fmla="val 3761"/>
            </a:avLst>
          </a:prstGeom>
          <a:solidFill>
            <a:srgbClr val="44261A"/>
          </a:solidFill>
          <a:ln/>
        </p:spPr>
      </p:sp>
      <p:sp>
        <p:nvSpPr>
          <p:cNvPr id="15" name="Text 13"/>
          <p:cNvSpPr/>
          <p:nvPr/>
        </p:nvSpPr>
        <p:spPr>
          <a:xfrm>
            <a:off x="8161867" y="2118345"/>
            <a:ext cx="3104557"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Limitaciones</a:t>
            </a:r>
            <a:endParaRPr lang="en-US" sz="1600" dirty="0"/>
          </a:p>
        </p:txBody>
      </p:sp>
      <p:sp>
        <p:nvSpPr>
          <p:cNvPr id="16" name="Text 14"/>
          <p:cNvSpPr/>
          <p:nvPr/>
        </p:nvSpPr>
        <p:spPr>
          <a:xfrm>
            <a:off x="8161867" y="2438350"/>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La CSP requiere radiación directa alta y mucho terreno (REN21, 2025).</a:t>
            </a:r>
            <a:endParaRPr lang="en-US" sz="1300" dirty="0"/>
          </a:p>
        </p:txBody>
      </p:sp>
      <p:sp>
        <p:nvSpPr>
          <p:cNvPr id="17" name="Text 15"/>
          <p:cNvSpPr/>
          <p:nvPr/>
        </p:nvSpPr>
        <p:spPr>
          <a:xfrm>
            <a:off x="8161867" y="2970213"/>
            <a:ext cx="3104557"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Estancamiento: sobrecalentamiento si no hay consumo (Kalogirou, 2009).</a:t>
            </a:r>
            <a:endParaRPr lang="en-US" sz="1300" dirty="0"/>
          </a:p>
        </p:txBody>
      </p:sp>
      <p:sp>
        <p:nvSpPr>
          <p:cNvPr id="18" name="Text 16"/>
          <p:cNvSpPr/>
          <p:nvPr/>
        </p:nvSpPr>
        <p:spPr>
          <a:xfrm>
            <a:off x="8161867" y="3502075"/>
            <a:ext cx="3104557"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Una planta sin almacenamiento compite con la fotovoltaica: Ivanpah cerraría en 2026 (REN21, 2025).</a:t>
            </a:r>
            <a:endParaRPr lang="en-US" sz="1300" dirty="0"/>
          </a:p>
        </p:txBody>
      </p:sp>
      <p:sp>
        <p:nvSpPr>
          <p:cNvPr id="19" name="Text 17"/>
          <p:cNvSpPr/>
          <p:nvPr/>
        </p:nvSpPr>
        <p:spPr>
          <a:xfrm>
            <a:off x="812800" y="4819774"/>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E8CDB0"/>
                </a:solidFill>
                <a:latin typeface="Arial" pitchFamily="34" charset="0"/>
                <a:ea typeface="Arial" pitchFamily="34" charset="-122"/>
                <a:cs typeface="Arial" pitchFamily="34" charset="-120"/>
              </a:rPr>
              <a:t>En clima cálido la demanda de agua caliente es menor, pero la de frío es alta: eso abre la puerta al acoplamiento.</a:t>
            </a:r>
            <a:endParaRPr lang="en-US" sz="1400" dirty="0"/>
          </a:p>
        </p:txBody>
      </p:sp>
      <p:sp>
        <p:nvSpPr>
          <p:cNvPr id="20" name="Text 1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Duffie et al. (2020); Kalogirou (2009); REN21 (2025).</a:t>
            </a:r>
            <a:endParaRPr lang="en-US" sz="1200" dirty="0"/>
          </a:p>
        </p:txBody>
      </p:sp>
      <p:sp>
        <p:nvSpPr>
          <p:cNvPr id="21" name="Text 1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40</a:t>
            </a:r>
            <a:endParaRPr lang="en-US" sz="12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9 · ACOPLAMIENTO</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Un mismo sol, tres servicios</a:t>
            </a:r>
            <a:endParaRPr lang="en-US" sz="3200" dirty="0"/>
          </a:p>
        </p:txBody>
      </p:sp>
      <p:sp>
        <p:nvSpPr>
          <p:cNvPr id="4" name="Shape 2"/>
          <p:cNvSpPr/>
          <p:nvPr/>
        </p:nvSpPr>
        <p:spPr>
          <a:xfrm>
            <a:off x="815975" y="1918320"/>
            <a:ext cx="3414183" cy="2226164"/>
          </a:xfrm>
          <a:prstGeom prst="roundRect">
            <a:avLst>
              <a:gd name="adj" fmla="val 4421"/>
            </a:avLst>
          </a:prstGeom>
          <a:solidFill>
            <a:srgbClr val="FFFFFF"/>
          </a:solidFill>
          <a:ln w="6350">
            <a:solidFill>
              <a:srgbClr val="EADBC4"/>
            </a:solidFill>
            <a:prstDash val="solid"/>
          </a:ln>
        </p:spPr>
      </p:sp>
      <p:sp>
        <p:nvSpPr>
          <p:cNvPr id="5" name="Text 3"/>
          <p:cNvSpPr/>
          <p:nvPr/>
        </p:nvSpPr>
        <p:spPr>
          <a:xfrm>
            <a:off x="1021210"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Enfriamiento</a:t>
            </a:r>
            <a:endParaRPr lang="en-US" sz="1600" dirty="0"/>
          </a:p>
        </p:txBody>
      </p:sp>
      <p:sp>
        <p:nvSpPr>
          <p:cNvPr id="6" name="Text 4"/>
          <p:cNvSpPr/>
          <p:nvPr/>
        </p:nvSpPr>
        <p:spPr>
          <a:xfrm>
            <a:off x="1021210" y="2443584"/>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Calor solar a 80–120 °C mueve una máquina de absorción que produce agua fría (Kalogirou, 2009).</a:t>
            </a:r>
            <a:endParaRPr lang="en-US" sz="1350" dirty="0"/>
          </a:p>
        </p:txBody>
      </p:sp>
      <p:sp>
        <p:nvSpPr>
          <p:cNvPr id="7" name="Text 5"/>
          <p:cNvSpPr/>
          <p:nvPr/>
        </p:nvSpPr>
        <p:spPr>
          <a:xfrm>
            <a:off x="1021210" y="3229496"/>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COP = frío producido / calor aportado, cerca de 0,7 en simple efecto (Kalogirou, 2009).</a:t>
            </a:r>
            <a:endParaRPr lang="en-US" sz="1350" dirty="0"/>
          </a:p>
        </p:txBody>
      </p:sp>
      <p:sp>
        <p:nvSpPr>
          <p:cNvPr id="8" name="Shape 6"/>
          <p:cNvSpPr/>
          <p:nvPr/>
        </p:nvSpPr>
        <p:spPr>
          <a:xfrm>
            <a:off x="4388908" y="1918320"/>
            <a:ext cx="3414183" cy="2226164"/>
          </a:xfrm>
          <a:prstGeom prst="roundRect">
            <a:avLst>
              <a:gd name="adj" fmla="val 4421"/>
            </a:avLst>
          </a:prstGeom>
          <a:solidFill>
            <a:srgbClr val="FFFFFF"/>
          </a:solidFill>
          <a:ln w="6350">
            <a:solidFill>
              <a:srgbClr val="EADBC4"/>
            </a:solidFill>
            <a:prstDash val="solid"/>
          </a:ln>
        </p:spPr>
      </p:sp>
      <p:sp>
        <p:nvSpPr>
          <p:cNvPr id="9" name="Text 7"/>
          <p:cNvSpPr/>
          <p:nvPr/>
        </p:nvSpPr>
        <p:spPr>
          <a:xfrm>
            <a:off x="4594144"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Calentamiento</a:t>
            </a:r>
            <a:endParaRPr lang="en-US" sz="1600" dirty="0"/>
          </a:p>
        </p:txBody>
      </p:sp>
      <p:sp>
        <p:nvSpPr>
          <p:cNvPr id="10" name="Text 8"/>
          <p:cNvSpPr/>
          <p:nvPr/>
        </p:nvSpPr>
        <p:spPr>
          <a:xfrm>
            <a:off x="4594144" y="2443584"/>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Agua caliente sanitaria, piscinas y calor de proceso: lavado, pasteurización, secado (Kalogirou, 2009).</a:t>
            </a:r>
            <a:endParaRPr lang="en-US" sz="1350" dirty="0"/>
          </a:p>
        </p:txBody>
      </p:sp>
      <p:sp>
        <p:nvSpPr>
          <p:cNvPr id="11" name="Text 9"/>
          <p:cNvSpPr/>
          <p:nvPr/>
        </p:nvSpPr>
        <p:spPr>
          <a:xfrm>
            <a:off x="4594144" y="3229496"/>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Puede precalentar el agua de una caldera y reducir el gas (Kalogirou, 2009).</a:t>
            </a:r>
            <a:endParaRPr lang="en-US" sz="1350" dirty="0"/>
          </a:p>
        </p:txBody>
      </p:sp>
      <p:sp>
        <p:nvSpPr>
          <p:cNvPr id="12" name="Shape 10"/>
          <p:cNvSpPr/>
          <p:nvPr/>
        </p:nvSpPr>
        <p:spPr>
          <a:xfrm>
            <a:off x="7961842" y="1918320"/>
            <a:ext cx="3414183" cy="2226164"/>
          </a:xfrm>
          <a:prstGeom prst="roundRect">
            <a:avLst>
              <a:gd name="adj" fmla="val 4421"/>
            </a:avLst>
          </a:prstGeom>
          <a:solidFill>
            <a:srgbClr val="FFFFFF"/>
          </a:solidFill>
          <a:ln w="6350">
            <a:solidFill>
              <a:srgbClr val="EADBC4"/>
            </a:solidFill>
            <a:prstDash val="solid"/>
          </a:ln>
        </p:spPr>
      </p:sp>
      <p:sp>
        <p:nvSpPr>
          <p:cNvPr id="13" name="Text 11"/>
          <p:cNvSpPr/>
          <p:nvPr/>
        </p:nvSpPr>
        <p:spPr>
          <a:xfrm>
            <a:off x="8167077" y="2123554"/>
            <a:ext cx="3093824"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3E00"/>
                </a:solidFill>
                <a:latin typeface="Arial" pitchFamily="34" charset="0"/>
                <a:ea typeface="Arial" pitchFamily="34" charset="-122"/>
                <a:cs typeface="Arial" pitchFamily="34" charset="-120"/>
              </a:rPr>
              <a:t>Electricidad</a:t>
            </a:r>
            <a:endParaRPr lang="en-US" sz="1600" dirty="0"/>
          </a:p>
        </p:txBody>
      </p:sp>
      <p:sp>
        <p:nvSpPr>
          <p:cNvPr id="14" name="Text 12"/>
          <p:cNvSpPr/>
          <p:nvPr/>
        </p:nvSpPr>
        <p:spPr>
          <a:xfrm>
            <a:off x="8167077" y="2443584"/>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La CSP genera vapor y mueve una turbina en ciclo Rankine (Kalogirou, 2009).</a:t>
            </a:r>
            <a:endParaRPr lang="en-US" sz="1350" dirty="0"/>
          </a:p>
        </p:txBody>
      </p:sp>
      <p:sp>
        <p:nvSpPr>
          <p:cNvPr id="15" name="Text 13"/>
          <p:cNvSpPr/>
          <p:nvPr/>
        </p:nvSpPr>
        <p:spPr>
          <a:xfrm>
            <a:off x="8167077" y="3229496"/>
            <a:ext cx="3093824" cy="735135"/>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A1810"/>
                </a:solidFill>
                <a:latin typeface="Arial" pitchFamily="34" charset="0"/>
                <a:ea typeface="Arial" pitchFamily="34" charset="-122"/>
                <a:cs typeface="Arial" pitchFamily="34" charset="-120"/>
              </a:rPr>
              <a:t>Con sales fundidas sigue generando de noche (REN21, 2025; «Gemasolar Thermosolar Plant», s. f.).</a:t>
            </a:r>
            <a:endParaRPr lang="en-US" sz="1350" dirty="0"/>
          </a:p>
        </p:txBody>
      </p:sp>
      <p:sp>
        <p:nvSpPr>
          <p:cNvPr id="16" name="Text 14"/>
          <p:cNvSpPr/>
          <p:nvPr/>
        </p:nvSpPr>
        <p:spPr>
          <a:xfrm>
            <a:off x="812800" y="4350841"/>
            <a:ext cx="10566400" cy="838200"/>
          </a:xfrm>
          <a:prstGeom prst="roundRect">
            <a:avLst>
              <a:gd name="adj" fmla="val 9091"/>
            </a:avLst>
          </a:prstGeom>
          <a:solidFill>
            <a:srgbClr val="2A1810"/>
          </a:solidFill>
          <a:ln/>
        </p:spPr>
        <p:txBody>
          <a:bodyPr wrap="square" lIns="130082" tIns="130082" rIns="0" bIns="104682"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Ejemplo: 10 kW de frío con COP 0,7 piden 14,3 kW de calor; con η = 0,55 y G = 900 W/m² se necesitan unos </a:t>
            </a:r>
            <a:r>
              <a:rPr lang="en-US" sz="1500" b="1" dirty="0">
                <a:solidFill>
                  <a:srgbClr val="FFB347"/>
                </a:solidFill>
                <a:latin typeface="Arial" pitchFamily="34" charset="0"/>
                <a:ea typeface="Arial" pitchFamily="34" charset="-122"/>
                <a:cs typeface="Arial" pitchFamily="34" charset="-120"/>
              </a:rPr>
              <a:t>29 m²</a:t>
            </a:r>
            <a:r>
              <a:rPr lang="en-US" sz="1500" dirty="0">
                <a:solidFill>
                  <a:srgbClr val="FBF4E8"/>
                </a:solidFill>
                <a:latin typeface="Arial" pitchFamily="34" charset="0"/>
                <a:ea typeface="Arial" pitchFamily="34" charset="-122"/>
                <a:cs typeface="Arial" pitchFamily="34" charset="-120"/>
              </a:rPr>
              <a:t> de colector.</a:t>
            </a:r>
            <a:endParaRPr lang="en-US" sz="1500" dirty="0"/>
          </a:p>
        </p:txBody>
      </p:sp>
      <p:sp>
        <p:nvSpPr>
          <p:cNvPr id="17" name="Text 15"/>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REN21 (2025). Ejemplo con valores supuestos; cálculo propio.</a:t>
            </a:r>
            <a:endParaRPr lang="en-US" sz="1200" dirty="0"/>
          </a:p>
        </p:txBody>
      </p:sp>
      <p:sp>
        <p:nvSpPr>
          <p:cNvPr id="18" name="Text 16"/>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41</a:t>
            </a:r>
            <a:endParaRPr lang="en-US" sz="12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9 · FRÍO SOLAR POR ABSORCIÓN</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Cómo el calor produce frío</a:t>
            </a:r>
            <a:endParaRPr lang="en-US" sz="3200" dirty="0"/>
          </a:p>
        </p:txBody>
      </p:sp>
      <p:sp>
        <p:nvSpPr>
          <p:cNvPr id="4" name="Text 2"/>
          <p:cNvSpPr/>
          <p:nvPr/>
        </p:nvSpPr>
        <p:spPr>
          <a:xfrm>
            <a:off x="819150" y="2061195"/>
            <a:ext cx="1790700" cy="708106"/>
          </a:xfrm>
          <a:custGeom>
            <a:avLst/>
            <a:gdLst/>
            <a:ahLst/>
            <a:cxnLst/>
            <a:rect l="l" t="t" r="r" b="b"/>
            <a:pathLst>
              <a:path w="1790700" h="708106">
                <a:moveTo>
                  <a:pt x="82550" y="0"/>
                </a:moveTo>
                <a:lnTo>
                  <a:pt x="1708150" y="0"/>
                </a:lnTo>
                <a:arcTo hR="82550" wR="82550" stAng="16200000" swAng="5400000"/>
                <a:lnTo>
                  <a:pt x="17907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Colectores</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de tubos</a:t>
            </a:r>
            <a:endParaRPr lang="en-US" sz="1300" dirty="0"/>
          </a:p>
        </p:txBody>
      </p:sp>
      <p:sp>
        <p:nvSpPr>
          <p:cNvPr id="5" name="Text 3"/>
          <p:cNvSpPr/>
          <p:nvPr/>
        </p:nvSpPr>
        <p:spPr>
          <a:xfrm>
            <a:off x="3733800" y="2054845"/>
            <a:ext cx="1803400" cy="231124"/>
          </a:xfrm>
          <a:custGeom>
            <a:avLst/>
            <a:gdLst/>
            <a:ahLst/>
            <a:cxnLst/>
            <a:rect l="l" t="t" r="r" b="b"/>
            <a:pathLst>
              <a:path w="1803400" h="231124">
                <a:moveTo>
                  <a:pt x="88900" y="0"/>
                </a:moveTo>
                <a:lnTo>
                  <a:pt x="1714500" y="0"/>
                </a:lnTo>
                <a:arcTo hR="88900" wR="88900" stAng="16200000" swAng="5400000"/>
                <a:lnTo>
                  <a:pt x="1803400" y="142224"/>
                </a:lnTo>
                <a:arcTo hR="88900" wR="88900" stAng="0" swAng="5400000"/>
                <a:lnTo>
                  <a:pt x="88900" y="231124"/>
                </a:lnTo>
                <a:arcTo hR="88900" wR="88900" stAng="5400000" swAng="5400000"/>
                <a:lnTo>
                  <a:pt x="0" y="88900"/>
                </a:lnTo>
                <a:arcTo hR="88900" wR="88900" stAng="10800000" swAng="5400000"/>
                <a:close/>
              </a:path>
            </a:pathLst>
          </a:custGeom>
          <a:solidFill>
            <a:srgbClr val="B43E00"/>
          </a:solidFill>
          <a:ln/>
        </p:spPr>
        <p:txBody>
          <a:bodyPr wrap="square" lIns="0" tIns="0" rIns="0" bIns="0" rtlCol="0" anchor="t">
            <a:normAutofit/>
          </a:bodyPr>
          <a:lstStyle/>
          <a:p>
            <a:pPr algn="ctr" indent="0" marL="0">
              <a:lnSpc>
                <a:spcPts val="1820"/>
              </a:lnSpc>
              <a:buNone/>
            </a:pPr>
            <a:r>
              <a:rPr lang="en-US" sz="1300" b="1" dirty="0">
                <a:solidFill>
                  <a:srgbClr val="FBF4E8"/>
                </a:solidFill>
                <a:latin typeface="Arial" pitchFamily="34" charset="0"/>
                <a:ea typeface="Arial" pitchFamily="34" charset="-122"/>
                <a:cs typeface="Arial" pitchFamily="34" charset="-120"/>
              </a:rPr>
              <a:t>Generador</a:t>
            </a:r>
            <a:endParaRPr lang="en-US" sz="1300" dirty="0"/>
          </a:p>
        </p:txBody>
      </p:sp>
      <p:sp>
        <p:nvSpPr>
          <p:cNvPr id="6" name="Text 4"/>
          <p:cNvSpPr/>
          <p:nvPr/>
        </p:nvSpPr>
        <p:spPr>
          <a:xfrm>
            <a:off x="6661150" y="2061195"/>
            <a:ext cx="1790700" cy="239265"/>
          </a:xfrm>
          <a:custGeom>
            <a:avLst/>
            <a:gdLst/>
            <a:ahLst/>
            <a:cxnLst/>
            <a:rect l="l" t="t" r="r" b="b"/>
            <a:pathLst>
              <a:path w="1790700" h="239265">
                <a:moveTo>
                  <a:pt x="82550" y="0"/>
                </a:moveTo>
                <a:lnTo>
                  <a:pt x="1708150" y="0"/>
                </a:lnTo>
                <a:arcTo hR="82550" wR="82550" stAng="16200000" swAng="5400000"/>
                <a:lnTo>
                  <a:pt x="1790700" y="156715"/>
                </a:lnTo>
                <a:arcTo hR="82550" wR="82550" stAng="0" swAng="5400000"/>
                <a:lnTo>
                  <a:pt x="82550" y="239265"/>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1820"/>
              </a:lnSpc>
              <a:buNone/>
            </a:pPr>
            <a:r>
              <a:rPr lang="en-US" sz="1300" b="1" dirty="0">
                <a:solidFill>
                  <a:srgbClr val="2A1810"/>
                </a:solidFill>
                <a:latin typeface="Arial" pitchFamily="34" charset="0"/>
                <a:ea typeface="Arial" pitchFamily="34" charset="-122"/>
                <a:cs typeface="Arial" pitchFamily="34" charset="-120"/>
              </a:rPr>
              <a:t>Condensador</a:t>
            </a:r>
            <a:endParaRPr lang="en-US" sz="1300" dirty="0"/>
          </a:p>
        </p:txBody>
      </p:sp>
      <p:sp>
        <p:nvSpPr>
          <p:cNvPr id="7" name="Text 5"/>
          <p:cNvSpPr/>
          <p:nvPr/>
        </p:nvSpPr>
        <p:spPr>
          <a:xfrm>
            <a:off x="9582150" y="2061195"/>
            <a:ext cx="1790700" cy="708106"/>
          </a:xfrm>
          <a:custGeom>
            <a:avLst/>
            <a:gdLst/>
            <a:ahLst/>
            <a:cxnLst/>
            <a:rect l="l" t="t" r="r" b="b"/>
            <a:pathLst>
              <a:path w="1790700" h="708106">
                <a:moveTo>
                  <a:pt x="82550" y="0"/>
                </a:moveTo>
                <a:lnTo>
                  <a:pt x="1708150" y="0"/>
                </a:lnTo>
                <a:arcTo hR="82550" wR="82550" stAng="16200000" swAng="5400000"/>
                <a:lnTo>
                  <a:pt x="17907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Torre de</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enfriamiento</a:t>
            </a:r>
            <a:endParaRPr lang="en-US" sz="1300" dirty="0"/>
          </a:p>
        </p:txBody>
      </p:sp>
      <p:sp>
        <p:nvSpPr>
          <p:cNvPr id="8" name="Text 6"/>
          <p:cNvSpPr/>
          <p:nvPr/>
        </p:nvSpPr>
        <p:spPr>
          <a:xfrm>
            <a:off x="3740150" y="3966195"/>
            <a:ext cx="1790700" cy="239265"/>
          </a:xfrm>
          <a:custGeom>
            <a:avLst/>
            <a:gdLst/>
            <a:ahLst/>
            <a:cxnLst/>
            <a:rect l="l" t="t" r="r" b="b"/>
            <a:pathLst>
              <a:path w="1790700" h="239265">
                <a:moveTo>
                  <a:pt x="82550" y="0"/>
                </a:moveTo>
                <a:lnTo>
                  <a:pt x="1708150" y="0"/>
                </a:lnTo>
                <a:arcTo hR="82550" wR="82550" stAng="16200000" swAng="5400000"/>
                <a:lnTo>
                  <a:pt x="1790700" y="156715"/>
                </a:lnTo>
                <a:arcTo hR="82550" wR="82550" stAng="0" swAng="5400000"/>
                <a:lnTo>
                  <a:pt x="82550" y="239265"/>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1820"/>
              </a:lnSpc>
              <a:buNone/>
            </a:pPr>
            <a:r>
              <a:rPr lang="en-US" sz="1300" b="1" dirty="0">
                <a:solidFill>
                  <a:srgbClr val="2A1810"/>
                </a:solidFill>
                <a:latin typeface="Arial" pitchFamily="34" charset="0"/>
                <a:ea typeface="Arial" pitchFamily="34" charset="-122"/>
                <a:cs typeface="Arial" pitchFamily="34" charset="-120"/>
              </a:rPr>
              <a:t>Absorbedor</a:t>
            </a:r>
            <a:endParaRPr lang="en-US" sz="1300" dirty="0"/>
          </a:p>
        </p:txBody>
      </p:sp>
      <p:sp>
        <p:nvSpPr>
          <p:cNvPr id="9" name="Text 7"/>
          <p:cNvSpPr/>
          <p:nvPr/>
        </p:nvSpPr>
        <p:spPr>
          <a:xfrm>
            <a:off x="6654800" y="3959845"/>
            <a:ext cx="1803400" cy="231124"/>
          </a:xfrm>
          <a:custGeom>
            <a:avLst/>
            <a:gdLst/>
            <a:ahLst/>
            <a:cxnLst/>
            <a:rect l="l" t="t" r="r" b="b"/>
            <a:pathLst>
              <a:path w="1803400" h="231124">
                <a:moveTo>
                  <a:pt x="88900" y="0"/>
                </a:moveTo>
                <a:lnTo>
                  <a:pt x="1714500" y="0"/>
                </a:lnTo>
                <a:arcTo hR="88900" wR="88900" stAng="16200000" swAng="5400000"/>
                <a:lnTo>
                  <a:pt x="1803400" y="142224"/>
                </a:lnTo>
                <a:arcTo hR="88900" wR="88900" stAng="0" swAng="5400000"/>
                <a:lnTo>
                  <a:pt x="88900" y="231124"/>
                </a:lnTo>
                <a:arcTo hR="88900" wR="88900" stAng="5400000" swAng="5400000"/>
                <a:lnTo>
                  <a:pt x="0" y="88900"/>
                </a:lnTo>
                <a:arcTo hR="88900" wR="88900" stAng="10800000" swAng="5400000"/>
                <a:close/>
              </a:path>
            </a:pathLst>
          </a:custGeom>
          <a:solidFill>
            <a:srgbClr val="1D7A8C"/>
          </a:solidFill>
          <a:ln/>
        </p:spPr>
        <p:txBody>
          <a:bodyPr wrap="square" lIns="0" tIns="0" rIns="0" bIns="0" rtlCol="0" anchor="t">
            <a:normAutofit/>
          </a:bodyPr>
          <a:lstStyle/>
          <a:p>
            <a:pPr algn="ctr" indent="0" marL="0">
              <a:lnSpc>
                <a:spcPts val="1820"/>
              </a:lnSpc>
              <a:buNone/>
            </a:pPr>
            <a:r>
              <a:rPr lang="en-US" sz="1300" b="1" dirty="0">
                <a:solidFill>
                  <a:srgbClr val="FBF4E8"/>
                </a:solidFill>
                <a:latin typeface="Arial" pitchFamily="34" charset="0"/>
                <a:ea typeface="Arial" pitchFamily="34" charset="-122"/>
                <a:cs typeface="Arial" pitchFamily="34" charset="-120"/>
              </a:rPr>
              <a:t>Evaporador</a:t>
            </a:r>
            <a:endParaRPr lang="en-US" sz="1300" dirty="0"/>
          </a:p>
        </p:txBody>
      </p:sp>
      <p:sp>
        <p:nvSpPr>
          <p:cNvPr id="10" name="Text 8"/>
          <p:cNvSpPr/>
          <p:nvPr/>
        </p:nvSpPr>
        <p:spPr>
          <a:xfrm>
            <a:off x="9582150" y="3966195"/>
            <a:ext cx="1790700" cy="708106"/>
          </a:xfrm>
          <a:custGeom>
            <a:avLst/>
            <a:gdLst/>
            <a:ahLst/>
            <a:cxnLst/>
            <a:rect l="l" t="t" r="r" b="b"/>
            <a:pathLst>
              <a:path w="1790700" h="708106">
                <a:moveTo>
                  <a:pt x="82550" y="0"/>
                </a:moveTo>
                <a:lnTo>
                  <a:pt x="1708150" y="0"/>
                </a:lnTo>
                <a:arcTo hR="82550" wR="82550" stAng="16200000" swAng="5400000"/>
                <a:lnTo>
                  <a:pt x="17907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Edificio:</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agua fría</a:t>
            </a:r>
            <a:endParaRPr lang="en-US" sz="1300" dirty="0"/>
          </a:p>
        </p:txBody>
      </p:sp>
      <p:pic>
        <p:nvPicPr>
          <p:cNvPr id="11" name="Image 0" descr="connector">    </p:cNvPr>
          <p:cNvPicPr>
            <a:picLocks noChangeAspect="1"/>
          </p:cNvPicPr>
          <p:nvPr/>
        </p:nvPicPr>
        <p:blipFill>
          <a:blip r:embed="rId1"/>
          <a:srcRect l="0" r="0" t="0" b="0"/>
          <a:stretch/>
        </p:blipFill>
        <p:spPr>
          <a:xfrm>
            <a:off x="2565400" y="2353295"/>
            <a:ext cx="1219200" cy="101600"/>
          </a:xfrm>
          <a:prstGeom prst="rect">
            <a:avLst/>
          </a:prstGeom>
        </p:spPr>
      </p:pic>
      <p:pic>
        <p:nvPicPr>
          <p:cNvPr id="12" name="Image 1" descr="connector">    </p:cNvPr>
          <p:cNvPicPr>
            <a:picLocks noChangeAspect="1"/>
          </p:cNvPicPr>
          <p:nvPr/>
        </p:nvPicPr>
        <p:blipFill>
          <a:blip r:embed="rId2"/>
          <a:srcRect l="0" r="0" t="0" b="0"/>
          <a:stretch/>
        </p:blipFill>
        <p:spPr>
          <a:xfrm>
            <a:off x="5486400" y="2353295"/>
            <a:ext cx="1219200" cy="101600"/>
          </a:xfrm>
          <a:prstGeom prst="rect">
            <a:avLst/>
          </a:prstGeom>
        </p:spPr>
      </p:pic>
      <p:pic>
        <p:nvPicPr>
          <p:cNvPr id="13" name="Image 2" descr="connector">    </p:cNvPr>
          <p:cNvPicPr>
            <a:picLocks noChangeAspect="1"/>
          </p:cNvPicPr>
          <p:nvPr/>
        </p:nvPicPr>
        <p:blipFill>
          <a:blip r:embed="rId3"/>
          <a:srcRect l="0" r="0" t="0" b="0"/>
          <a:stretch/>
        </p:blipFill>
        <p:spPr>
          <a:xfrm>
            <a:off x="8407400" y="2353295"/>
            <a:ext cx="1219200" cy="101600"/>
          </a:xfrm>
          <a:prstGeom prst="rect">
            <a:avLst/>
          </a:prstGeom>
        </p:spPr>
      </p:pic>
      <p:pic>
        <p:nvPicPr>
          <p:cNvPr id="14" name="Image 3" descr="connector">    </p:cNvPr>
          <p:cNvPicPr>
            <a:picLocks noChangeAspect="1"/>
          </p:cNvPicPr>
          <p:nvPr/>
        </p:nvPicPr>
        <p:blipFill>
          <a:blip r:embed="rId4"/>
          <a:srcRect l="0" r="0" t="0" b="0"/>
          <a:stretch/>
        </p:blipFill>
        <p:spPr>
          <a:xfrm>
            <a:off x="7505700" y="2702545"/>
            <a:ext cx="101600" cy="1308100"/>
          </a:xfrm>
          <a:prstGeom prst="rect">
            <a:avLst/>
          </a:prstGeom>
        </p:spPr>
      </p:pic>
      <p:pic>
        <p:nvPicPr>
          <p:cNvPr id="15" name="Image 4" descr="connector">    </p:cNvPr>
          <p:cNvPicPr>
            <a:picLocks noChangeAspect="1"/>
          </p:cNvPicPr>
          <p:nvPr/>
        </p:nvPicPr>
        <p:blipFill>
          <a:blip r:embed="rId5"/>
          <a:srcRect l="0" r="0" t="0" b="0"/>
          <a:stretch/>
        </p:blipFill>
        <p:spPr>
          <a:xfrm>
            <a:off x="5486400" y="4258295"/>
            <a:ext cx="1219200" cy="101600"/>
          </a:xfrm>
          <a:prstGeom prst="rect">
            <a:avLst/>
          </a:prstGeom>
        </p:spPr>
      </p:pic>
      <p:pic>
        <p:nvPicPr>
          <p:cNvPr id="16" name="Image 5" descr="connector">    </p:cNvPr>
          <p:cNvPicPr>
            <a:picLocks noChangeAspect="1"/>
          </p:cNvPicPr>
          <p:nvPr/>
        </p:nvPicPr>
        <p:blipFill>
          <a:blip r:embed="rId6"/>
          <a:srcRect l="0" r="0" t="0" b="0"/>
          <a:stretch/>
        </p:blipFill>
        <p:spPr>
          <a:xfrm>
            <a:off x="4584700" y="2702545"/>
            <a:ext cx="101600" cy="1308100"/>
          </a:xfrm>
          <a:prstGeom prst="rect">
            <a:avLst/>
          </a:prstGeom>
        </p:spPr>
      </p:pic>
      <p:pic>
        <p:nvPicPr>
          <p:cNvPr id="17" name="Image 6" descr="connector">    </p:cNvPr>
          <p:cNvPicPr>
            <a:picLocks noChangeAspect="1"/>
          </p:cNvPicPr>
          <p:nvPr/>
        </p:nvPicPr>
        <p:blipFill>
          <a:blip r:embed="rId7"/>
          <a:srcRect l="0" r="0" t="0" b="0"/>
          <a:stretch/>
        </p:blipFill>
        <p:spPr>
          <a:xfrm>
            <a:off x="4127500" y="2702545"/>
            <a:ext cx="101600" cy="1308100"/>
          </a:xfrm>
          <a:prstGeom prst="rect">
            <a:avLst/>
          </a:prstGeom>
        </p:spPr>
      </p:pic>
      <p:pic>
        <p:nvPicPr>
          <p:cNvPr id="18" name="Image 7" descr="connector">    </p:cNvPr>
          <p:cNvPicPr>
            <a:picLocks noChangeAspect="1"/>
          </p:cNvPicPr>
          <p:nvPr/>
        </p:nvPicPr>
        <p:blipFill>
          <a:blip r:embed="rId8"/>
          <a:srcRect l="0" r="0" t="0" b="0"/>
          <a:stretch/>
        </p:blipFill>
        <p:spPr>
          <a:xfrm>
            <a:off x="8407400" y="4258295"/>
            <a:ext cx="1219200" cy="101600"/>
          </a:xfrm>
          <a:prstGeom prst="rect">
            <a:avLst/>
          </a:prstGeom>
        </p:spPr>
      </p:pic>
      <p:sp>
        <p:nvSpPr>
          <p:cNvPr id="19" name="Text 9"/>
          <p:cNvSpPr/>
          <p:nvPr/>
        </p:nvSpPr>
        <p:spPr>
          <a:xfrm>
            <a:off x="2679700" y="24675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3E00"/>
                </a:solidFill>
                <a:latin typeface="Arial" pitchFamily="34" charset="0"/>
                <a:ea typeface="Arial" pitchFamily="34" charset="-122"/>
                <a:cs typeface="Arial" pitchFamily="34" charset="-120"/>
              </a:rPr>
              <a:t>Calor solar</a:t>
            </a:r>
            <a:endParaRPr lang="en-US" sz="1200" dirty="0"/>
          </a:p>
        </p:txBody>
      </p:sp>
      <p:sp>
        <p:nvSpPr>
          <p:cNvPr id="20" name="Text 10"/>
          <p:cNvSpPr/>
          <p:nvPr/>
        </p:nvSpPr>
        <p:spPr>
          <a:xfrm>
            <a:off x="5600700" y="24675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6A5444"/>
                </a:solidFill>
                <a:latin typeface="Arial" pitchFamily="34" charset="0"/>
                <a:ea typeface="Arial" pitchFamily="34" charset="-122"/>
                <a:cs typeface="Arial" pitchFamily="34" charset="-120"/>
              </a:rPr>
              <a:t>Vapor</a:t>
            </a:r>
            <a:endParaRPr lang="en-US" sz="1200" dirty="0"/>
          </a:p>
        </p:txBody>
      </p:sp>
      <p:sp>
        <p:nvSpPr>
          <p:cNvPr id="21" name="Text 11"/>
          <p:cNvSpPr/>
          <p:nvPr/>
        </p:nvSpPr>
        <p:spPr>
          <a:xfrm>
            <a:off x="8521700" y="24675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6A5444"/>
                </a:solidFill>
                <a:latin typeface="Arial" pitchFamily="34" charset="0"/>
                <a:ea typeface="Arial" pitchFamily="34" charset="-122"/>
                <a:cs typeface="Arial" pitchFamily="34" charset="-120"/>
              </a:rPr>
              <a:t>Calor</a:t>
            </a:r>
            <a:endParaRPr lang="en-US" sz="1200" dirty="0"/>
          </a:p>
        </p:txBody>
      </p:sp>
      <p:sp>
        <p:nvSpPr>
          <p:cNvPr id="22" name="Text 12"/>
          <p:cNvSpPr/>
          <p:nvPr/>
        </p:nvSpPr>
        <p:spPr>
          <a:xfrm>
            <a:off x="7632700" y="3261345"/>
            <a:ext cx="1447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Agua líquida</a:t>
            </a:r>
            <a:endParaRPr lang="en-US" sz="1200" dirty="0"/>
          </a:p>
        </p:txBody>
      </p:sp>
      <p:sp>
        <p:nvSpPr>
          <p:cNvPr id="23" name="Text 13"/>
          <p:cNvSpPr/>
          <p:nvPr/>
        </p:nvSpPr>
        <p:spPr>
          <a:xfrm>
            <a:off x="5600700" y="43725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Vapor frío</a:t>
            </a:r>
            <a:endParaRPr lang="en-US" sz="1200" dirty="0"/>
          </a:p>
        </p:txBody>
      </p:sp>
      <p:sp>
        <p:nvSpPr>
          <p:cNvPr id="24" name="Text 14"/>
          <p:cNvSpPr/>
          <p:nvPr/>
        </p:nvSpPr>
        <p:spPr>
          <a:xfrm>
            <a:off x="4711700" y="3197845"/>
            <a:ext cx="19812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6A5444"/>
                </a:solidFill>
                <a:latin typeface="Arial" pitchFamily="34" charset="0"/>
                <a:ea typeface="Arial" pitchFamily="34" charset="-122"/>
                <a:cs typeface="Arial" pitchFamily="34" charset="-120"/>
              </a:rPr>
              <a:t>Bomba: solución diluida</a:t>
            </a:r>
            <a:endParaRPr lang="en-US" sz="1200" dirty="0"/>
          </a:p>
        </p:txBody>
      </p:sp>
      <p:sp>
        <p:nvSpPr>
          <p:cNvPr id="25" name="Text 15"/>
          <p:cNvSpPr/>
          <p:nvPr/>
        </p:nvSpPr>
        <p:spPr>
          <a:xfrm>
            <a:off x="2667000" y="3197845"/>
            <a:ext cx="1447800" cy="39109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6A5444"/>
                </a:solidFill>
                <a:latin typeface="Arial" pitchFamily="34" charset="0"/>
                <a:ea typeface="Arial" pitchFamily="34" charset="-122"/>
                <a:cs typeface="Arial" pitchFamily="34" charset="-120"/>
              </a:rPr>
              <a:t>Solución concentrada</a:t>
            </a:r>
            <a:endParaRPr lang="en-US" sz="1200" dirty="0"/>
          </a:p>
        </p:txBody>
      </p:sp>
      <p:sp>
        <p:nvSpPr>
          <p:cNvPr id="26" name="Text 16"/>
          <p:cNvSpPr/>
          <p:nvPr/>
        </p:nvSpPr>
        <p:spPr>
          <a:xfrm>
            <a:off x="8521700" y="4372595"/>
            <a:ext cx="1066800" cy="208247"/>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D7A8C"/>
                </a:solidFill>
                <a:latin typeface="Arial" pitchFamily="34" charset="0"/>
                <a:ea typeface="Arial" pitchFamily="34" charset="-122"/>
                <a:cs typeface="Arial" pitchFamily="34" charset="-120"/>
              </a:rPr>
              <a:t>Frío útil</a:t>
            </a:r>
            <a:endParaRPr lang="en-US" sz="1200" dirty="0"/>
          </a:p>
        </p:txBody>
      </p:sp>
      <p:sp>
        <p:nvSpPr>
          <p:cNvPr id="27" name="Text 17"/>
          <p:cNvSpPr/>
          <p:nvPr/>
        </p:nvSpPr>
        <p:spPr>
          <a:xfrm>
            <a:off x="812800" y="4899645"/>
            <a:ext cx="10883392" cy="51606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Par de trabajo bromuro de litio y agua: el calor solar separa el agua de la solución en el generador; el agua se evapora a baja presión en el evaporador y enfría el circuito del edificio (Kalogirou, 2009).</a:t>
            </a:r>
            <a:endParaRPr lang="en-US" sz="1400" dirty="0"/>
          </a:p>
        </p:txBody>
      </p:sp>
      <p:sp>
        <p:nvSpPr>
          <p:cNvPr id="28" name="Text 1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Kalogirou (2009), capítulo de enfriamiento solar. Esquema propio.</a:t>
            </a:r>
            <a:endParaRPr lang="en-US" sz="1200" dirty="0"/>
          </a:p>
        </p:txBody>
      </p:sp>
      <p:sp>
        <p:nvSpPr>
          <p:cNvPr id="29" name="Text 1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42</a:t>
            </a:r>
            <a:endParaRPr lang="en-US" sz="12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9 · CALOR DE PROCESO INDUSTRIAL</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El sol también calienta fábricas y minas</a:t>
            </a:r>
            <a:endParaRPr lang="en-US" sz="3200" dirty="0"/>
          </a:p>
        </p:txBody>
      </p:sp>
      <p:sp>
        <p:nvSpPr>
          <p:cNvPr id="4" name="Shape 2"/>
          <p:cNvSpPr/>
          <p:nvPr/>
        </p:nvSpPr>
        <p:spPr>
          <a:xfrm>
            <a:off x="812800" y="1915145"/>
            <a:ext cx="3403600" cy="1862992"/>
          </a:xfrm>
          <a:prstGeom prst="roundRect">
            <a:avLst>
              <a:gd name="adj" fmla="val 5454"/>
            </a:avLst>
          </a:prstGeom>
          <a:solidFill>
            <a:srgbClr val="44261A"/>
          </a:solidFill>
          <a:ln/>
        </p:spPr>
      </p:sp>
      <p:sp>
        <p:nvSpPr>
          <p:cNvPr id="5" name="Text 3"/>
          <p:cNvSpPr/>
          <p:nvPr/>
        </p:nvSpPr>
        <p:spPr>
          <a:xfrm>
            <a:off x="1041400" y="2143745"/>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106</a:t>
            </a:r>
            <a:endParaRPr lang="en-US" sz="4800" dirty="0"/>
          </a:p>
        </p:txBody>
      </p:sp>
      <p:sp>
        <p:nvSpPr>
          <p:cNvPr id="6" name="Text 4"/>
          <p:cNvSpPr/>
          <p:nvPr/>
        </p:nvSpPr>
        <p:spPr>
          <a:xfrm>
            <a:off x="1041400" y="2829545"/>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plantas de calor solar industrial puestas en marcha en 2024, con 120 MW en total</a:t>
            </a:r>
            <a:endParaRPr lang="en-US" sz="1400" dirty="0"/>
          </a:p>
        </p:txBody>
      </p:sp>
      <p:sp>
        <p:nvSpPr>
          <p:cNvPr id="7" name="Shape 5"/>
          <p:cNvSpPr/>
          <p:nvPr/>
        </p:nvSpPr>
        <p:spPr>
          <a:xfrm>
            <a:off x="4394200" y="1915145"/>
            <a:ext cx="3403600" cy="1862992"/>
          </a:xfrm>
          <a:prstGeom prst="roundRect">
            <a:avLst>
              <a:gd name="adj" fmla="val 5454"/>
            </a:avLst>
          </a:prstGeom>
          <a:solidFill>
            <a:srgbClr val="44261A"/>
          </a:solidFill>
          <a:ln/>
        </p:spPr>
      </p:sp>
      <p:sp>
        <p:nvSpPr>
          <p:cNvPr id="8" name="Text 6"/>
          <p:cNvSpPr/>
          <p:nvPr/>
        </p:nvSpPr>
        <p:spPr>
          <a:xfrm>
            <a:off x="4622800" y="2143745"/>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+28 %</a:t>
            </a:r>
            <a:endParaRPr lang="en-US" sz="4800" dirty="0"/>
          </a:p>
        </p:txBody>
      </p:sp>
      <p:sp>
        <p:nvSpPr>
          <p:cNvPr id="9" name="Text 7"/>
          <p:cNvSpPr/>
          <p:nvPr/>
        </p:nvSpPr>
        <p:spPr>
          <a:xfrm>
            <a:off x="4622800" y="2829545"/>
            <a:ext cx="3034792" cy="50539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de capacidad industrial nueva frente al año anterior</a:t>
            </a:r>
            <a:endParaRPr lang="en-US" sz="1400" dirty="0"/>
          </a:p>
        </p:txBody>
      </p:sp>
      <p:sp>
        <p:nvSpPr>
          <p:cNvPr id="10" name="Shape 8"/>
          <p:cNvSpPr/>
          <p:nvPr/>
        </p:nvSpPr>
        <p:spPr>
          <a:xfrm>
            <a:off x="7975600" y="1915145"/>
            <a:ext cx="3403600" cy="1862992"/>
          </a:xfrm>
          <a:prstGeom prst="roundRect">
            <a:avLst>
              <a:gd name="adj" fmla="val 5454"/>
            </a:avLst>
          </a:prstGeom>
          <a:solidFill>
            <a:srgbClr val="44261A"/>
          </a:solidFill>
          <a:ln/>
        </p:spPr>
      </p:sp>
      <p:sp>
        <p:nvSpPr>
          <p:cNvPr id="11" name="Text 9"/>
          <p:cNvSpPr/>
          <p:nvPr/>
        </p:nvSpPr>
        <p:spPr>
          <a:xfrm>
            <a:off x="8204200" y="2143745"/>
            <a:ext cx="30347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Arial" pitchFamily="34" charset="0"/>
                <a:ea typeface="Arial" pitchFamily="34" charset="-122"/>
                <a:cs typeface="Arial" pitchFamily="34" charset="-120"/>
              </a:rPr>
              <a:t>125 MWth</a:t>
            </a:r>
            <a:endParaRPr lang="en-US" sz="4800" dirty="0"/>
          </a:p>
        </p:txBody>
      </p:sp>
      <p:sp>
        <p:nvSpPr>
          <p:cNvPr id="12" name="Text 10"/>
          <p:cNvSpPr/>
          <p:nvPr/>
        </p:nvSpPr>
        <p:spPr>
          <a:xfrm>
            <a:off x="8204200" y="2829545"/>
            <a:ext cx="3034792" cy="74539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4E8"/>
                </a:solidFill>
                <a:latin typeface="Arial" pitchFamily="34" charset="0"/>
                <a:ea typeface="Arial" pitchFamily="34" charset="-122"/>
                <a:cs typeface="Arial" pitchFamily="34" charset="-120"/>
              </a:rPr>
              <a:t>en construcción a fines de 2024, con tres proyectos de varios MW en minas de cobre de Chile</a:t>
            </a:r>
            <a:endParaRPr lang="en-US" sz="1400" dirty="0"/>
          </a:p>
        </p:txBody>
      </p:sp>
      <p:sp>
        <p:nvSpPr>
          <p:cNvPr id="13" name="Text 11"/>
          <p:cNvSpPr/>
          <p:nvPr/>
        </p:nvSpPr>
        <p:spPr>
          <a:xfrm>
            <a:off x="812800" y="3981326"/>
            <a:ext cx="10883392" cy="551147"/>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E8CDB0"/>
                </a:solidFill>
                <a:latin typeface="Arial" pitchFamily="34" charset="0"/>
                <a:ea typeface="Arial" pitchFamily="34" charset="-122"/>
                <a:cs typeface="Arial" pitchFamily="34" charset="-120"/>
              </a:rPr>
              <a:t>Usos típicos: lavado, pasteurización, secado, teñido y precalentamiento de calderas, la mayoría por debajo de 250 °C (Kalogirou, 2009). China lideró este mercado en 2024 (IEA SHC, 2025).</a:t>
            </a:r>
            <a:endParaRPr lang="en-US" sz="1500" dirty="0"/>
          </a:p>
        </p:txBody>
      </p:sp>
      <p:sp>
        <p:nvSpPr>
          <p:cNvPr id="14" name="Text 12"/>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Kalogirou (2009); IEA SHC (2025).</a:t>
            </a:r>
            <a:endParaRPr lang="en-US" sz="1200" dirty="0"/>
          </a:p>
        </p:txBody>
      </p:sp>
      <p:sp>
        <p:nvSpPr>
          <p:cNvPr id="15" name="Text 13"/>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43</a:t>
            </a:r>
            <a:endParaRPr lang="en-US" sz="12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PUNTO 10 · APLICACIONES NO CONVENCIONALES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Más allá del calentador de agua</a:t>
            </a:r>
            <a:endParaRPr lang="en-US" sz="3200" dirty="0"/>
          </a:p>
        </p:txBody>
      </p:sp>
      <p:sp>
        <p:nvSpPr>
          <p:cNvPr id="4" name="Shape 2"/>
          <p:cNvSpPr/>
          <p:nvPr/>
        </p:nvSpPr>
        <p:spPr>
          <a:xfrm>
            <a:off x="812800" y="1915145"/>
            <a:ext cx="3437467" cy="1359104"/>
          </a:xfrm>
          <a:prstGeom prst="roundRect">
            <a:avLst>
              <a:gd name="adj" fmla="val 7476"/>
            </a:avLst>
          </a:prstGeom>
          <a:solidFill>
            <a:srgbClr val="44261A"/>
          </a:solidFill>
          <a:ln/>
        </p:spPr>
      </p:sp>
      <p:sp>
        <p:nvSpPr>
          <p:cNvPr id="5" name="Text 3"/>
          <p:cNvSpPr/>
          <p:nvPr/>
        </p:nvSpPr>
        <p:spPr>
          <a:xfrm>
            <a:off x="990600" y="2092945"/>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Desalinización</a:t>
            </a:r>
            <a:endParaRPr lang="en-US" sz="1600" dirty="0"/>
          </a:p>
        </p:txBody>
      </p:sp>
      <p:sp>
        <p:nvSpPr>
          <p:cNvPr id="6" name="Text 4"/>
          <p:cNvSpPr/>
          <p:nvPr/>
        </p:nvSpPr>
        <p:spPr>
          <a:xfrm>
            <a:off x="990600" y="2412950"/>
            <a:ext cx="317432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Destiladores solares y destilación multiefecto para zonas costeras (Kalogirou, 2009).</a:t>
            </a:r>
            <a:endParaRPr lang="en-US" sz="1300" dirty="0"/>
          </a:p>
        </p:txBody>
      </p:sp>
      <p:sp>
        <p:nvSpPr>
          <p:cNvPr id="7" name="Shape 5"/>
          <p:cNvSpPr/>
          <p:nvPr/>
        </p:nvSpPr>
        <p:spPr>
          <a:xfrm>
            <a:off x="4377267" y="1915145"/>
            <a:ext cx="3437467" cy="1359104"/>
          </a:xfrm>
          <a:prstGeom prst="roundRect">
            <a:avLst>
              <a:gd name="adj" fmla="val 7476"/>
            </a:avLst>
          </a:prstGeom>
          <a:solidFill>
            <a:srgbClr val="44261A"/>
          </a:solidFill>
          <a:ln/>
        </p:spPr>
      </p:sp>
      <p:sp>
        <p:nvSpPr>
          <p:cNvPr id="8" name="Text 6"/>
          <p:cNvSpPr/>
          <p:nvPr/>
        </p:nvSpPr>
        <p:spPr>
          <a:xfrm>
            <a:off x="4555067" y="2092945"/>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Secado agrícola</a:t>
            </a:r>
            <a:endParaRPr lang="en-US" sz="1600" dirty="0"/>
          </a:p>
        </p:txBody>
      </p:sp>
      <p:sp>
        <p:nvSpPr>
          <p:cNvPr id="9" name="Text 7"/>
          <p:cNvSpPr/>
          <p:nvPr/>
        </p:nvSpPr>
        <p:spPr>
          <a:xfrm>
            <a:off x="4555067" y="2412950"/>
            <a:ext cx="3174323"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Secadores de café, cacao o frutas con aire caliente (Kalogirou, 2009).</a:t>
            </a:r>
            <a:endParaRPr lang="en-US" sz="1300" dirty="0"/>
          </a:p>
        </p:txBody>
      </p:sp>
      <p:sp>
        <p:nvSpPr>
          <p:cNvPr id="10" name="Shape 8"/>
          <p:cNvSpPr/>
          <p:nvPr/>
        </p:nvSpPr>
        <p:spPr>
          <a:xfrm>
            <a:off x="7941733" y="1915145"/>
            <a:ext cx="3437467" cy="1359104"/>
          </a:xfrm>
          <a:prstGeom prst="roundRect">
            <a:avLst>
              <a:gd name="adj" fmla="val 7476"/>
            </a:avLst>
          </a:prstGeom>
          <a:solidFill>
            <a:srgbClr val="44261A"/>
          </a:solidFill>
          <a:ln/>
        </p:spPr>
      </p:sp>
      <p:sp>
        <p:nvSpPr>
          <p:cNvPr id="11" name="Text 9"/>
          <p:cNvSpPr/>
          <p:nvPr/>
        </p:nvSpPr>
        <p:spPr>
          <a:xfrm>
            <a:off x="8119533" y="2092945"/>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Cocinas solares</a:t>
            </a:r>
            <a:endParaRPr lang="en-US" sz="1600" dirty="0"/>
          </a:p>
        </p:txBody>
      </p:sp>
      <p:sp>
        <p:nvSpPr>
          <p:cNvPr id="12" name="Text 10"/>
          <p:cNvSpPr/>
          <p:nvPr/>
        </p:nvSpPr>
        <p:spPr>
          <a:xfrm>
            <a:off x="8119533" y="2412950"/>
            <a:ext cx="3174323" cy="481053"/>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Hornos de caja y concentradores para cocinar sin leña (Kalogirou, 2009).</a:t>
            </a:r>
            <a:endParaRPr lang="en-US" sz="1300" dirty="0"/>
          </a:p>
        </p:txBody>
      </p:sp>
      <p:sp>
        <p:nvSpPr>
          <p:cNvPr id="13" name="Shape 11"/>
          <p:cNvSpPr/>
          <p:nvPr/>
        </p:nvSpPr>
        <p:spPr>
          <a:xfrm>
            <a:off x="812800" y="3401244"/>
            <a:ext cx="3437467" cy="1359104"/>
          </a:xfrm>
          <a:prstGeom prst="roundRect">
            <a:avLst>
              <a:gd name="adj" fmla="val 7476"/>
            </a:avLst>
          </a:prstGeom>
          <a:solidFill>
            <a:srgbClr val="44261A"/>
          </a:solidFill>
          <a:ln/>
        </p:spPr>
      </p:sp>
      <p:sp>
        <p:nvSpPr>
          <p:cNvPr id="14" name="Text 12"/>
          <p:cNvSpPr/>
          <p:nvPr/>
        </p:nvSpPr>
        <p:spPr>
          <a:xfrm>
            <a:off x="990600" y="3579044"/>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Combustibles solares</a:t>
            </a:r>
            <a:endParaRPr lang="en-US" sz="1600" dirty="0"/>
          </a:p>
        </p:txBody>
      </p:sp>
      <p:sp>
        <p:nvSpPr>
          <p:cNvPr id="15" name="Text 13"/>
          <p:cNvSpPr/>
          <p:nvPr/>
        </p:nvSpPr>
        <p:spPr>
          <a:xfrm>
            <a:off x="990600" y="3899074"/>
            <a:ext cx="317432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Reactores a muy alta temperatura que producen hidrógeno o gas de síntesis (Kalogirou, 2009).</a:t>
            </a:r>
            <a:endParaRPr lang="en-US" sz="1300" dirty="0"/>
          </a:p>
        </p:txBody>
      </p:sp>
      <p:sp>
        <p:nvSpPr>
          <p:cNvPr id="16" name="Shape 14"/>
          <p:cNvSpPr/>
          <p:nvPr/>
        </p:nvSpPr>
        <p:spPr>
          <a:xfrm>
            <a:off x="4377267" y="3401244"/>
            <a:ext cx="3437467" cy="1359104"/>
          </a:xfrm>
          <a:prstGeom prst="roundRect">
            <a:avLst>
              <a:gd name="adj" fmla="val 7476"/>
            </a:avLst>
          </a:prstGeom>
          <a:solidFill>
            <a:srgbClr val="44261A"/>
          </a:solidFill>
          <a:ln/>
        </p:spPr>
      </p:sp>
      <p:sp>
        <p:nvSpPr>
          <p:cNvPr id="17" name="Text 15"/>
          <p:cNvSpPr/>
          <p:nvPr/>
        </p:nvSpPr>
        <p:spPr>
          <a:xfrm>
            <a:off x="4555067" y="3579044"/>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Híbridos PVT</a:t>
            </a:r>
            <a:endParaRPr lang="en-US" sz="1600" dirty="0"/>
          </a:p>
        </p:txBody>
      </p:sp>
      <p:sp>
        <p:nvSpPr>
          <p:cNvPr id="18" name="Text 16"/>
          <p:cNvSpPr/>
          <p:nvPr/>
        </p:nvSpPr>
        <p:spPr>
          <a:xfrm>
            <a:off x="4555067" y="3899074"/>
            <a:ext cx="317432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Paneles que dan electricidad y calor; 37,5 MWth instalados en 2024 (IEA SHC, 2025).</a:t>
            </a:r>
            <a:endParaRPr lang="en-US" sz="1300" dirty="0"/>
          </a:p>
        </p:txBody>
      </p:sp>
      <p:sp>
        <p:nvSpPr>
          <p:cNvPr id="19" name="Shape 17"/>
          <p:cNvSpPr/>
          <p:nvPr/>
        </p:nvSpPr>
        <p:spPr>
          <a:xfrm>
            <a:off x="7941733" y="3401244"/>
            <a:ext cx="3437467" cy="1359104"/>
          </a:xfrm>
          <a:prstGeom prst="roundRect">
            <a:avLst>
              <a:gd name="adj" fmla="val 7476"/>
            </a:avLst>
          </a:prstGeom>
          <a:solidFill>
            <a:srgbClr val="44261A"/>
          </a:solidFill>
          <a:ln/>
        </p:spPr>
      </p:sp>
      <p:sp>
        <p:nvSpPr>
          <p:cNvPr id="20" name="Text 18"/>
          <p:cNvSpPr/>
          <p:nvPr/>
        </p:nvSpPr>
        <p:spPr>
          <a:xfrm>
            <a:off x="8119533" y="3579044"/>
            <a:ext cx="3174323" cy="26922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B347"/>
                </a:solidFill>
                <a:latin typeface="Arial" pitchFamily="34" charset="0"/>
                <a:ea typeface="Arial" pitchFamily="34" charset="-122"/>
                <a:cs typeface="Arial" pitchFamily="34" charset="-120"/>
              </a:rPr>
              <a:t>Hornos solares</a:t>
            </a:r>
            <a:endParaRPr lang="en-US" sz="1600" dirty="0"/>
          </a:p>
        </p:txBody>
      </p:sp>
      <p:sp>
        <p:nvSpPr>
          <p:cNvPr id="21" name="Text 19"/>
          <p:cNvSpPr/>
          <p:nvPr/>
        </p:nvSpPr>
        <p:spPr>
          <a:xfrm>
            <a:off x="8119533" y="3899074"/>
            <a:ext cx="3174323" cy="70888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BF4E8"/>
                </a:solidFill>
                <a:latin typeface="Arial" pitchFamily="34" charset="0"/>
                <a:ea typeface="Arial" pitchFamily="34" charset="-122"/>
                <a:cs typeface="Arial" pitchFamily="34" charset="-120"/>
              </a:rPr>
              <a:t>Ensayo de materiales a temperaturas muy altas, como el de Odeillo (Francia) (Kalogirou, 2009).</a:t>
            </a:r>
            <a:endParaRPr lang="en-US" sz="1300" dirty="0"/>
          </a:p>
        </p:txBody>
      </p:sp>
      <p:sp>
        <p:nvSpPr>
          <p:cNvPr id="22" name="Text 20"/>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Tomado de: Kalogirou (2009); IEA SHC (2025).</a:t>
            </a:r>
            <a:endParaRPr lang="en-US" sz="1200" dirty="0"/>
          </a:p>
        </p:txBody>
      </p:sp>
      <p:sp>
        <p:nvSpPr>
          <p:cNvPr id="23" name="Text 21"/>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44</a:t>
            </a:r>
            <a:endParaRPr lang="en-US" sz="12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11 · NORMATIVA DE PRUEBAS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Cómo se prueba y se certifica un colector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925566"/>
          <a:ext cx="10555979" cy="2702495"/>
        </p:xfrm>
        <a:graphic>
          <a:graphicData uri="http://schemas.openxmlformats.org/drawingml/2006/table">
            <a:tbl>
              <a:tblPr/>
              <a:tblGrid>
                <a:gridCol w="3166794"/>
                <a:gridCol w="7389186"/>
              </a:tblGrid>
              <a:tr h="370417">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Norma o esquema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890"/>
                        </a:lnSpc>
                        <a:buNone/>
                      </a:pPr>
                      <a:r>
                        <a:rPr lang="en-US" sz="1350" b="1" dirty="0">
                          <a:solidFill>
                            <a:srgbClr val="2A1810"/>
                          </a:solidFill>
                          <a:latin typeface="Arial" pitchFamily="34" charset="0"/>
                          <a:ea typeface="Arial" pitchFamily="34" charset="-122"/>
                          <a:cs typeface="Arial" pitchFamily="34" charset="-120"/>
                        </a:rPr>
                        <a:t>Qué cubre</a:t>
                      </a:r>
                      <a:endParaRPr lang="en-US" sz="1350" dirty="0">
                        <a:latin typeface="Arial" charset="0"/>
                        <a:ea typeface="Arial" charset="0"/>
                        <a:cs typeface="Arial" charset="0"/>
                      </a:endParaRPr>
                    </a:p>
                  </a:txBody>
                  <a:tcPr marL="60007" marR="60007" marT="60007" marB="60007"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610414">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ISO 9806:2025 (ISO, 2025)</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Ensayos de rendimiento térmico, durabilidad y fiabilidad de colectores; de aquí salen FR(τα) y FRUL</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Serie ISO 9459 (ISO, s. f.)</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Ensayo de sistemas solares domésticos completos de calentamiento de agua</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ANSI/ASHRAE 93 (ASHRAE, 2010)</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Método de prueba del rendimiento térmico de colectores, referencia en EE. UU.</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70417">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Solar Keymark (Solar Keymark, s. f.)</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Certificación europea de colectores y sistemas basada en ensayos ISO y EN</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610414">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Ley 1715 de 2014 y Ley 2099 de 2021</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890"/>
                        </a:lnSpc>
                        <a:buNone/>
                      </a:pPr>
                      <a:r>
                        <a:rPr lang="en-US" sz="1350" dirty="0">
                          <a:solidFill>
                            <a:srgbClr val="2A1810"/>
                          </a:solidFill>
                          <a:latin typeface="Arial" pitchFamily="34" charset="0"/>
                          <a:ea typeface="Arial" pitchFamily="34" charset="-122"/>
                          <a:cs typeface="Arial" pitchFamily="34" charset="-120"/>
                        </a:rPr>
                        <a:t>Incentivos tributarios a las fuentes no convencionales; la UPME certifica los proyectos (PwC Colombia, 2025)</a:t>
                      </a:r>
                      <a:endParaRPr lang="en-US" sz="1350" dirty="0">
                        <a:latin typeface="Arial" charset="0"/>
                        <a:ea typeface="Arial" charset="0"/>
                        <a:cs typeface="Arial" charset="0"/>
                      </a:endParaRPr>
                    </a:p>
                  </a:txBody>
                  <a:tcPr marL="60007" marR="60007" marT="60007" marB="60007"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4831259"/>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A1810"/>
                </a:solidFill>
                <a:latin typeface="Arial" pitchFamily="34" charset="0"/>
                <a:ea typeface="Arial" pitchFamily="34" charset="-122"/>
                <a:cs typeface="Arial" pitchFamily="34" charset="-120"/>
              </a:rPr>
              <a:t>Al comprar un colector, pida la ficha de ensayo: sin parámetros certificados no se puede dimensionar con confianza.</a:t>
            </a:r>
            <a:endParaRPr lang="en-US" sz="1400" dirty="0"/>
          </a:p>
        </p:txBody>
      </p:sp>
      <p:sp>
        <p:nvSpPr>
          <p:cNvPr id="6" name="Text 3"/>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ISO (2025, s. f.); ASHRAE (2010); Solar Keymark (s. f.); Leyes 1715 y 2099; PwC Colombia (2025).</a:t>
            </a:r>
            <a:endParaRPr lang="en-US" sz="1200" dirty="0"/>
          </a:p>
        </p:txBody>
      </p:sp>
      <p:sp>
        <p:nvSpPr>
          <p:cNvPr id="7" name="Text 4"/>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45</a:t>
            </a:r>
            <a:endParaRPr lang="en-US" sz="12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PUNTO 11 · EL ENSAYO DE RENDIMIENTO</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810"/>
                </a:solidFill>
                <a:latin typeface="Arial" pitchFamily="34" charset="0"/>
                <a:ea typeface="Arial" pitchFamily="34" charset="-122"/>
                <a:cs typeface="Arial" pitchFamily="34" charset="-120"/>
              </a:rPr>
              <a:t>Cómo se obtiene la curva de un colector</a:t>
            </a:r>
            <a:endParaRPr lang="en-US" sz="3200" dirty="0"/>
          </a:p>
        </p:txBody>
      </p:sp>
      <p:sp>
        <p:nvSpPr>
          <p:cNvPr id="4" name="Text 2"/>
          <p:cNvSpPr/>
          <p:nvPr/>
        </p:nvSpPr>
        <p:spPr>
          <a:xfrm>
            <a:off x="819150" y="3140695"/>
            <a:ext cx="2146300" cy="708106"/>
          </a:xfrm>
          <a:custGeom>
            <a:avLst/>
            <a:gdLst/>
            <a:ahLst/>
            <a:cxnLst/>
            <a:rect l="l" t="t" r="r" b="b"/>
            <a:pathLst>
              <a:path w="2146300" h="708106">
                <a:moveTo>
                  <a:pt x="82550" y="0"/>
                </a:moveTo>
                <a:lnTo>
                  <a:pt x="2063750" y="0"/>
                </a:lnTo>
                <a:arcTo hR="82550" wR="82550" stAng="16200000" swAng="5400000"/>
                <a:lnTo>
                  <a:pt x="21463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Baño termostático</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fija Ti</a:t>
            </a:r>
            <a:endParaRPr lang="en-US" sz="1300" dirty="0"/>
          </a:p>
        </p:txBody>
      </p:sp>
      <p:sp>
        <p:nvSpPr>
          <p:cNvPr id="5" name="Text 3"/>
          <p:cNvSpPr/>
          <p:nvPr/>
        </p:nvSpPr>
        <p:spPr>
          <a:xfrm>
            <a:off x="3613150" y="3140695"/>
            <a:ext cx="2146300" cy="239265"/>
          </a:xfrm>
          <a:custGeom>
            <a:avLst/>
            <a:gdLst/>
            <a:ahLst/>
            <a:cxnLst/>
            <a:rect l="l" t="t" r="r" b="b"/>
            <a:pathLst>
              <a:path w="2146300" h="239265">
                <a:moveTo>
                  <a:pt x="82550" y="0"/>
                </a:moveTo>
                <a:lnTo>
                  <a:pt x="2063750" y="0"/>
                </a:lnTo>
                <a:arcTo hR="82550" wR="82550" stAng="16200000" swAng="5400000"/>
                <a:lnTo>
                  <a:pt x="2146300" y="156715"/>
                </a:lnTo>
                <a:arcTo hR="82550" wR="82550" stAng="0" swAng="5400000"/>
                <a:lnTo>
                  <a:pt x="82550" y="239265"/>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1820"/>
              </a:lnSpc>
              <a:buNone/>
            </a:pPr>
            <a:r>
              <a:rPr lang="en-US" sz="1300" b="1" dirty="0">
                <a:solidFill>
                  <a:srgbClr val="2A1810"/>
                </a:solidFill>
                <a:latin typeface="Arial" pitchFamily="34" charset="0"/>
                <a:ea typeface="Arial" pitchFamily="34" charset="-122"/>
                <a:cs typeface="Arial" pitchFamily="34" charset="-120"/>
              </a:rPr>
              <a:t>Caudalímetro ṁ</a:t>
            </a:r>
            <a:endParaRPr lang="en-US" sz="1300" dirty="0"/>
          </a:p>
        </p:txBody>
      </p:sp>
      <p:sp>
        <p:nvSpPr>
          <p:cNvPr id="6" name="Text 4"/>
          <p:cNvSpPr/>
          <p:nvPr/>
        </p:nvSpPr>
        <p:spPr>
          <a:xfrm>
            <a:off x="6400800" y="3134345"/>
            <a:ext cx="2159000" cy="699965"/>
          </a:xfrm>
          <a:custGeom>
            <a:avLst/>
            <a:gdLst/>
            <a:ahLst/>
            <a:cxnLst/>
            <a:rect l="l" t="t" r="r" b="b"/>
            <a:pathLst>
              <a:path w="2159000" h="699965">
                <a:moveTo>
                  <a:pt x="88900" y="0"/>
                </a:moveTo>
                <a:lnTo>
                  <a:pt x="2070100" y="0"/>
                </a:lnTo>
                <a:arcTo hR="88900" wR="88900" stAng="16200000" swAng="5400000"/>
                <a:lnTo>
                  <a:pt x="2159000" y="611065"/>
                </a:lnTo>
                <a:arcTo hR="88900" wR="88900" stAng="0" swAng="5400000"/>
                <a:lnTo>
                  <a:pt x="88900" y="699965"/>
                </a:lnTo>
                <a:arcTo hR="88900" wR="88900" stAng="5400000" swAng="5400000"/>
                <a:lnTo>
                  <a:pt x="0" y="88900"/>
                </a:lnTo>
                <a:arcTo hR="88900" wR="88900" stAng="10800000" swAng="5400000"/>
                <a:close/>
              </a:path>
            </a:pathLst>
          </a:custGeom>
          <a:solidFill>
            <a:srgbClr val="B43E00"/>
          </a:solidFill>
          <a:ln/>
        </p:spPr>
        <p:txBody>
          <a:bodyPr wrap="square" lIns="0" tIns="0" rIns="0" bIns="0" rtlCol="0" anchor="t">
            <a:normAutofit/>
          </a:bodyPr>
          <a:lstStyle/>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Colector en banco</a:t>
            </a:r>
            <a:endParaRPr lang="en-US" sz="1300" dirty="0"/>
          </a:p>
          <a:p>
            <a:pPr algn="ctr" indent="0" marL="0">
              <a:lnSpc>
                <a:spcPts val="2756"/>
              </a:lnSpc>
              <a:buNone/>
            </a:pPr>
            <a:r>
              <a:rPr lang="en-US" sz="1300" b="1" dirty="0">
                <a:solidFill>
                  <a:srgbClr val="FBF4E8"/>
                </a:solidFill>
                <a:latin typeface="Arial" pitchFamily="34" charset="0"/>
                <a:ea typeface="Arial" pitchFamily="34" charset="-122"/>
                <a:cs typeface="Arial" pitchFamily="34" charset="-120"/>
              </a:rPr>
              <a:t>sensores Ti y To</a:t>
            </a:r>
            <a:endParaRPr lang="en-US" sz="1300" dirty="0"/>
          </a:p>
        </p:txBody>
      </p:sp>
      <p:sp>
        <p:nvSpPr>
          <p:cNvPr id="7" name="Text 5"/>
          <p:cNvSpPr/>
          <p:nvPr/>
        </p:nvSpPr>
        <p:spPr>
          <a:xfrm>
            <a:off x="9201150" y="3140695"/>
            <a:ext cx="2171700" cy="708106"/>
          </a:xfrm>
          <a:custGeom>
            <a:avLst/>
            <a:gdLst/>
            <a:ahLst/>
            <a:cxnLst/>
            <a:rect l="l" t="t" r="r" b="b"/>
            <a:pathLst>
              <a:path w="2171700" h="708106">
                <a:moveTo>
                  <a:pt x="82550" y="0"/>
                </a:moveTo>
                <a:lnTo>
                  <a:pt x="2089150" y="0"/>
                </a:lnTo>
                <a:arcTo hR="82550" wR="82550" stAng="16200000" swAng="5400000"/>
                <a:lnTo>
                  <a:pt x="2171700" y="625556"/>
                </a:lnTo>
                <a:arcTo hR="82550" wR="82550" stAng="0" swAng="5400000"/>
                <a:lnTo>
                  <a:pt x="82550" y="70810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Adquisición</a:t>
            </a:r>
            <a:endParaRPr lang="en-US" sz="1300" dirty="0"/>
          </a:p>
          <a:p>
            <a:pPr algn="ctr" indent="0" marL="0">
              <a:lnSpc>
                <a:spcPts val="2756"/>
              </a:lnSpc>
              <a:buNone/>
            </a:pPr>
            <a:r>
              <a:rPr lang="en-US" sz="1300" b="1" dirty="0">
                <a:solidFill>
                  <a:srgbClr val="2A1810"/>
                </a:solidFill>
                <a:latin typeface="Arial" pitchFamily="34" charset="0"/>
                <a:ea typeface="Arial" pitchFamily="34" charset="-122"/>
                <a:cs typeface="Arial" pitchFamily="34" charset="-120"/>
              </a:rPr>
              <a:t>de datos</a:t>
            </a:r>
            <a:endParaRPr lang="en-US" sz="1300" dirty="0"/>
          </a:p>
        </p:txBody>
      </p:sp>
      <p:sp>
        <p:nvSpPr>
          <p:cNvPr id="8" name="Text 6"/>
          <p:cNvSpPr/>
          <p:nvPr/>
        </p:nvSpPr>
        <p:spPr>
          <a:xfrm>
            <a:off x="6407150" y="1997695"/>
            <a:ext cx="2146300" cy="579356"/>
          </a:xfrm>
          <a:custGeom>
            <a:avLst/>
            <a:gdLst/>
            <a:ahLst/>
            <a:cxnLst/>
            <a:rect l="l" t="t" r="r" b="b"/>
            <a:pathLst>
              <a:path w="2146300" h="579356">
                <a:moveTo>
                  <a:pt x="82550" y="0"/>
                </a:moveTo>
                <a:lnTo>
                  <a:pt x="2063750" y="0"/>
                </a:lnTo>
                <a:arcTo hR="82550" wR="82550" stAng="16200000" swAng="5400000"/>
                <a:lnTo>
                  <a:pt x="2146300" y="496806"/>
                </a:lnTo>
                <a:arcTo hR="82550" wR="82550" stAng="0" swAng="5400000"/>
                <a:lnTo>
                  <a:pt x="82550" y="579356"/>
                </a:lnTo>
                <a:arcTo hR="82550" wR="82550" stAng="5400000" swAng="5400000"/>
                <a:lnTo>
                  <a:pt x="0" y="82550"/>
                </a:lnTo>
                <a:arcTo hR="82550" wR="82550" stAng="10800000" swAng="5400000"/>
                <a:close/>
              </a:path>
            </a:pathLst>
          </a:custGeom>
          <a:solidFill>
            <a:srgbClr val="FFFFFF"/>
          </a:solidFill>
          <a:ln w="12700">
            <a:solidFill>
              <a:srgbClr val="EADBC4"/>
            </a:solidFill>
            <a:prstDash val="solid"/>
          </a:ln>
        </p:spPr>
        <p:txBody>
          <a:bodyPr wrap="square" lIns="0" tIns="4071" rIns="0" bIns="0" rtlCol="0" anchor="t">
            <a:normAutofit/>
          </a:bodyPr>
          <a:lstStyle/>
          <a:p>
            <a:pPr algn="ctr" indent="0" marL="0">
              <a:lnSpc>
                <a:spcPts val="4498"/>
              </a:lnSpc>
              <a:buNone/>
            </a:pPr>
            <a:r>
              <a:rPr lang="en-US" sz="1300" b="1" dirty="0">
                <a:solidFill>
                  <a:srgbClr val="2A1810"/>
                </a:solidFill>
                <a:latin typeface="Arial" pitchFamily="34" charset="0"/>
                <a:ea typeface="Arial" pitchFamily="34" charset="-122"/>
                <a:cs typeface="Arial" pitchFamily="34" charset="-120"/>
              </a:rPr>
              <a:t>Piranómetro G y Ta</a:t>
            </a:r>
            <a:endParaRPr lang="en-US" sz="1300" dirty="0"/>
          </a:p>
        </p:txBody>
      </p:sp>
      <p:pic>
        <p:nvPicPr>
          <p:cNvPr id="9" name="Image 0" descr="connector">    </p:cNvPr>
          <p:cNvPicPr>
            <a:picLocks noChangeAspect="1"/>
          </p:cNvPicPr>
          <p:nvPr/>
        </p:nvPicPr>
        <p:blipFill>
          <a:blip r:embed="rId1"/>
          <a:srcRect l="0" r="0" t="0" b="0"/>
          <a:stretch/>
        </p:blipFill>
        <p:spPr>
          <a:xfrm>
            <a:off x="2921000" y="3432795"/>
            <a:ext cx="736600" cy="101600"/>
          </a:xfrm>
          <a:prstGeom prst="rect">
            <a:avLst/>
          </a:prstGeom>
        </p:spPr>
      </p:pic>
      <p:pic>
        <p:nvPicPr>
          <p:cNvPr id="10" name="Image 1" descr="connector">    </p:cNvPr>
          <p:cNvPicPr>
            <a:picLocks noChangeAspect="1"/>
          </p:cNvPicPr>
          <p:nvPr/>
        </p:nvPicPr>
        <p:blipFill>
          <a:blip r:embed="rId2"/>
          <a:srcRect l="0" r="0" t="0" b="0"/>
          <a:stretch/>
        </p:blipFill>
        <p:spPr>
          <a:xfrm>
            <a:off x="5715000" y="3432795"/>
            <a:ext cx="736600" cy="101600"/>
          </a:xfrm>
          <a:prstGeom prst="rect">
            <a:avLst/>
          </a:prstGeom>
        </p:spPr>
      </p:pic>
      <p:pic>
        <p:nvPicPr>
          <p:cNvPr id="11" name="Image 2" descr="connector">    </p:cNvPr>
          <p:cNvPicPr>
            <a:picLocks noChangeAspect="1"/>
          </p:cNvPicPr>
          <p:nvPr/>
        </p:nvPicPr>
        <p:blipFill>
          <a:blip r:embed="rId3"/>
          <a:srcRect l="0" r="0" t="0" b="0"/>
          <a:stretch/>
        </p:blipFill>
        <p:spPr>
          <a:xfrm>
            <a:off x="8509000" y="3432795"/>
            <a:ext cx="736600" cy="101600"/>
          </a:xfrm>
          <a:prstGeom prst="rect">
            <a:avLst/>
          </a:prstGeom>
        </p:spPr>
      </p:pic>
      <p:pic>
        <p:nvPicPr>
          <p:cNvPr id="12" name="Image 3" descr="connector">    </p:cNvPr>
          <p:cNvPicPr>
            <a:picLocks noChangeAspect="1"/>
          </p:cNvPicPr>
          <p:nvPr/>
        </p:nvPicPr>
        <p:blipFill>
          <a:blip r:embed="rId4"/>
          <a:srcRect l="0" r="0" t="0" b="0"/>
          <a:stretch/>
        </p:blipFill>
        <p:spPr>
          <a:xfrm>
            <a:off x="7429500" y="2512045"/>
            <a:ext cx="101600" cy="673100"/>
          </a:xfrm>
          <a:prstGeom prst="rect">
            <a:avLst/>
          </a:prstGeom>
        </p:spPr>
      </p:pic>
      <p:pic>
        <p:nvPicPr>
          <p:cNvPr id="13" name="Image 4" descr="connector">    </p:cNvPr>
          <p:cNvPicPr>
            <a:picLocks noChangeAspect="1"/>
          </p:cNvPicPr>
          <p:nvPr/>
        </p:nvPicPr>
        <p:blipFill>
          <a:blip r:embed="rId5"/>
          <a:srcRect l="0" r="0" t="0" b="0"/>
          <a:stretch/>
        </p:blipFill>
        <p:spPr>
          <a:xfrm>
            <a:off x="7429500" y="3782045"/>
            <a:ext cx="101600" cy="482600"/>
          </a:xfrm>
          <a:prstGeom prst="rect">
            <a:avLst/>
          </a:prstGeom>
        </p:spPr>
      </p:pic>
      <p:pic>
        <p:nvPicPr>
          <p:cNvPr id="14" name="Image 5" descr="connector">    </p:cNvPr>
          <p:cNvPicPr>
            <a:picLocks noChangeAspect="1"/>
          </p:cNvPicPr>
          <p:nvPr/>
        </p:nvPicPr>
        <p:blipFill>
          <a:blip r:embed="rId6"/>
          <a:srcRect l="0" r="0" t="0" b="0"/>
          <a:stretch/>
        </p:blipFill>
        <p:spPr>
          <a:xfrm>
            <a:off x="1841500" y="4163045"/>
            <a:ext cx="5689600" cy="101600"/>
          </a:xfrm>
          <a:prstGeom prst="rect">
            <a:avLst/>
          </a:prstGeom>
        </p:spPr>
      </p:pic>
      <p:pic>
        <p:nvPicPr>
          <p:cNvPr id="15" name="Image 6" descr="connector">    </p:cNvPr>
          <p:cNvPicPr>
            <a:picLocks noChangeAspect="1"/>
          </p:cNvPicPr>
          <p:nvPr/>
        </p:nvPicPr>
        <p:blipFill>
          <a:blip r:embed="rId7"/>
          <a:srcRect l="0" r="0" t="0" b="0"/>
          <a:stretch/>
        </p:blipFill>
        <p:spPr>
          <a:xfrm>
            <a:off x="1841500" y="3782045"/>
            <a:ext cx="101600" cy="482600"/>
          </a:xfrm>
          <a:prstGeom prst="rect">
            <a:avLst/>
          </a:prstGeom>
        </p:spPr>
      </p:pic>
      <p:sp>
        <p:nvSpPr>
          <p:cNvPr id="16" name="Text 7"/>
          <p:cNvSpPr/>
          <p:nvPr/>
        </p:nvSpPr>
        <p:spPr>
          <a:xfrm>
            <a:off x="8623300" y="3547095"/>
            <a:ext cx="622300" cy="193024"/>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6A5444"/>
                </a:solidFill>
                <a:latin typeface="Arial" pitchFamily="34" charset="0"/>
                <a:ea typeface="Arial" pitchFamily="34" charset="-122"/>
                <a:cs typeface="Arial" pitchFamily="34" charset="-120"/>
              </a:rPr>
              <a:t>Señales</a:t>
            </a:r>
            <a:endParaRPr lang="en-US" sz="1100" dirty="0"/>
          </a:p>
        </p:txBody>
      </p:sp>
      <p:sp>
        <p:nvSpPr>
          <p:cNvPr id="17" name="Text 8"/>
          <p:cNvSpPr/>
          <p:nvPr/>
        </p:nvSpPr>
        <p:spPr>
          <a:xfrm>
            <a:off x="3949700" y="4290045"/>
            <a:ext cx="2616200" cy="208247"/>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D7A8C"/>
                </a:solidFill>
                <a:latin typeface="Arial" pitchFamily="34" charset="0"/>
                <a:ea typeface="Arial" pitchFamily="34" charset="-122"/>
                <a:cs typeface="Arial" pitchFamily="34" charset="-120"/>
              </a:rPr>
              <a:t>Retorno del fluido al baño</a:t>
            </a:r>
            <a:endParaRPr lang="en-US" sz="1200" dirty="0"/>
          </a:p>
        </p:txBody>
      </p:sp>
      <p:sp>
        <p:nvSpPr>
          <p:cNvPr id="18" name="Text 9"/>
          <p:cNvSpPr/>
          <p:nvPr/>
        </p:nvSpPr>
        <p:spPr>
          <a:xfrm>
            <a:off x="812800" y="4709145"/>
            <a:ext cx="10566400" cy="812800"/>
          </a:xfrm>
          <a:prstGeom prst="roundRect">
            <a:avLst>
              <a:gd name="adj" fmla="val 9375"/>
            </a:avLst>
          </a:prstGeom>
          <a:solidFill>
            <a:srgbClr val="2A1810"/>
          </a:solidFill>
          <a:ln/>
        </p:spPr>
        <p:txBody>
          <a:bodyPr wrap="square" lIns="117382" tIns="117382" rIns="0" bIns="91982"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η = ṁ · cp · (To − Ti) / (A · G). Se repite a varias Ti en condiciones estables y se ajusta la recta η contra (Ti − Ta)/G (Duffie et al., 2020; ISO, 2025).</a:t>
            </a:r>
            <a:endParaRPr lang="en-US" sz="1500" dirty="0"/>
          </a:p>
        </p:txBody>
      </p:sp>
      <p:sp>
        <p:nvSpPr>
          <p:cNvPr id="19" name="Text 10"/>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Tomado de: Duffie et al. (2020); ISO (2025). Esquema simplificado propio.</a:t>
            </a:r>
            <a:endParaRPr lang="en-US" sz="1200" dirty="0"/>
          </a:p>
        </p:txBody>
      </p:sp>
      <p:sp>
        <p:nvSpPr>
          <p:cNvPr id="20" name="Text 11"/>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46</a:t>
            </a:r>
            <a:endParaRPr lang="en-US" sz="12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CONCLUSIONES</a:t>
            </a:r>
            <a:endParaRPr lang="en-US" sz="1400" dirty="0"/>
          </a:p>
        </p:txBody>
      </p:sp>
      <p:sp>
        <p:nvSpPr>
          <p:cNvPr id="3" name="Text 1"/>
          <p:cNvSpPr/>
          <p:nvPr>
            <p:ph type="title"/>
          </p:nvPr>
        </p:nvSpPr>
        <p:spPr>
          <a:xfrm>
            <a:off x="812800" y="12649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Cuatro ideas para llevarse</a:t>
            </a:r>
            <a:endParaRPr lang="en-US" sz="3200" dirty="0"/>
          </a:p>
        </p:txBody>
      </p:sp>
      <p:sp>
        <p:nvSpPr>
          <p:cNvPr id="4" name="Shape 2"/>
          <p:cNvSpPr/>
          <p:nvPr/>
        </p:nvSpPr>
        <p:spPr>
          <a:xfrm>
            <a:off x="812800" y="1915145"/>
            <a:ext cx="5207000" cy="1142389"/>
          </a:xfrm>
          <a:prstGeom prst="roundRect">
            <a:avLst>
              <a:gd name="adj" fmla="val 8894"/>
            </a:avLst>
          </a:prstGeom>
          <a:solidFill>
            <a:srgbClr val="44261A"/>
          </a:solidFill>
          <a:ln/>
        </p:spPr>
      </p:sp>
      <p:sp>
        <p:nvSpPr>
          <p:cNvPr id="5" name="Text 3"/>
          <p:cNvSpPr/>
          <p:nvPr/>
        </p:nvSpPr>
        <p:spPr>
          <a:xfrm>
            <a:off x="1016000" y="2118345"/>
            <a:ext cx="156063" cy="761389"/>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B347"/>
                </a:solidFill>
                <a:latin typeface="Arial" pitchFamily="34" charset="0"/>
                <a:ea typeface="Arial" pitchFamily="34" charset="-122"/>
                <a:cs typeface="Arial" pitchFamily="34" charset="-120"/>
              </a:rPr>
              <a:t>1</a:t>
            </a:r>
            <a:endParaRPr lang="en-US" sz="3200" dirty="0"/>
          </a:p>
        </p:txBody>
      </p:sp>
      <p:sp>
        <p:nvSpPr>
          <p:cNvPr id="6" name="Text 4"/>
          <p:cNvSpPr/>
          <p:nvPr/>
        </p:nvSpPr>
        <p:spPr>
          <a:xfrm>
            <a:off x="1248263" y="2118345"/>
            <a:ext cx="4705387"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La energía solar térmica convierte luz en calor con eficiencias altas; la física clave es τα, la superficie selectiva y las pérdidas UL.</a:t>
            </a:r>
            <a:endParaRPr lang="en-US" sz="1400" dirty="0"/>
          </a:p>
        </p:txBody>
      </p:sp>
      <p:sp>
        <p:nvSpPr>
          <p:cNvPr id="7" name="Shape 5"/>
          <p:cNvSpPr/>
          <p:nvPr/>
        </p:nvSpPr>
        <p:spPr>
          <a:xfrm>
            <a:off x="6172200" y="1915145"/>
            <a:ext cx="5207000" cy="1142389"/>
          </a:xfrm>
          <a:prstGeom prst="roundRect">
            <a:avLst>
              <a:gd name="adj" fmla="val 8894"/>
            </a:avLst>
          </a:prstGeom>
          <a:solidFill>
            <a:srgbClr val="44261A"/>
          </a:solidFill>
          <a:ln/>
        </p:spPr>
      </p:sp>
      <p:sp>
        <p:nvSpPr>
          <p:cNvPr id="8" name="Text 6"/>
          <p:cNvSpPr/>
          <p:nvPr/>
        </p:nvSpPr>
        <p:spPr>
          <a:xfrm>
            <a:off x="6375400" y="2118345"/>
            <a:ext cx="152522" cy="761389"/>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B347"/>
                </a:solidFill>
                <a:latin typeface="Arial" pitchFamily="34" charset="0"/>
                <a:ea typeface="Arial" pitchFamily="34" charset="-122"/>
                <a:cs typeface="Arial" pitchFamily="34" charset="-120"/>
              </a:rPr>
              <a:t>2</a:t>
            </a:r>
            <a:endParaRPr lang="en-US" sz="3200" dirty="0"/>
          </a:p>
        </p:txBody>
      </p:sp>
      <p:sp>
        <p:nvSpPr>
          <p:cNvPr id="9" name="Text 7"/>
          <p:cNvSpPr/>
          <p:nvPr/>
        </p:nvSpPr>
        <p:spPr>
          <a:xfrm>
            <a:off x="6604122" y="2118345"/>
            <a:ext cx="4709034"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El tipo de colector se elige por la temperatura: plano para agua caliente, tubos para calor de proceso, concentración para electricidad.</a:t>
            </a:r>
            <a:endParaRPr lang="en-US" sz="1400" dirty="0"/>
          </a:p>
        </p:txBody>
      </p:sp>
      <p:sp>
        <p:nvSpPr>
          <p:cNvPr id="10" name="Shape 8"/>
          <p:cNvSpPr/>
          <p:nvPr/>
        </p:nvSpPr>
        <p:spPr>
          <a:xfrm>
            <a:off x="812800" y="3209925"/>
            <a:ext cx="5207000" cy="1142389"/>
          </a:xfrm>
          <a:prstGeom prst="roundRect">
            <a:avLst>
              <a:gd name="adj" fmla="val 8894"/>
            </a:avLst>
          </a:prstGeom>
          <a:solidFill>
            <a:srgbClr val="44261A"/>
          </a:solidFill>
          <a:ln/>
        </p:spPr>
      </p:sp>
      <p:sp>
        <p:nvSpPr>
          <p:cNvPr id="11" name="Text 9"/>
          <p:cNvSpPr/>
          <p:nvPr/>
        </p:nvSpPr>
        <p:spPr>
          <a:xfrm>
            <a:off x="1016000" y="3413125"/>
            <a:ext cx="179795" cy="761389"/>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B347"/>
                </a:solidFill>
                <a:latin typeface="Arial" pitchFamily="34" charset="0"/>
                <a:ea typeface="Arial" pitchFamily="34" charset="-122"/>
                <a:cs typeface="Arial" pitchFamily="34" charset="-120"/>
              </a:rPr>
              <a:t>3</a:t>
            </a:r>
            <a:endParaRPr lang="en-US" sz="3200" dirty="0"/>
          </a:p>
        </p:txBody>
      </p:sp>
      <p:sp>
        <p:nvSpPr>
          <p:cNvPr id="12" name="Text 10"/>
          <p:cNvSpPr/>
          <p:nvPr/>
        </p:nvSpPr>
        <p:spPr>
          <a:xfrm>
            <a:off x="1271995" y="3413125"/>
            <a:ext cx="4680944"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El dimensionado parte de la demanda y del dato de radiación local medido; un error en H cambia el área.</a:t>
            </a:r>
            <a:endParaRPr lang="en-US" sz="1400" dirty="0"/>
          </a:p>
        </p:txBody>
      </p:sp>
      <p:sp>
        <p:nvSpPr>
          <p:cNvPr id="13" name="Shape 11"/>
          <p:cNvSpPr/>
          <p:nvPr/>
        </p:nvSpPr>
        <p:spPr>
          <a:xfrm>
            <a:off x="6172200" y="3209925"/>
            <a:ext cx="5207000" cy="1142389"/>
          </a:xfrm>
          <a:prstGeom prst="roundRect">
            <a:avLst>
              <a:gd name="adj" fmla="val 8894"/>
            </a:avLst>
          </a:prstGeom>
          <a:solidFill>
            <a:srgbClr val="44261A"/>
          </a:solidFill>
          <a:ln/>
        </p:spPr>
      </p:sp>
      <p:sp>
        <p:nvSpPr>
          <p:cNvPr id="14" name="Text 12"/>
          <p:cNvSpPr/>
          <p:nvPr/>
        </p:nvSpPr>
        <p:spPr>
          <a:xfrm>
            <a:off x="6375400" y="3413125"/>
            <a:ext cx="159930" cy="761389"/>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B347"/>
                </a:solidFill>
                <a:latin typeface="Arial" pitchFamily="34" charset="0"/>
                <a:ea typeface="Arial" pitchFamily="34" charset="-122"/>
                <a:cs typeface="Arial" pitchFamily="34" charset="-120"/>
              </a:rPr>
              <a:t>4</a:t>
            </a:r>
            <a:endParaRPr lang="en-US" sz="3200" dirty="0"/>
          </a:p>
        </p:txBody>
      </p:sp>
      <p:sp>
        <p:nvSpPr>
          <p:cNvPr id="15" name="Text 13"/>
          <p:cNvSpPr/>
          <p:nvPr/>
        </p:nvSpPr>
        <p:spPr>
          <a:xfrm>
            <a:off x="6611531" y="3413125"/>
            <a:ext cx="4701404" cy="76138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FBF4E8"/>
                </a:solidFill>
                <a:latin typeface="Arial" pitchFamily="34" charset="0"/>
                <a:ea typeface="Arial" pitchFamily="34" charset="-122"/>
                <a:cs typeface="Arial" pitchFamily="34" charset="-120"/>
              </a:rPr>
              <a:t>En el Caribe el mayor potencial está en el agua caliente y en el frío solar; los parámetros deben venir de un ensayo ISO 9806.</a:t>
            </a:r>
            <a:endParaRPr lang="en-US" sz="1400" dirty="0"/>
          </a:p>
        </p:txBody>
      </p:sp>
      <p:sp>
        <p:nvSpPr>
          <p:cNvPr id="16" name="Text 14"/>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Síntesis de la clase; cada idea tiene su fuente al pie de la diapositiva correspondiente.</a:t>
            </a:r>
            <a:endParaRPr lang="en-US" sz="1200" dirty="0"/>
          </a:p>
        </p:txBody>
      </p:sp>
      <p:sp>
        <p:nvSpPr>
          <p:cNvPr id="17" name="Text 15"/>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47</a:t>
            </a:r>
            <a:endParaRPr lang="en-US" sz="12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A181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B347"/>
                </a:solidFill>
                <a:latin typeface="Arial" pitchFamily="34" charset="0"/>
                <a:ea typeface="Arial" pitchFamily="34" charset="-122"/>
                <a:cs typeface="Arial" pitchFamily="34" charset="-120"/>
              </a:rPr>
              <a:t>TALLER EVALUABLE · 30 MINUTOS · EN PAREJAS</a:t>
            </a:r>
            <a:endParaRPr lang="en-US" sz="1400" dirty="0"/>
          </a:p>
        </p:txBody>
      </p:sp>
      <p:sp>
        <p:nvSpPr>
          <p:cNvPr id="3" name="Text 1"/>
          <p:cNvSpPr/>
          <p:nvPr>
            <p:ph type="title"/>
          </p:nvPr>
        </p:nvSpPr>
        <p:spPr>
          <a:xfrm>
            <a:off x="812800" y="1239515"/>
            <a:ext cx="10883392" cy="47242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4E8"/>
                </a:solidFill>
                <a:latin typeface="Arial" pitchFamily="34" charset="0"/>
                <a:ea typeface="Arial" pitchFamily="34" charset="-122"/>
                <a:cs typeface="Arial" pitchFamily="34" charset="-120"/>
              </a:rPr>
              <a:t>Cinco problemas, un punto cada uno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874766"/>
          <a:ext cx="10555979" cy="2142392"/>
        </p:xfrm>
        <a:graphic>
          <a:graphicData uri="http://schemas.openxmlformats.org/drawingml/2006/table">
            <a:tbl>
              <a:tblPr/>
              <a:tblGrid>
                <a:gridCol w="844478"/>
                <a:gridCol w="2533435"/>
                <a:gridCol w="7178066"/>
              </a:tblGrid>
              <a:tr h="357065">
                <a:tc>
                  <a:txBody>
                    <a:bodyPr/>
                    <a:lstStyle/>
                    <a:p>
                      <a:pPr indent="0" marL="0">
                        <a:lnSpc>
                          <a:spcPts val="1820"/>
                        </a:lnSpc>
                        <a:buNone/>
                      </a:pPr>
                      <a:r>
                        <a:rPr lang="en-US" sz="1300" b="1" dirty="0">
                          <a:solidFill>
                            <a:srgbClr val="FBF4E8"/>
                          </a:solidFill>
                          <a:latin typeface="Arial" pitchFamily="34" charset="0"/>
                          <a:ea typeface="Arial" pitchFamily="34" charset="-122"/>
                          <a:cs typeface="Arial" pitchFamily="34" charset="-120"/>
                        </a:rPr>
                        <a:t>N.º</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820"/>
                        </a:lnSpc>
                        <a:buNone/>
                      </a:pPr>
                      <a:r>
                        <a:rPr lang="en-US" sz="1300" b="1" dirty="0">
                          <a:solidFill>
                            <a:srgbClr val="FBF4E8"/>
                          </a:solidFill>
                          <a:latin typeface="Arial" pitchFamily="34" charset="0"/>
                          <a:ea typeface="Arial" pitchFamily="34" charset="-122"/>
                          <a:cs typeface="Arial" pitchFamily="34" charset="-120"/>
                        </a:rPr>
                        <a:t>Tema</a:t>
                      </a:r>
                      <a:endParaRPr lang="en-US" sz="1300" dirty="0">
                        <a:latin typeface="Arial" charset="0"/>
                        <a:ea typeface="Arial" charset="0"/>
                        <a:cs typeface="Arial" charset="0"/>
                      </a:endParaRPr>
                    </a:p>
                  </a:txBody>
                  <a:tcPr marL="57785" marR="57785" marT="57785" marB="57785"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c>
                  <a:txBody>
                    <a:bodyPr/>
                    <a:lstStyle/>
                    <a:p>
                      <a:pPr indent="0" marL="0">
                        <a:lnSpc>
                          <a:spcPts val="1820"/>
                        </a:lnSpc>
                        <a:buNone/>
                      </a:pPr>
                      <a:r>
                        <a:rPr lang="en-US" sz="1300" b="1" dirty="0">
                          <a:solidFill>
                            <a:srgbClr val="FBF4E8"/>
                          </a:solidFill>
                          <a:latin typeface="Arial" pitchFamily="34" charset="0"/>
                          <a:ea typeface="Arial" pitchFamily="34" charset="-122"/>
                          <a:cs typeface="Arial" pitchFamily="34" charset="-120"/>
                        </a:rPr>
                        <a:t>Enunciado breve</a:t>
                      </a:r>
                      <a:endParaRPr lang="en-US" sz="1300" dirty="0">
                        <a:latin typeface="Arial" charset="0"/>
                        <a:ea typeface="Arial" charset="0"/>
                        <a:cs typeface="Arial" charset="0"/>
                      </a:endParaRPr>
                    </a:p>
                  </a:txBody>
                  <a:tcPr marL="57785" marR="57785" marT="57785" marB="57785" anchor="t">
                    <a:lnL w="12700" cap="flat" cmpd="sng" algn="ctr">
                      <a:solidFill>
                        <a:srgbClr val="655850"/>
                      </a:solidFill>
                      <a:prstDash val="solid"/>
                      <a:round/>
                      <a:headEnd type="none" w="med" len="med"/>
                      <a:tailEnd type="none" w="med" len="med"/>
                    </a:lnL>
                    <a:lnR w="12700" cap="flat" cmpd="sng" algn="ctr">
                      <a:solidFill>
                        <a:srgbClr val="655850"/>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655850"/>
                      </a:solidFill>
                      <a:prstDash val="solid"/>
                      <a:round/>
                      <a:headEnd type="none" w="med" len="med"/>
                      <a:tailEnd type="none" w="med" len="med"/>
                    </a:lnB>
                    <a:solidFill>
                      <a:srgbClr val="3B2A22"/>
                    </a:solidFill>
                  </a:tcPr>
                </a:tc>
              </a:tr>
              <a:tr h="357065">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Radiación</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Placa a 90 °C, aire a 28 °C: pérdida radiativa con ε = 0,9 y 0,1; λmáx de la placa</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655850"/>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57065">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Curva de eficiencia</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Plano 0,78 y 4,0; tubos 0,68 y 1,6; G = 900 W/m²: ¿cuál conviene a 60 y a 80 °C?</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57065">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Dimensionado</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5 × 45 L a 50 °C, red a 27 °C, H = 5,0, ηsis = 0,55, f = 0,75: área y tanque</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57065">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Almacenamiento</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Tanque de 300 L con ΔT = 30 K: energía y masa de PCM equivalente (L = 180 kJ/kg)</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r h="357065">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Frío solar</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c>
                  <a:txBody>
                    <a:bodyPr/>
                    <a:lstStyle/>
                    <a:p>
                      <a:pPr indent="0" marL="0">
                        <a:lnSpc>
                          <a:spcPts val="1820"/>
                        </a:lnSpc>
                        <a:buNone/>
                      </a:pPr>
                      <a:r>
                        <a:rPr lang="en-US" sz="1300" dirty="0">
                          <a:solidFill>
                            <a:srgbClr val="FBF4E8"/>
                          </a:solidFill>
                          <a:latin typeface="Arial" pitchFamily="34" charset="0"/>
                          <a:ea typeface="Arial" pitchFamily="34" charset="-122"/>
                          <a:cs typeface="Arial" pitchFamily="34" charset="-120"/>
                        </a:rPr>
                        <a:t>17,5 kW de frío, COP = 0,7, η = 0,5, G = 850 W/m²: área de colector</a:t>
                      </a:r>
                      <a:endParaRPr lang="en-US" sz="1300" dirty="0">
                        <a:latin typeface="Arial" charset="0"/>
                        <a:ea typeface="Arial" charset="0"/>
                        <a:cs typeface="Arial" charset="0"/>
                      </a:endParaRPr>
                    </a:p>
                  </a:txBody>
                  <a:tcPr marL="57785" marR="57785" marT="57785" marB="57785" anchor="t">
                    <a:lnL w="12700" cap="flat" cmpd="sng" algn="ctr">
                      <a:solidFill>
                        <a:srgbClr val="584A42"/>
                      </a:solidFill>
                      <a:prstDash val="solid"/>
                      <a:round/>
                      <a:headEnd type="none" w="med" len="med"/>
                      <a:tailEnd type="none" w="med" len="med"/>
                    </a:lnL>
                    <a:lnR w="12700" cap="flat" cmpd="sng" algn="ctr">
                      <a:solidFill>
                        <a:srgbClr val="584A42"/>
                      </a:solidFill>
                      <a:prstDash val="solid"/>
                      <a:round/>
                      <a:headEnd type="none" w="med" len="med"/>
                      <a:tailEnd type="none" w="med" len="med"/>
                    </a:lnR>
                    <a:lnT w="12700" cap="flat" cmpd="sng" algn="ctr">
                      <a:solidFill>
                        <a:srgbClr val="584A42"/>
                      </a:solidFill>
                      <a:prstDash val="solid"/>
                      <a:round/>
                      <a:headEnd type="none" w="med" len="med"/>
                      <a:tailEnd type="none" w="med" len="med"/>
                    </a:lnT>
                    <a:lnB w="12700" cap="flat" cmpd="sng" algn="ctr">
                      <a:solidFill>
                        <a:srgbClr val="584A42"/>
                      </a:solidFill>
                      <a:prstDash val="solid"/>
                      <a:round/>
                      <a:headEnd type="none" w="med" len="med"/>
                      <a:tailEnd type="none" w="med" len="med"/>
                    </a:lnB>
                  </a:tcPr>
                </a:tc>
              </a:tr>
            </a:tbl>
          </a:graphicData>
        </a:graphic>
      </p:graphicFrame>
      <p:sp>
        <p:nvSpPr>
          <p:cNvPr id="5" name="Text 2"/>
          <p:cNvSpPr/>
          <p:nvPr/>
        </p:nvSpPr>
        <p:spPr>
          <a:xfrm>
            <a:off x="812800" y="4194944"/>
            <a:ext cx="10883392" cy="270730"/>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E8CDB0"/>
                </a:solidFill>
                <a:latin typeface="Arial" pitchFamily="34" charset="0"/>
                <a:ea typeface="Arial" pitchFamily="34" charset="-122"/>
                <a:cs typeface="Arial" pitchFamily="34" charset="-120"/>
              </a:rPr>
              <a:t>Nota de 0 a 5. Se califica planteamiento, unidades y resultado. Se permite calculadora.</a:t>
            </a:r>
            <a:endParaRPr lang="en-US" sz="1400" dirty="0"/>
          </a:p>
        </p:txBody>
      </p:sp>
      <p:sp>
        <p:nvSpPr>
          <p:cNvPr id="6" name="Text 3"/>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DB0"/>
                </a:solidFill>
                <a:latin typeface="Arial" pitchFamily="34" charset="0"/>
                <a:ea typeface="Arial" pitchFamily="34" charset="-122"/>
                <a:cs typeface="Arial" pitchFamily="34" charset="-120"/>
              </a:rPr>
              <a:t>Método tomado de Duffie et al. (2020) y Kalogirou (2009). Valores supuestos para el ejercicio.</a:t>
            </a:r>
            <a:endParaRPr lang="en-US" sz="1200" dirty="0"/>
          </a:p>
        </p:txBody>
      </p:sp>
      <p:sp>
        <p:nvSpPr>
          <p:cNvPr id="7" name="Text 4"/>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FB347"/>
                </a:solidFill>
                <a:latin typeface="Arial" pitchFamily="34" charset="0"/>
                <a:ea typeface="Arial" pitchFamily="34" charset="-122"/>
                <a:cs typeface="Arial" pitchFamily="34" charset="-120"/>
              </a:rPr>
              <a:t>48</a:t>
            </a:r>
            <a:endParaRPr lang="en-US" sz="12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REFERENCIAS · FORMATO APA 7 (1 DE 4)</a:t>
            </a:r>
            <a:endParaRPr lang="en-US" sz="1400" dirty="0"/>
          </a:p>
        </p:txBody>
      </p:sp>
      <p:sp>
        <p:nvSpPr>
          <p:cNvPr id="3" name="Text 1"/>
          <p:cNvSpPr/>
          <p:nvPr>
            <p:ph type="title"/>
          </p:nvPr>
        </p:nvSpPr>
        <p:spPr>
          <a:xfrm>
            <a:off x="812800" y="1188715"/>
            <a:ext cx="10883392" cy="41653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810"/>
                </a:solidFill>
                <a:latin typeface="Arial" pitchFamily="34" charset="0"/>
                <a:ea typeface="Arial" pitchFamily="34" charset="-122"/>
                <a:cs typeface="Arial" pitchFamily="34" charset="-120"/>
              </a:rPr>
              <a:t>Fuentes consultadas</a:t>
            </a:r>
            <a:endParaRPr lang="en-US" sz="2800" dirty="0"/>
          </a:p>
        </p:txBody>
      </p:sp>
      <p:sp>
        <p:nvSpPr>
          <p:cNvPr id="4" name="Text 2"/>
          <p:cNvSpPr/>
          <p:nvPr/>
        </p:nvSpPr>
        <p:spPr>
          <a:xfrm>
            <a:off x="812800" y="170686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ASHRAE. (2010). </a:t>
            </a:r>
            <a:r>
              <a:rPr lang="en-US" sz="1200" i="1" dirty="0">
                <a:solidFill>
                  <a:srgbClr val="2A1810"/>
                </a:solidFill>
                <a:latin typeface="Arial" pitchFamily="34" charset="0"/>
                <a:ea typeface="Arial" pitchFamily="34" charset="-122"/>
                <a:cs typeface="Arial" pitchFamily="34" charset="-120"/>
              </a:rPr>
              <a:t>Methods of testing to determine the thermal performance of solar collectors</a:t>
            </a:r>
            <a:r>
              <a:rPr lang="en-US" sz="1200" dirty="0">
                <a:solidFill>
                  <a:srgbClr val="2A1810"/>
                </a:solidFill>
                <a:latin typeface="Arial" pitchFamily="34" charset="0"/>
                <a:ea typeface="Arial" pitchFamily="34" charset="-122"/>
                <a:cs typeface="Arial" pitchFamily="34" charset="-120"/>
              </a:rPr>
              <a:t> (ANSI/ASHRAE Standard 93-2010).</a:t>
            </a:r>
            <a:endParaRPr lang="en-US" sz="1200" dirty="0"/>
          </a:p>
        </p:txBody>
      </p:sp>
      <p:sp>
        <p:nvSpPr>
          <p:cNvPr id="5" name="Text 3"/>
          <p:cNvSpPr/>
          <p:nvPr/>
        </p:nvSpPr>
        <p:spPr>
          <a:xfrm>
            <a:off x="812800" y="203197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Banco Mundial y Solargis. (s. f.). </a:t>
            </a:r>
            <a:r>
              <a:rPr lang="en-US" sz="1200" i="1" dirty="0">
                <a:solidFill>
                  <a:srgbClr val="2A1810"/>
                </a:solidFill>
                <a:latin typeface="Arial" pitchFamily="34" charset="0"/>
                <a:ea typeface="Arial" pitchFamily="34" charset="-122"/>
                <a:cs typeface="Arial" pitchFamily="34" charset="-120"/>
              </a:rPr>
              <a:t>Global Solar Atlas</a:t>
            </a:r>
            <a:r>
              <a:rPr lang="en-US" sz="1200" dirty="0">
                <a:solidFill>
                  <a:srgbClr val="2A1810"/>
                </a:solidFill>
                <a:latin typeface="Arial" pitchFamily="34" charset="0"/>
                <a:ea typeface="Arial" pitchFamily="34" charset="-122"/>
                <a:cs typeface="Arial" pitchFamily="34" charset="-120"/>
              </a:rPr>
              <a:t>. https://globalsolaratlas.info</a:t>
            </a:r>
            <a:endParaRPr lang="en-US" sz="1200" dirty="0"/>
          </a:p>
        </p:txBody>
      </p:sp>
      <p:sp>
        <p:nvSpPr>
          <p:cNvPr id="6" name="Text 4"/>
          <p:cNvSpPr/>
          <p:nvPr/>
        </p:nvSpPr>
        <p:spPr>
          <a:xfrm>
            <a:off x="812800" y="2357065"/>
            <a:ext cx="10883392" cy="4216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Benavides, H. (2018). </a:t>
            </a:r>
            <a:r>
              <a:rPr lang="en-US" sz="1200" i="1" dirty="0">
                <a:solidFill>
                  <a:srgbClr val="2A1810"/>
                </a:solidFill>
                <a:latin typeface="Arial" pitchFamily="34" charset="0"/>
                <a:ea typeface="Arial" pitchFamily="34" charset="-122"/>
                <a:cs typeface="Arial" pitchFamily="34" charset="-120"/>
              </a:rPr>
              <a:t>Lanzamiento del Atlas de Radiación Solar, Ultravioleta y Ozono de Colombia</a:t>
            </a:r>
            <a:r>
              <a:rPr lang="en-US" sz="1200" dirty="0">
                <a:solidFill>
                  <a:srgbClr val="2A1810"/>
                </a:solidFill>
                <a:latin typeface="Arial" pitchFamily="34" charset="0"/>
                <a:ea typeface="Arial" pitchFamily="34" charset="-122"/>
                <a:cs typeface="Arial" pitchFamily="34" charset="-120"/>
              </a:rPr>
              <a:t> [Diapositivas]. IDEAM. https://feriaexposolar.com/wp-content/uploads/2018/06/</a:t>
            </a:r>
            <a:endParaRPr lang="en-US" sz="1200" dirty="0"/>
          </a:p>
        </p:txBody>
      </p:sp>
      <p:sp>
        <p:nvSpPr>
          <p:cNvPr id="7" name="Text 5"/>
          <p:cNvSpPr/>
          <p:nvPr/>
        </p:nvSpPr>
        <p:spPr>
          <a:xfrm>
            <a:off x="812800" y="2880296"/>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Bureau International des Expositions [BIE]. (2017, 15 de febrero). </a:t>
            </a:r>
            <a:r>
              <a:rPr lang="en-US" sz="1200" i="1" dirty="0">
                <a:solidFill>
                  <a:srgbClr val="2A1810"/>
                </a:solidFill>
                <a:latin typeface="Arial" pitchFamily="34" charset="0"/>
                <a:ea typeface="Arial" pitchFamily="34" charset="-122"/>
                <a:cs typeface="Arial" pitchFamily="34" charset="-120"/>
              </a:rPr>
              <a:t>Expo 1878 Paris: The revelation of sun power</a:t>
            </a:r>
            <a:r>
              <a:rPr lang="en-US" sz="1200" dirty="0">
                <a:solidFill>
                  <a:srgbClr val="2A1810"/>
                </a:solidFill>
                <a:latin typeface="Arial" pitchFamily="34" charset="0"/>
                <a:ea typeface="Arial" pitchFamily="34" charset="-122"/>
                <a:cs typeface="Arial" pitchFamily="34" charset="-120"/>
              </a:rPr>
              <a:t>. https://bie-paris.org</a:t>
            </a:r>
            <a:endParaRPr lang="en-US" sz="1200" dirty="0"/>
          </a:p>
        </p:txBody>
      </p:sp>
      <p:sp>
        <p:nvSpPr>
          <p:cNvPr id="8" name="Text 6"/>
          <p:cNvSpPr/>
          <p:nvPr/>
        </p:nvSpPr>
        <p:spPr>
          <a:xfrm>
            <a:off x="812800" y="3205411"/>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Duffie, J. A., Beckman, W. A. y Blair, N. (2020). </a:t>
            </a:r>
            <a:r>
              <a:rPr lang="en-US" sz="1200" i="1" dirty="0">
                <a:solidFill>
                  <a:srgbClr val="2A1810"/>
                </a:solidFill>
                <a:latin typeface="Arial" pitchFamily="34" charset="0"/>
                <a:ea typeface="Arial" pitchFamily="34" charset="-122"/>
                <a:cs typeface="Arial" pitchFamily="34" charset="-120"/>
              </a:rPr>
              <a:t>Solar engineering of thermal processes, photovoltaics and wind</a:t>
            </a:r>
            <a:r>
              <a:rPr lang="en-US" sz="1200" dirty="0">
                <a:solidFill>
                  <a:srgbClr val="2A1810"/>
                </a:solidFill>
                <a:latin typeface="Arial" pitchFamily="34" charset="0"/>
                <a:ea typeface="Arial" pitchFamily="34" charset="-122"/>
                <a:cs typeface="Arial" pitchFamily="34" charset="-120"/>
              </a:rPr>
              <a:t> (5.ª ed.). Wiley.</a:t>
            </a:r>
            <a:endParaRPr lang="en-US" sz="1200" dirty="0"/>
          </a:p>
        </p:txBody>
      </p:sp>
      <p:sp>
        <p:nvSpPr>
          <p:cNvPr id="9" name="Text 7"/>
          <p:cNvSpPr/>
          <p:nvPr/>
        </p:nvSpPr>
        <p:spPr>
          <a:xfrm>
            <a:off x="812800" y="3530526"/>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Epp, B. (2015, 13 de julio). Israel: Front runner in solar building code with strong impact on market. </a:t>
            </a:r>
            <a:r>
              <a:rPr lang="en-US" sz="1200" i="1" dirty="0">
                <a:solidFill>
                  <a:srgbClr val="2A1810"/>
                </a:solidFill>
                <a:latin typeface="Arial" pitchFamily="34" charset="0"/>
                <a:ea typeface="Arial" pitchFamily="34" charset="-122"/>
                <a:cs typeface="Arial" pitchFamily="34" charset="-120"/>
              </a:rPr>
              <a:t>Solarthermalworld</a:t>
            </a:r>
            <a:r>
              <a:rPr lang="en-US" sz="1200" dirty="0">
                <a:solidFill>
                  <a:srgbClr val="2A1810"/>
                </a:solidFill>
                <a:latin typeface="Arial" pitchFamily="34" charset="0"/>
                <a:ea typeface="Arial" pitchFamily="34" charset="-122"/>
                <a:cs typeface="Arial" pitchFamily="34" charset="-120"/>
              </a:rPr>
              <a:t>. https://solarthermalworld.org</a:t>
            </a:r>
            <a:endParaRPr lang="en-US" sz="1200" dirty="0"/>
          </a:p>
        </p:txBody>
      </p:sp>
      <p:sp>
        <p:nvSpPr>
          <p:cNvPr id="10" name="Text 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Lista en orden alfabético. Cada diapositiva cita al pie de dónde se tomó su información.</a:t>
            </a:r>
            <a:endParaRPr lang="en-US" sz="1200" dirty="0"/>
          </a:p>
        </p:txBody>
      </p:sp>
      <p:sp>
        <p:nvSpPr>
          <p:cNvPr id="11" name="Text 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49</a:t>
            </a:r>
            <a:endParaRPr lang="en-US" sz="120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REFERENCIAS · FORMATO APA 7 (2 DE 4)</a:t>
            </a:r>
            <a:endParaRPr lang="en-US" sz="1400" dirty="0"/>
          </a:p>
        </p:txBody>
      </p:sp>
      <p:sp>
        <p:nvSpPr>
          <p:cNvPr id="3" name="Text 1"/>
          <p:cNvSpPr/>
          <p:nvPr>
            <p:ph type="title"/>
          </p:nvPr>
        </p:nvSpPr>
        <p:spPr>
          <a:xfrm>
            <a:off x="812800" y="1188715"/>
            <a:ext cx="10883392" cy="41653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810"/>
                </a:solidFill>
                <a:latin typeface="Arial" pitchFamily="34" charset="0"/>
                <a:ea typeface="Arial" pitchFamily="34" charset="-122"/>
                <a:cs typeface="Arial" pitchFamily="34" charset="-120"/>
              </a:rPr>
              <a:t>Fuentes consultadas</a:t>
            </a:r>
            <a:endParaRPr lang="en-US" sz="2800" dirty="0"/>
          </a:p>
        </p:txBody>
      </p:sp>
      <p:sp>
        <p:nvSpPr>
          <p:cNvPr id="4" name="Text 2"/>
          <p:cNvSpPr/>
          <p:nvPr/>
        </p:nvSpPr>
        <p:spPr>
          <a:xfrm>
            <a:off x="812800" y="170686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Frank Shuman. (s. f.). En </a:t>
            </a:r>
            <a:r>
              <a:rPr lang="en-US" sz="1200" i="1" dirty="0">
                <a:solidFill>
                  <a:srgbClr val="2A1810"/>
                </a:solidFill>
                <a:latin typeface="Arial" pitchFamily="34" charset="0"/>
                <a:ea typeface="Arial" pitchFamily="34" charset="-122"/>
                <a:cs typeface="Arial" pitchFamily="34" charset="-120"/>
              </a:rPr>
              <a:t>Wikipedia</a:t>
            </a:r>
            <a:r>
              <a:rPr lang="en-US" sz="1200" dirty="0">
                <a:solidFill>
                  <a:srgbClr val="2A1810"/>
                </a:solidFill>
                <a:latin typeface="Arial" pitchFamily="34" charset="0"/>
                <a:ea typeface="Arial" pitchFamily="34" charset="-122"/>
                <a:cs typeface="Arial" pitchFamily="34" charset="-120"/>
              </a:rPr>
              <a:t>. Recuperado el 12 de octubre de 2026 de https://en.wikipedia.org/wiki/Frank_Shuman</a:t>
            </a:r>
            <a:endParaRPr lang="en-US" sz="1200" dirty="0"/>
          </a:p>
        </p:txBody>
      </p:sp>
      <p:sp>
        <p:nvSpPr>
          <p:cNvPr id="5" name="Text 3"/>
          <p:cNvSpPr/>
          <p:nvPr/>
        </p:nvSpPr>
        <p:spPr>
          <a:xfrm>
            <a:off x="812800" y="2031975"/>
            <a:ext cx="11379200"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Gemasolar Thermosolar Plant. (s. f.). En </a:t>
            </a:r>
            <a:r>
              <a:rPr lang="en-US" sz="1200" i="1" dirty="0">
                <a:solidFill>
                  <a:srgbClr val="2A1810"/>
                </a:solidFill>
                <a:latin typeface="Arial" pitchFamily="34" charset="0"/>
                <a:ea typeface="Arial" pitchFamily="34" charset="-122"/>
                <a:cs typeface="Arial" pitchFamily="34" charset="-120"/>
              </a:rPr>
              <a:t>Wikipedia</a:t>
            </a:r>
            <a:r>
              <a:rPr lang="en-US" sz="1200" dirty="0">
                <a:solidFill>
                  <a:srgbClr val="2A1810"/>
                </a:solidFill>
                <a:latin typeface="Arial" pitchFamily="34" charset="0"/>
                <a:ea typeface="Arial" pitchFamily="34" charset="-122"/>
                <a:cs typeface="Arial" pitchFamily="34" charset="-120"/>
              </a:rPr>
              <a:t>. Recuperado el 12 de octubre de 2026 de https://en.wikipedia.org/wiki/Gemasolar_Thermosolar_Plant</a:t>
            </a:r>
            <a:endParaRPr lang="en-US" sz="1200" dirty="0"/>
          </a:p>
        </p:txBody>
      </p:sp>
      <p:sp>
        <p:nvSpPr>
          <p:cNvPr id="6" name="Text 4"/>
          <p:cNvSpPr/>
          <p:nvPr/>
        </p:nvSpPr>
        <p:spPr>
          <a:xfrm>
            <a:off x="812800" y="235706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IDEAM y UPME. (2005). </a:t>
            </a:r>
            <a:r>
              <a:rPr lang="en-US" sz="1200" i="1" dirty="0">
                <a:solidFill>
                  <a:srgbClr val="2A1810"/>
                </a:solidFill>
                <a:latin typeface="Arial" pitchFamily="34" charset="0"/>
                <a:ea typeface="Arial" pitchFamily="34" charset="-122"/>
                <a:cs typeface="Arial" pitchFamily="34" charset="-120"/>
              </a:rPr>
              <a:t>Atlas de radiación solar de Colombia</a:t>
            </a:r>
            <a:r>
              <a:rPr lang="en-US" sz="1200" dirty="0">
                <a:solidFill>
                  <a:srgbClr val="2A1810"/>
                </a:solidFill>
                <a:latin typeface="Arial" pitchFamily="34" charset="0"/>
                <a:ea typeface="Arial" pitchFamily="34" charset="-122"/>
                <a:cs typeface="Arial" pitchFamily="34" charset="-120"/>
              </a:rPr>
              <a:t>. UPME. https://www1.upme.gov.co/Hemeroteca/Impresos/Atlas_Radiacion_Solar_2005</a:t>
            </a:r>
            <a:endParaRPr lang="en-US" sz="1200" dirty="0"/>
          </a:p>
        </p:txBody>
      </p:sp>
      <p:sp>
        <p:nvSpPr>
          <p:cNvPr id="7" name="Text 5"/>
          <p:cNvSpPr/>
          <p:nvPr/>
        </p:nvSpPr>
        <p:spPr>
          <a:xfrm>
            <a:off x="812800" y="268218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IEA Solar Heating and Cooling Programme [IEA SHC]. (2024). </a:t>
            </a:r>
            <a:r>
              <a:rPr lang="en-US" sz="1200" i="1" dirty="0">
                <a:solidFill>
                  <a:srgbClr val="2A1810"/>
                </a:solidFill>
                <a:latin typeface="Arial" pitchFamily="34" charset="0"/>
                <a:ea typeface="Arial" pitchFamily="34" charset="-122"/>
                <a:cs typeface="Arial" pitchFamily="34" charset="-120"/>
              </a:rPr>
              <a:t>Solar heat worldwide 2024</a:t>
            </a:r>
            <a:r>
              <a:rPr lang="en-US" sz="1200" dirty="0">
                <a:solidFill>
                  <a:srgbClr val="2A1810"/>
                </a:solidFill>
                <a:latin typeface="Arial" pitchFamily="34" charset="0"/>
                <a:ea typeface="Arial" pitchFamily="34" charset="-122"/>
                <a:cs typeface="Arial" pitchFamily="34" charset="-120"/>
              </a:rPr>
              <a:t> [Comunicado de prensa]. https://iea-shc.org</a:t>
            </a:r>
            <a:endParaRPr lang="en-US" sz="1200" dirty="0"/>
          </a:p>
        </p:txBody>
      </p:sp>
      <p:sp>
        <p:nvSpPr>
          <p:cNvPr id="8" name="Text 6"/>
          <p:cNvSpPr/>
          <p:nvPr/>
        </p:nvSpPr>
        <p:spPr>
          <a:xfrm>
            <a:off x="812800" y="3007296"/>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IEA Solar Heating and Cooling Programme [IEA SHC]. (2025). </a:t>
            </a:r>
            <a:r>
              <a:rPr lang="en-US" sz="1200" i="1" dirty="0">
                <a:solidFill>
                  <a:srgbClr val="2A1810"/>
                </a:solidFill>
                <a:latin typeface="Arial" pitchFamily="34" charset="0"/>
                <a:ea typeface="Arial" pitchFamily="34" charset="-122"/>
                <a:cs typeface="Arial" pitchFamily="34" charset="-120"/>
              </a:rPr>
              <a:t>Solar heat worldwide, edition 2025</a:t>
            </a:r>
            <a:r>
              <a:rPr lang="en-US" sz="1200" dirty="0">
                <a:solidFill>
                  <a:srgbClr val="2A1810"/>
                </a:solidFill>
                <a:latin typeface="Arial" pitchFamily="34" charset="0"/>
                <a:ea typeface="Arial" pitchFamily="34" charset="-122"/>
                <a:cs typeface="Arial" pitchFamily="34" charset="-120"/>
              </a:rPr>
              <a:t> [Artículo de prensa]. https://iea-shc.org</a:t>
            </a:r>
            <a:endParaRPr lang="en-US" sz="1200" dirty="0"/>
          </a:p>
        </p:txBody>
      </p:sp>
      <p:sp>
        <p:nvSpPr>
          <p:cNvPr id="9" name="Text 7"/>
          <p:cNvSpPr/>
          <p:nvPr/>
        </p:nvSpPr>
        <p:spPr>
          <a:xfrm>
            <a:off x="812800" y="3332411"/>
            <a:ext cx="10883392" cy="4216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International Organization for Standardization [ISO]. (2025). </a:t>
            </a:r>
            <a:r>
              <a:rPr lang="en-US" sz="1200" i="1" dirty="0">
                <a:solidFill>
                  <a:srgbClr val="2A1810"/>
                </a:solidFill>
                <a:latin typeface="Arial" pitchFamily="34" charset="0"/>
                <a:ea typeface="Arial" pitchFamily="34" charset="-122"/>
                <a:cs typeface="Arial" pitchFamily="34" charset="-120"/>
              </a:rPr>
              <a:t>Solar energy — Solar thermal collectors — Test methods</a:t>
            </a:r>
            <a:r>
              <a:rPr lang="en-US" sz="1200" dirty="0">
                <a:solidFill>
                  <a:srgbClr val="2A1810"/>
                </a:solidFill>
                <a:latin typeface="Arial" pitchFamily="34" charset="0"/>
                <a:ea typeface="Arial" pitchFamily="34" charset="-122"/>
                <a:cs typeface="Arial" pitchFamily="34" charset="-120"/>
              </a:rPr>
              <a:t> (ISO 9806:2025). https://www.iso.org/standard/78801.html</a:t>
            </a:r>
            <a:endParaRPr lang="en-US" sz="1200" dirty="0"/>
          </a:p>
        </p:txBody>
      </p:sp>
      <p:sp>
        <p:nvSpPr>
          <p:cNvPr id="10" name="Text 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Lista en orden alfabético. Cada diapositiva cita al pie de dónde se tomó su información.</a:t>
            </a:r>
            <a:endParaRPr lang="en-US" sz="1200" dirty="0"/>
          </a:p>
        </p:txBody>
      </p:sp>
      <p:sp>
        <p:nvSpPr>
          <p:cNvPr id="11" name="Text 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50</a:t>
            </a:r>
            <a:endParaRPr lang="en-US" sz="120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REFERENCIAS · FORMATO APA 7 (3 DE 4)</a:t>
            </a:r>
            <a:endParaRPr lang="en-US" sz="1400" dirty="0"/>
          </a:p>
        </p:txBody>
      </p:sp>
      <p:sp>
        <p:nvSpPr>
          <p:cNvPr id="3" name="Text 1"/>
          <p:cNvSpPr/>
          <p:nvPr>
            <p:ph type="title"/>
          </p:nvPr>
        </p:nvSpPr>
        <p:spPr>
          <a:xfrm>
            <a:off x="812800" y="1188715"/>
            <a:ext cx="10883392" cy="41653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810"/>
                </a:solidFill>
                <a:latin typeface="Arial" pitchFamily="34" charset="0"/>
                <a:ea typeface="Arial" pitchFamily="34" charset="-122"/>
                <a:cs typeface="Arial" pitchFamily="34" charset="-120"/>
              </a:rPr>
              <a:t>Fuentes consultadas</a:t>
            </a:r>
            <a:endParaRPr lang="en-US" sz="2800" dirty="0"/>
          </a:p>
        </p:txBody>
      </p:sp>
      <p:sp>
        <p:nvSpPr>
          <p:cNvPr id="4" name="Text 2"/>
          <p:cNvSpPr/>
          <p:nvPr/>
        </p:nvSpPr>
        <p:spPr>
          <a:xfrm>
            <a:off x="812800" y="1706860"/>
            <a:ext cx="11379200"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International Organization for Standardization [ISO]. (s. f.). </a:t>
            </a:r>
            <a:r>
              <a:rPr lang="en-US" sz="1200" i="1" dirty="0">
                <a:solidFill>
                  <a:srgbClr val="2A1810"/>
                </a:solidFill>
                <a:latin typeface="Arial" pitchFamily="34" charset="0"/>
                <a:ea typeface="Arial" pitchFamily="34" charset="-122"/>
                <a:cs typeface="Arial" pitchFamily="34" charset="-120"/>
              </a:rPr>
              <a:t>ISO 9459: Solar heating — Domestic water heating systems</a:t>
            </a:r>
            <a:r>
              <a:rPr lang="en-US" sz="1200" dirty="0">
                <a:solidFill>
                  <a:srgbClr val="2A1810"/>
                </a:solidFill>
                <a:latin typeface="Arial" pitchFamily="34" charset="0"/>
                <a:ea typeface="Arial" pitchFamily="34" charset="-122"/>
                <a:cs typeface="Arial" pitchFamily="34" charset="-120"/>
              </a:rPr>
              <a:t> [Serie de normas]. https://www.iso.org</a:t>
            </a:r>
            <a:endParaRPr lang="en-US" sz="1200" dirty="0"/>
          </a:p>
        </p:txBody>
      </p:sp>
      <p:sp>
        <p:nvSpPr>
          <p:cNvPr id="5" name="Text 3"/>
          <p:cNvSpPr/>
          <p:nvPr/>
        </p:nvSpPr>
        <p:spPr>
          <a:xfrm>
            <a:off x="812800" y="203197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Kalogirou, S. A. (2009). </a:t>
            </a:r>
            <a:r>
              <a:rPr lang="en-US" sz="1200" i="1" dirty="0">
                <a:solidFill>
                  <a:srgbClr val="2A1810"/>
                </a:solidFill>
                <a:latin typeface="Arial" pitchFamily="34" charset="0"/>
                <a:ea typeface="Arial" pitchFamily="34" charset="-122"/>
                <a:cs typeface="Arial" pitchFamily="34" charset="-120"/>
              </a:rPr>
              <a:t>Solar energy engineering: Processes and systems</a:t>
            </a:r>
            <a:r>
              <a:rPr lang="en-US" sz="1200" dirty="0">
                <a:solidFill>
                  <a:srgbClr val="2A1810"/>
                </a:solidFill>
                <a:latin typeface="Arial" pitchFamily="34" charset="0"/>
                <a:ea typeface="Arial" pitchFamily="34" charset="-122"/>
                <a:cs typeface="Arial" pitchFamily="34" charset="-120"/>
              </a:rPr>
              <a:t>. Academic Press.</a:t>
            </a:r>
            <a:endParaRPr lang="en-US" sz="1200" dirty="0"/>
          </a:p>
        </p:txBody>
      </p:sp>
      <p:sp>
        <p:nvSpPr>
          <p:cNvPr id="6" name="Text 4"/>
          <p:cNvSpPr/>
          <p:nvPr/>
        </p:nvSpPr>
        <p:spPr>
          <a:xfrm>
            <a:off x="812800" y="235706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Ley 1715 de 2014. (2014, 13 de mayo). Congreso de la República de Colombia. https://www.funcionpublica.gov.co</a:t>
            </a:r>
            <a:endParaRPr lang="en-US" sz="1200" dirty="0"/>
          </a:p>
        </p:txBody>
      </p:sp>
      <p:sp>
        <p:nvSpPr>
          <p:cNvPr id="7" name="Text 5"/>
          <p:cNvSpPr/>
          <p:nvPr/>
        </p:nvSpPr>
        <p:spPr>
          <a:xfrm>
            <a:off x="812800" y="268218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Ley 2099 de 2021. (2021, 10 de julio). Congreso de la República de Colombia. https://www.funcionpublica.gov.co</a:t>
            </a:r>
            <a:endParaRPr lang="en-US" sz="1200" dirty="0"/>
          </a:p>
        </p:txBody>
      </p:sp>
      <p:sp>
        <p:nvSpPr>
          <p:cNvPr id="8" name="Text 6"/>
          <p:cNvSpPr/>
          <p:nvPr/>
        </p:nvSpPr>
        <p:spPr>
          <a:xfrm>
            <a:off x="812800" y="3007296"/>
            <a:ext cx="10883392" cy="4216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Marín Quiroga, F. y Solís-Chaves, J. S. (2026). Simulación de un colector solar para el calentamiento de agua sanitaria en viviendas de interés social en Colombia. </a:t>
            </a:r>
            <a:r>
              <a:rPr lang="en-US" sz="1200" i="1" dirty="0">
                <a:solidFill>
                  <a:srgbClr val="2A1810"/>
                </a:solidFill>
                <a:latin typeface="Arial" pitchFamily="34" charset="0"/>
                <a:ea typeface="Arial" pitchFamily="34" charset="-122"/>
                <a:cs typeface="Arial" pitchFamily="34" charset="-120"/>
              </a:rPr>
              <a:t>SICEL, 12</a:t>
            </a:r>
            <a:r>
              <a:rPr lang="en-US" sz="1200" dirty="0">
                <a:solidFill>
                  <a:srgbClr val="2A1810"/>
                </a:solidFill>
                <a:latin typeface="Arial" pitchFamily="34" charset="0"/>
                <a:ea typeface="Arial" pitchFamily="34" charset="-122"/>
                <a:cs typeface="Arial" pitchFamily="34" charset="-120"/>
              </a:rPr>
              <a:t>(1). https://doi.org/10.15446/sicel.v12.121244</a:t>
            </a:r>
            <a:endParaRPr lang="en-US" sz="1200" dirty="0"/>
          </a:p>
        </p:txBody>
      </p:sp>
      <p:sp>
        <p:nvSpPr>
          <p:cNvPr id="9" name="Text 7"/>
          <p:cNvSpPr/>
          <p:nvPr/>
        </p:nvSpPr>
        <p:spPr>
          <a:xfrm>
            <a:off x="812800" y="3530526"/>
            <a:ext cx="10883392" cy="4216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MIT 2.009. (2005). </a:t>
            </a:r>
            <a:r>
              <a:rPr lang="en-US" sz="1200" i="1" dirty="0">
                <a:solidFill>
                  <a:srgbClr val="2A1810"/>
                </a:solidFill>
                <a:latin typeface="Arial" pitchFamily="34" charset="0"/>
                <a:ea typeface="Arial" pitchFamily="34" charset="-122"/>
                <a:cs typeface="Arial" pitchFamily="34" charset="-120"/>
              </a:rPr>
              <a:t>[Resultados de la prueba del rayo de Arquímedes]</a:t>
            </a:r>
            <a:r>
              <a:rPr lang="en-US" sz="1200" dirty="0">
                <a:solidFill>
                  <a:srgbClr val="2A1810"/>
                </a:solidFill>
                <a:latin typeface="Arial" pitchFamily="34" charset="0"/>
                <a:ea typeface="Arial" pitchFamily="34" charset="-122"/>
                <a:cs typeface="Arial" pitchFamily="34" charset="-120"/>
              </a:rPr>
              <a:t>. Massachusetts Institute of Technology. https://web.mit.edu/2.009_gallery/www/2005_other/archimedes/</a:t>
            </a:r>
            <a:endParaRPr lang="en-US" sz="1200" dirty="0"/>
          </a:p>
        </p:txBody>
      </p:sp>
      <p:sp>
        <p:nvSpPr>
          <p:cNvPr id="10" name="Text 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Lista en orden alfabético. Cada diapositiva cita al pie de dónde se tomó su información.</a:t>
            </a:r>
            <a:endParaRPr lang="en-US" sz="1200" dirty="0"/>
          </a:p>
        </p:txBody>
      </p:sp>
      <p:sp>
        <p:nvSpPr>
          <p:cNvPr id="11" name="Text 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51</a:t>
            </a:r>
            <a:endParaRPr lang="en-US" sz="120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REFERENCIAS · FORMATO APA 7 (4 DE 4)</a:t>
            </a:r>
            <a:endParaRPr lang="en-US" sz="1400" dirty="0"/>
          </a:p>
        </p:txBody>
      </p:sp>
      <p:sp>
        <p:nvSpPr>
          <p:cNvPr id="3" name="Text 1"/>
          <p:cNvSpPr/>
          <p:nvPr>
            <p:ph type="title"/>
          </p:nvPr>
        </p:nvSpPr>
        <p:spPr>
          <a:xfrm>
            <a:off x="812800" y="1188715"/>
            <a:ext cx="10883392" cy="41653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810"/>
                </a:solidFill>
                <a:latin typeface="Arial" pitchFamily="34" charset="0"/>
                <a:ea typeface="Arial" pitchFamily="34" charset="-122"/>
                <a:cs typeface="Arial" pitchFamily="34" charset="-120"/>
              </a:rPr>
              <a:t>Fuentes consultadas</a:t>
            </a:r>
            <a:endParaRPr lang="en-US" sz="2800" dirty="0"/>
          </a:p>
        </p:txBody>
      </p:sp>
      <p:sp>
        <p:nvSpPr>
          <p:cNvPr id="4" name="Text 2"/>
          <p:cNvSpPr/>
          <p:nvPr/>
        </p:nvSpPr>
        <p:spPr>
          <a:xfrm>
            <a:off x="812800" y="170686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National Inventors Hall of Fame [NIHF]. (s. f.). </a:t>
            </a:r>
            <a:r>
              <a:rPr lang="en-US" sz="1200" i="1" dirty="0">
                <a:solidFill>
                  <a:srgbClr val="2A1810"/>
                </a:solidFill>
                <a:latin typeface="Arial" pitchFamily="34" charset="0"/>
                <a:ea typeface="Arial" pitchFamily="34" charset="-122"/>
                <a:cs typeface="Arial" pitchFamily="34" charset="-120"/>
              </a:rPr>
              <a:t>Clarence Kemp</a:t>
            </a:r>
            <a:r>
              <a:rPr lang="en-US" sz="1200" dirty="0">
                <a:solidFill>
                  <a:srgbClr val="2A1810"/>
                </a:solidFill>
                <a:latin typeface="Arial" pitchFamily="34" charset="0"/>
                <a:ea typeface="Arial" pitchFamily="34" charset="-122"/>
                <a:cs typeface="Arial" pitchFamily="34" charset="-120"/>
              </a:rPr>
              <a:t>. https://invent.org/inductees/clarence-kemp</a:t>
            </a:r>
            <a:endParaRPr lang="en-US" sz="1200" dirty="0"/>
          </a:p>
        </p:txBody>
      </p:sp>
      <p:sp>
        <p:nvSpPr>
          <p:cNvPr id="5" name="Text 3"/>
          <p:cNvSpPr/>
          <p:nvPr/>
        </p:nvSpPr>
        <p:spPr>
          <a:xfrm>
            <a:off x="812800" y="203197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PwC Colombia. (2025). </a:t>
            </a:r>
            <a:r>
              <a:rPr lang="en-US" sz="1200" i="1" dirty="0">
                <a:solidFill>
                  <a:srgbClr val="2A1810"/>
                </a:solidFill>
                <a:latin typeface="Arial" pitchFamily="34" charset="0"/>
                <a:ea typeface="Arial" pitchFamily="34" charset="-122"/>
                <a:cs typeface="Arial" pitchFamily="34" charset="-120"/>
              </a:rPr>
              <a:t>Incentivos tributarios FNCE y gestión eficiente de la energía</a:t>
            </a:r>
            <a:r>
              <a:rPr lang="en-US" sz="1200" dirty="0">
                <a:solidFill>
                  <a:srgbClr val="2A1810"/>
                </a:solidFill>
                <a:latin typeface="Arial" pitchFamily="34" charset="0"/>
                <a:ea typeface="Arial" pitchFamily="34" charset="-122"/>
                <a:cs typeface="Arial" pitchFamily="34" charset="-120"/>
              </a:rPr>
              <a:t> [Factsheet]. https://www.pwc.com/co</a:t>
            </a:r>
            <a:endParaRPr lang="en-US" sz="1200" dirty="0"/>
          </a:p>
        </p:txBody>
      </p:sp>
      <p:sp>
        <p:nvSpPr>
          <p:cNvPr id="6" name="Text 4"/>
          <p:cNvSpPr/>
          <p:nvPr/>
        </p:nvSpPr>
        <p:spPr>
          <a:xfrm>
            <a:off x="812800" y="2357065"/>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REN21. (2025). </a:t>
            </a:r>
            <a:r>
              <a:rPr lang="en-US" sz="1200" i="1" dirty="0">
                <a:solidFill>
                  <a:srgbClr val="2A1810"/>
                </a:solidFill>
                <a:latin typeface="Arial" pitchFamily="34" charset="0"/>
                <a:ea typeface="Arial" pitchFamily="34" charset="-122"/>
                <a:cs typeface="Arial" pitchFamily="34" charset="-120"/>
              </a:rPr>
              <a:t>Renewables 2025 global status report: Concentrated solar thermal power</a:t>
            </a:r>
            <a:r>
              <a:rPr lang="en-US" sz="1200" dirty="0">
                <a:solidFill>
                  <a:srgbClr val="2A1810"/>
                </a:solidFill>
                <a:latin typeface="Arial" pitchFamily="34" charset="0"/>
                <a:ea typeface="Arial" pitchFamily="34" charset="-122"/>
                <a:cs typeface="Arial" pitchFamily="34" charset="-120"/>
              </a:rPr>
              <a:t>. https://www.ren21.net/gsr/2025/csp</a:t>
            </a:r>
            <a:endParaRPr lang="en-US" sz="1200" dirty="0"/>
          </a:p>
        </p:txBody>
      </p:sp>
      <p:sp>
        <p:nvSpPr>
          <p:cNvPr id="7" name="Text 5"/>
          <p:cNvSpPr/>
          <p:nvPr/>
        </p:nvSpPr>
        <p:spPr>
          <a:xfrm>
            <a:off x="812800" y="2682180"/>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Solar cooker. (s. f.). En </a:t>
            </a:r>
            <a:r>
              <a:rPr lang="en-US" sz="1200" i="1" dirty="0">
                <a:solidFill>
                  <a:srgbClr val="2A1810"/>
                </a:solidFill>
                <a:latin typeface="Arial" pitchFamily="34" charset="0"/>
                <a:ea typeface="Arial" pitchFamily="34" charset="-122"/>
                <a:cs typeface="Arial" pitchFamily="34" charset="-120"/>
              </a:rPr>
              <a:t>Wikipedia</a:t>
            </a:r>
            <a:r>
              <a:rPr lang="en-US" sz="1200" dirty="0">
                <a:solidFill>
                  <a:srgbClr val="2A1810"/>
                </a:solidFill>
                <a:latin typeface="Arial" pitchFamily="34" charset="0"/>
                <a:ea typeface="Arial" pitchFamily="34" charset="-122"/>
                <a:cs typeface="Arial" pitchFamily="34" charset="-120"/>
              </a:rPr>
              <a:t>. Recuperado el 12 de octubre de 2026 de https://en.wikipedia.org/wiki/Solar_cooker</a:t>
            </a:r>
            <a:endParaRPr lang="en-US" sz="1200" dirty="0"/>
          </a:p>
        </p:txBody>
      </p:sp>
      <p:sp>
        <p:nvSpPr>
          <p:cNvPr id="8" name="Text 6"/>
          <p:cNvSpPr/>
          <p:nvPr/>
        </p:nvSpPr>
        <p:spPr>
          <a:xfrm>
            <a:off x="812800" y="3007296"/>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Solar Keymark. (s. f.). </a:t>
            </a:r>
            <a:r>
              <a:rPr lang="en-US" sz="1200" i="1" dirty="0">
                <a:solidFill>
                  <a:srgbClr val="2A1810"/>
                </a:solidFill>
                <a:latin typeface="Arial" pitchFamily="34" charset="0"/>
                <a:ea typeface="Arial" pitchFamily="34" charset="-122"/>
                <a:cs typeface="Arial" pitchFamily="34" charset="-120"/>
              </a:rPr>
              <a:t>Solar Keymark</a:t>
            </a:r>
            <a:r>
              <a:rPr lang="en-US" sz="1200" dirty="0">
                <a:solidFill>
                  <a:srgbClr val="2A1810"/>
                </a:solidFill>
                <a:latin typeface="Arial" pitchFamily="34" charset="0"/>
                <a:ea typeface="Arial" pitchFamily="34" charset="-122"/>
                <a:cs typeface="Arial" pitchFamily="34" charset="-120"/>
              </a:rPr>
              <a:t> [Sitio web]. https://solarkeymark.eu</a:t>
            </a:r>
            <a:endParaRPr lang="en-US" sz="1200" dirty="0"/>
          </a:p>
        </p:txBody>
      </p:sp>
      <p:sp>
        <p:nvSpPr>
          <p:cNvPr id="9" name="Text 7"/>
          <p:cNvSpPr/>
          <p:nvPr/>
        </p:nvSpPr>
        <p:spPr>
          <a:xfrm>
            <a:off x="812800" y="3332411"/>
            <a:ext cx="10883392" cy="22351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810"/>
                </a:solidFill>
                <a:latin typeface="Arial" pitchFamily="34" charset="0"/>
                <a:ea typeface="Arial" pitchFamily="34" charset="-122"/>
                <a:cs typeface="Arial" pitchFamily="34" charset="-120"/>
              </a:rPr>
              <a:t>Thomson, E. A. (2006, 7 de diciembre). Chemists shed light on solar energy storage. </a:t>
            </a:r>
            <a:r>
              <a:rPr lang="en-US" sz="1200" i="1" dirty="0">
                <a:solidFill>
                  <a:srgbClr val="2A1810"/>
                </a:solidFill>
                <a:latin typeface="Arial" pitchFamily="34" charset="0"/>
                <a:ea typeface="Arial" pitchFamily="34" charset="-122"/>
                <a:cs typeface="Arial" pitchFamily="34" charset="-120"/>
              </a:rPr>
              <a:t>MIT News</a:t>
            </a:r>
            <a:r>
              <a:rPr lang="en-US" sz="1200" dirty="0">
                <a:solidFill>
                  <a:srgbClr val="2A1810"/>
                </a:solidFill>
                <a:latin typeface="Arial" pitchFamily="34" charset="0"/>
                <a:ea typeface="Arial" pitchFamily="34" charset="-122"/>
                <a:cs typeface="Arial" pitchFamily="34" charset="-120"/>
              </a:rPr>
              <a:t>. https://news.mit.edu/2006/solar-nocera</a:t>
            </a:r>
            <a:endParaRPr lang="en-US" sz="1200" dirty="0"/>
          </a:p>
        </p:txBody>
      </p:sp>
      <p:sp>
        <p:nvSpPr>
          <p:cNvPr id="10" name="Text 8"/>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Lista en orden alfabético. Cada diapositiva cita al pie de dónde se tomó su información.</a:t>
            </a:r>
            <a:endParaRPr lang="en-US" sz="1200" dirty="0"/>
          </a:p>
        </p:txBody>
      </p:sp>
      <p:sp>
        <p:nvSpPr>
          <p:cNvPr id="11" name="Text 9"/>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52</a:t>
            </a:r>
            <a:endParaRPr lang="en-US" sz="12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1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3E00"/>
                </a:solidFill>
                <a:latin typeface="Arial" pitchFamily="34" charset="0"/>
                <a:ea typeface="Arial" pitchFamily="34" charset="-122"/>
                <a:cs typeface="Arial" pitchFamily="34" charset="-120"/>
              </a:rPr>
              <a:t>CRÉDITOS DE IMÁGENES</a:t>
            </a:r>
            <a:endParaRPr lang="en-US" sz="1400" dirty="0"/>
          </a:p>
        </p:txBody>
      </p:sp>
      <p:sp>
        <p:nvSpPr>
          <p:cNvPr id="3" name="Text 1"/>
          <p:cNvSpPr/>
          <p:nvPr>
            <p:ph type="title"/>
          </p:nvPr>
        </p:nvSpPr>
        <p:spPr>
          <a:xfrm>
            <a:off x="812800" y="1201415"/>
            <a:ext cx="10883392" cy="41653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810"/>
                </a:solidFill>
                <a:latin typeface="Arial" pitchFamily="34" charset="0"/>
                <a:ea typeface="Arial" pitchFamily="34" charset="-122"/>
                <a:cs typeface="Arial" pitchFamily="34" charset="-120"/>
              </a:rPr>
              <a:t>Ilustraciones y animaciones de elaboración propia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221" y="1742681"/>
          <a:ext cx="10555979" cy="3304035"/>
        </p:xfrm>
        <a:graphic>
          <a:graphicData uri="http://schemas.openxmlformats.org/drawingml/2006/table">
            <a:tbl>
              <a:tblPr/>
              <a:tblGrid>
                <a:gridCol w="1688957"/>
                <a:gridCol w="4011272"/>
                <a:gridCol w="4855751"/>
              </a:tblGrid>
              <a:tr h="330404">
                <a:tc>
                  <a:txBody>
                    <a:bodyPr/>
                    <a:lstStyle/>
                    <a:p>
                      <a:pPr indent="0" marL="0">
                        <a:lnSpc>
                          <a:spcPts val="1680"/>
                        </a:lnSpc>
                        <a:buNone/>
                      </a:pPr>
                      <a:r>
                        <a:rPr lang="en-US" sz="1200" b="1" dirty="0">
                          <a:solidFill>
                            <a:srgbClr val="2A1810"/>
                          </a:solidFill>
                          <a:latin typeface="Arial" pitchFamily="34" charset="0"/>
                          <a:ea typeface="Arial" pitchFamily="34" charset="-122"/>
                          <a:cs typeface="Arial" pitchFamily="34" charset="-120"/>
                        </a:rPr>
                        <a:t>Diap.</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680"/>
                        </a:lnSpc>
                        <a:buNone/>
                      </a:pPr>
                      <a:r>
                        <a:rPr lang="en-US" sz="1200" b="1" dirty="0">
                          <a:solidFill>
                            <a:srgbClr val="2A1810"/>
                          </a:solidFill>
                          <a:latin typeface="Arial" pitchFamily="34" charset="0"/>
                          <a:ea typeface="Arial" pitchFamily="34" charset="-122"/>
                          <a:cs typeface="Arial" pitchFamily="34" charset="-120"/>
                        </a:rPr>
                        <a:t>Ilustración</a:t>
                      </a:r>
                      <a:endParaRPr lang="en-US" sz="1200" dirty="0">
                        <a:latin typeface="Arial" charset="0"/>
                        <a:ea typeface="Arial" charset="0"/>
                        <a:cs typeface="Arial" charset="0"/>
                      </a:endParaRPr>
                    </a:p>
                  </a:txBody>
                  <a:tcPr marL="53340" marR="53340" marT="53340" marB="5334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c>
                  <a:txBody>
                    <a:bodyPr/>
                    <a:lstStyle/>
                    <a:p>
                      <a:pPr indent="0" marL="0">
                        <a:lnSpc>
                          <a:spcPts val="1680"/>
                        </a:lnSpc>
                        <a:buNone/>
                      </a:pPr>
                      <a:r>
                        <a:rPr lang="en-US" sz="1200" b="1" dirty="0">
                          <a:solidFill>
                            <a:srgbClr val="2A1810"/>
                          </a:solidFill>
                          <a:latin typeface="Arial" pitchFamily="34" charset="0"/>
                          <a:ea typeface="Arial" pitchFamily="34" charset="-122"/>
                          <a:cs typeface="Arial" pitchFamily="34" charset="-120"/>
                        </a:rPr>
                        <a:t>Elaborada a partir de</a:t>
                      </a:r>
                      <a:endParaRPr lang="en-US" sz="1200" dirty="0">
                        <a:latin typeface="Arial" charset="0"/>
                        <a:ea typeface="Arial" charset="0"/>
                        <a:cs typeface="Arial" charset="0"/>
                      </a:endParaRPr>
                    </a:p>
                  </a:txBody>
                  <a:tcPr marL="53340" marR="53340" marT="53340" marB="53340" anchor="t">
                    <a:lnL w="12700" cap="flat" cmpd="sng" algn="ctr">
                      <a:solidFill>
                        <a:srgbClr val="BAB5AC"/>
                      </a:solidFill>
                      <a:prstDash val="solid"/>
                      <a:round/>
                      <a:headEnd type="none" w="med" len="med"/>
                      <a:tailEnd type="none" w="med" len="med"/>
                    </a:lnL>
                    <a:lnR w="12700" cap="flat" cmpd="sng" algn="ctr">
                      <a:solidFill>
                        <a:srgbClr val="BAB5AC"/>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BAB5AC"/>
                      </a:solidFill>
                      <a:prstDash val="solid"/>
                      <a:round/>
                      <a:headEnd type="none" w="med" len="med"/>
                      <a:tailEnd type="none" w="med" len="med"/>
                    </a:lnB>
                    <a:solidFill>
                      <a:srgbClr val="E9E2D7"/>
                    </a:solidFill>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Línea de tiempo</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Fuentes de la diapositiva</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BAB5AC"/>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Componentes de la radiación</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Duffie et al. (2020)</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15 y 16</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Cortes de colectores</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Duffie et al. (2020); Kalogirou (2009)</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Prueba de los espejos</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MIT 2.009 (2005)</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18 y 19</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Concentradores</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Kalogirou (2009)</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Campo de Gemasolar</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«Gemasolar Thermosolar Plant» (s. f.)</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Termosifón y forzada</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Duffie et al. (2020)</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27 a 29</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Balance, curva, espectros</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Duffie et al. (2020); cálculo propio</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30404">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35, 42 y 46</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Sales, absorción, ensayo</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680"/>
                        </a:lnSpc>
                        <a:buNone/>
                      </a:pPr>
                      <a:r>
                        <a:rPr lang="en-US" sz="1200" dirty="0">
                          <a:solidFill>
                            <a:srgbClr val="2A1810"/>
                          </a:solidFill>
                          <a:latin typeface="Arial" pitchFamily="34" charset="0"/>
                          <a:ea typeface="Arial" pitchFamily="34" charset="-122"/>
                          <a:cs typeface="Arial" pitchFamily="34" charset="-120"/>
                        </a:rPr>
                        <a:t>Kalogirou (2009); ISO (2025)</a:t>
                      </a:r>
                      <a:endParaRPr lang="en-US" sz="1200" dirty="0">
                        <a:latin typeface="Arial" charset="0"/>
                        <a:ea typeface="Arial" charset="0"/>
                        <a:cs typeface="Arial" charset="0"/>
                      </a:endParaRPr>
                    </a:p>
                  </a:txBody>
                  <a:tcPr marL="53340" marR="53340" marT="53340" marB="5334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5186412"/>
            <a:ext cx="10883392" cy="445965"/>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6A5444"/>
                </a:solidFill>
                <a:latin typeface="Arial" pitchFamily="34" charset="0"/>
                <a:ea typeface="Arial" pitchFamily="34" charset="-122"/>
                <a:cs typeface="Arial" pitchFamily="34" charset="-120"/>
              </a:rPr>
              <a:t>Animaciones GIF (diap. 12, 20, 24, 26 y 36): elaboración propia a partir de Duffie et al. (2020) y Kalogirou (2009). Los enlaces a vídeos y sitios externos (diap. 12, 17, 20, 24 y 36) llevan debajo «Tomado de» y «Fuente».</a:t>
            </a:r>
            <a:endParaRPr lang="en-US" sz="1200" dirty="0"/>
          </a:p>
        </p:txBody>
      </p:sp>
      <p:sp>
        <p:nvSpPr>
          <p:cNvPr id="6" name="Text 3"/>
          <p:cNvSpPr/>
          <p:nvPr/>
        </p:nvSpPr>
        <p:spPr>
          <a:xfrm>
            <a:off x="812800" y="6238280"/>
            <a:ext cx="967994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444"/>
                </a:solidFill>
                <a:latin typeface="Arial" pitchFamily="34" charset="0"/>
                <a:ea typeface="Arial" pitchFamily="34" charset="-122"/>
                <a:cs typeface="Arial" pitchFamily="34" charset="-120"/>
              </a:rPr>
              <a:t>Comprobar que los enlaces externos abran antes de la clase.</a:t>
            </a:r>
            <a:endParaRPr lang="en-US" sz="1200" dirty="0"/>
          </a:p>
        </p:txBody>
      </p:sp>
      <p:sp>
        <p:nvSpPr>
          <p:cNvPr id="7" name="Text 4"/>
          <p:cNvSpPr/>
          <p:nvPr/>
        </p:nvSpPr>
        <p:spPr>
          <a:xfrm>
            <a:off x="10972800" y="6238280"/>
            <a:ext cx="406400" cy="238736"/>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43E00"/>
                </a:solidFill>
                <a:latin typeface="Arial" pitchFamily="34" charset="0"/>
                <a:ea typeface="Arial" pitchFamily="34" charset="-122"/>
                <a:cs typeface="Arial" pitchFamily="34" charset="-120"/>
              </a:rPr>
              <a:t>53</a:t>
            </a:r>
            <a:endParaRPr lang="en-US" sz="120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Un día y una noche en una planta con sales">
    <p:bg>
      <p:bgPr>
        <a:solidFill>
          <a:srgbClr val="FBF4E8"/>
        </a:solidFill>
        <a:effectLst/>
      </p:bgPr>
    </p:bg>
    <p:spTree>
      <p:nvGrpSpPr>
        <p:cNvPr id="1" name=""/>
        <p:cNvGrpSpPr/>
        <p:nvPr/>
      </p:nvGrpSpPr>
      <p:grpSpPr>
        <a:xfrm>
          <a:off x="0" y="0"/>
          <a:ext cx="0" cy="0"/>
          <a:chOff x="0" y="0"/>
          <a:chExt cx="0" cy="0"/>
        </a:xfrm>
      </p:grpSpPr>
      <p:sp>
        <p:nvSpPr>
          <p:cNvPr id="2" name="Kicker"/>
          <p:cNvSpPr txBox="1"/>
          <p:nvPr/>
        </p:nvSpPr>
        <p:spPr>
          <a:xfrm>
            <a:off x="812800" y="812800"/>
            <a:ext cx="10881360" cy="274320"/>
          </a:xfrm>
          <a:prstGeom prst="rect">
            <a:avLst/>
          </a:prstGeom>
          <a:noFill/>
        </p:spPr>
        <p:txBody>
          <a:bodyPr wrap="square" lIns="0" tIns="0" rIns="0" bIns="0" rtlCol="0" anchor="t">
            <a:noAutofit/>
          </a:bodyPr>
          <a:lstStyle/>
          <a:p>
            <a:pPr algn="l" indent="0" marL="0">
              <a:lnSpc>
                <a:spcPts val="1960"/>
              </a:lnSpc>
              <a:buNone/>
            </a:pPr>
            <a:r>
              <a:rPr lang="es-CO" sz="1400" b="1" spc="150" dirty="0">
                <a:solidFill>
                  <a:srgbClr val="B43E00"/>
                </a:solidFill>
                <a:latin typeface="Arial"/>
                <a:ea typeface="Arial"/>
                <a:cs typeface="Arial"/>
              </a:rPr>
              <a:t>PUNTO 6 · EL ALMACENAMIENTO EN MOVIMIENTO</a:t>
            </a:r>
          </a:p>
        </p:txBody>
      </p:sp>
      <p:sp>
        <p:nvSpPr>
          <p:cNvPr id="3" name="Title"/>
          <p:cNvSpPr txBox="1"/>
          <p:nvPr>
            <p:ph type="title"/>
          </p:nvPr>
        </p:nvSpPr>
        <p:spPr>
          <a:xfrm>
            <a:off x="812800" y="1264915"/>
            <a:ext cx="10881360" cy="475488"/>
          </a:xfrm>
          <a:prstGeom prst="rect">
            <a:avLst/>
          </a:prstGeom>
          <a:noFill/>
        </p:spPr>
        <p:txBody>
          <a:bodyPr wrap="square" lIns="0" tIns="0" rIns="0" bIns="0" rtlCol="0" anchor="t">
            <a:noAutofit/>
          </a:bodyPr>
          <a:lstStyle/>
          <a:p>
            <a:pPr algn="l" indent="0" marL="0">
              <a:lnSpc>
                <a:spcPts val="3520"/>
              </a:lnSpc>
              <a:buNone/>
            </a:pPr>
            <a:r>
              <a:rPr lang="es-CO" sz="3200" b="1" dirty="0">
                <a:solidFill>
                  <a:srgbClr val="2A1810"/>
                </a:solidFill>
                <a:latin typeface="Arial"/>
                <a:ea typeface="Arial"/>
                <a:cs typeface="Arial"/>
              </a:rPr>
              <a:t>Un día y una noche en una planta con sales</a:t>
            </a:r>
          </a:p>
        </p:txBody>
      </p:sp>
      <p:pic>
        <p:nvPicPr>
          <p:cNvPr id="4" name="GIF animado" descr="Animación de 24 horas: de día se llena el tanque de sal caliente, de noche se vacía hacia el tanque frío y la turbina sigue girando"/>
          <p:cNvPicPr>
            <a:picLocks noChangeAspect="1"/>
          </p:cNvPicPr>
          <p:nvPr/>
        </p:nvPicPr>
        <p:blipFill>
          <a:blip r:embed="rId1"/>
          <a:stretch>
            <a:fillRect/>
          </a:stretch>
        </p:blipFill>
        <p:spPr>
          <a:xfrm>
            <a:off x="813816" y="1911096"/>
            <a:ext cx="6345936" cy="3569818"/>
          </a:xfrm>
          <a:prstGeom prst="roundRect">
            <a:avLst>
              <a:gd name="adj" fmla="val 3000"/>
            </a:avLst>
          </a:prstGeom>
          <a:ln w="9525">
            <a:solidFill>
              <a:srgbClr val="EADBC4"/>
            </a:solidFill>
          </a:ln>
        </p:spPr>
      </p:pic>
      <p:sp>
        <p:nvSpPr>
          <p:cNvPr id="5" name="Fuente del GIF"/>
          <p:cNvSpPr txBox="1"/>
          <p:nvPr/>
        </p:nvSpPr>
        <p:spPr>
          <a:xfrm>
            <a:off x="813816" y="5550408"/>
            <a:ext cx="6345936"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animación de elaboración propia; niveles ilustrativos. Fuente: Kalogirou (2009); REN21 (2025).</a:t>
            </a:r>
          </a:p>
        </p:txBody>
      </p:sp>
      <p:sp>
        <p:nvSpPr>
          <p:cNvPr id="6" name="Texto"/>
          <p:cNvSpPr txBox="1"/>
          <p:nvPr/>
        </p:nvSpPr>
        <p:spPr>
          <a:xfrm>
            <a:off x="7434072" y="1911096"/>
            <a:ext cx="3941064" cy="2331720"/>
          </a:xfrm>
          <a:prstGeom prst="rect">
            <a:avLst/>
          </a:prstGeom>
          <a:noFill/>
        </p:spPr>
        <p:txBody>
          <a:bodyPr wrap="square" lIns="0" tIns="0" rIns="0" bIns="0" rtlCol="0" anchor="t">
            <a:noAutofit/>
          </a:bodyPr>
          <a:lstStyle/>
          <a:p>
            <a:pPr algn="l" indent="0" marL="0">
              <a:spcAft>
                <a:spcPts val="900"/>
              </a:spcAft>
              <a:buNone/>
            </a:pPr>
            <a:r>
              <a:rPr lang="es-CO" sz="1500" dirty="0">
                <a:solidFill>
                  <a:srgbClr val="2A1810"/>
                </a:solidFill>
                <a:latin typeface="Arial"/>
                <a:ea typeface="Arial"/>
                <a:cs typeface="Arial"/>
              </a:rPr>
              <a:t>De día el campo solar calienta la sal y </a:t>
            </a:r>
            <a:r>
              <a:rPr lang="es-CO" sz="1500" b="1" dirty="0">
                <a:solidFill>
                  <a:srgbClr val="2A1810"/>
                </a:solidFill>
                <a:latin typeface="Arial"/>
                <a:ea typeface="Arial"/>
                <a:cs typeface="Arial"/>
              </a:rPr>
              <a:t>llena el tanque caliente</a:t>
            </a:r>
            <a:r>
              <a:rPr lang="es-CO" sz="1500" dirty="0">
                <a:solidFill>
                  <a:srgbClr val="2A1810"/>
                </a:solidFill>
                <a:latin typeface="Arial"/>
                <a:ea typeface="Arial"/>
                <a:cs typeface="Arial"/>
              </a:rPr>
              <a:t> (Kalogirou, 2009).</a:t>
            </a:r>
          </a:p>
          <a:p>
            <a:pPr algn="l" indent="0" marL="0">
              <a:spcAft>
                <a:spcPts val="900"/>
              </a:spcAft>
              <a:buNone/>
            </a:pPr>
            <a:r>
              <a:rPr lang="es-CO" sz="1500" dirty="0">
                <a:solidFill>
                  <a:srgbClr val="2A1810"/>
                </a:solidFill>
                <a:latin typeface="Arial"/>
                <a:ea typeface="Arial"/>
                <a:cs typeface="Arial"/>
              </a:rPr>
              <a:t>De noche la sal caliente produce vapor y pasa al tanque frío: </a:t>
            </a:r>
            <a:r>
              <a:rPr lang="es-CO" sz="1500" b="1" dirty="0">
                <a:solidFill>
                  <a:srgbClr val="2A1810"/>
                </a:solidFill>
                <a:latin typeface="Arial"/>
                <a:ea typeface="Arial"/>
                <a:cs typeface="Arial"/>
              </a:rPr>
              <a:t>la turbina sigue generando</a:t>
            </a:r>
            <a:r>
              <a:rPr lang="es-CO" sz="1500" dirty="0">
                <a:solidFill>
                  <a:srgbClr val="2A1810"/>
                </a:solidFill>
                <a:latin typeface="Arial"/>
                <a:ea typeface="Arial"/>
                <a:cs typeface="Arial"/>
              </a:rPr>
              <a:t>. Gemasolar opera 15 h sin sol («Gemasolar Thermosolar Plant», s. f.).</a:t>
            </a:r>
          </a:p>
        </p:txBody>
      </p:sp>
      <p:sp>
        <p:nvSpPr>
          <p:cNvPr id="7" name="Enlace a vídeo">
            <a:hlinkClick r:id="rId4"/>
          </p:cNvPr>
          <p:cNvSpPr/>
          <p:nvPr/>
        </p:nvSpPr>
        <p:spPr>
          <a:xfrm>
            <a:off x="7434072" y="4370832"/>
            <a:ext cx="3941064" cy="566928"/>
          </a:xfrm>
          <a:prstGeom prst="roundRect">
            <a:avLst>
              <a:gd name="adj" fmla="val 8000"/>
            </a:avLst>
          </a:prstGeom>
          <a:solidFill>
            <a:srgbClr val="FFFFFF"/>
          </a:solidFill>
          <a:ln w="9525">
            <a:solidFill>
              <a:srgbClr val="EADBC4"/>
            </a:solidFill>
          </a:ln>
        </p:spPr>
        <p:txBody>
          <a:bodyPr wrap="square" lIns="164592" tIns="0" rIns="164592" bIns="0" anchor="ctr">
            <a:noAutofit/>
          </a:bodyPr>
          <a:lstStyle/>
          <a:p>
            <a:pPr algn="l" indent="0" marL="0">
              <a:buNone/>
            </a:pPr>
            <a:r>
              <a:rPr lang="es-CO" sz="1400" b="1" dirty="0">
                <a:solidFill>
                  <a:srgbClr val="B43E00"/>
                </a:solidFill>
                <a:latin typeface="Arial"/>
                <a:ea typeface="Arial"/>
                <a:cs typeface="Arial"/>
                <a:hlinkClick r:id="rId4"/>
              </a:rPr>
              <a:t>▶  Ver animación: planta solar en 3D</a:t>
            </a:r>
          </a:p>
        </p:txBody>
      </p:sp>
      <p:sp>
        <p:nvSpPr>
          <p:cNvPr id="8" name="Fuente del vídeo"/>
          <p:cNvSpPr txBox="1"/>
          <p:nvPr/>
        </p:nvSpPr>
        <p:spPr>
          <a:xfrm>
            <a:off x="7434072" y="5010912"/>
            <a:ext cx="3941064"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Vimeo, «Solar power – 3D animated video». Fuente: ImageMaker (s. f.).</a:t>
            </a:r>
          </a:p>
        </p:txBody>
      </p:sp>
      <p:sp>
        <p:nvSpPr>
          <p:cNvPr id="10" name="Footer"/>
          <p:cNvSpPr txBox="1"/>
          <p:nvPr/>
        </p:nvSpPr>
        <p:spPr>
          <a:xfrm>
            <a:off x="813816" y="6236208"/>
            <a:ext cx="9683496" cy="237744"/>
          </a:xfrm>
          <a:prstGeom prst="rect">
            <a:avLst/>
          </a:prstGeom>
          <a:noFill/>
        </p:spPr>
        <p:txBody>
          <a:bodyPr wrap="square" lIns="0" tIns="0" rIns="0" bIns="0" rtlCol="0" anchor="t">
            <a:noAutofit/>
          </a:bodyPr>
          <a:lstStyle/>
          <a:p>
            <a:pPr algn="l" indent="0" marL="0">
              <a:buNone/>
            </a:pPr>
            <a:r>
              <a:rPr lang="es-CO" sz="1200" dirty="0">
                <a:solidFill>
                  <a:srgbClr val="6A5444"/>
                </a:solidFill>
                <a:latin typeface="Arial"/>
                <a:ea typeface="Arial"/>
                <a:cs typeface="Arial"/>
              </a:rPr>
              <a:t>Tomado de: Kalogirou (2009); REN21 (2025); «Gemasolar Thermosolar Plant» (s. f.). Animación propia.</a:t>
            </a:r>
          </a:p>
        </p:txBody>
      </p:sp>
      <p:sp>
        <p:nvSpPr>
          <p:cNvPr id="11" name="Número"/>
          <p:cNvSpPr txBox="1"/>
          <p:nvPr/>
        </p:nvSpPr>
        <p:spPr>
          <a:xfrm>
            <a:off x="10972800" y="6236208"/>
            <a:ext cx="402336" cy="237744"/>
          </a:xfrm>
          <a:prstGeom prst="rect">
            <a:avLst/>
          </a:prstGeom>
          <a:noFill/>
        </p:spPr>
        <p:txBody>
          <a:bodyPr wrap="square" lIns="0" tIns="0" rIns="0" bIns="0" rtlCol="0" anchor="t">
            <a:noAutofit/>
          </a:bodyPr>
          <a:lstStyle/>
          <a:p>
            <a:pPr algn="r" indent="0" marL="0">
              <a:buNone/>
            </a:pPr>
            <a:r>
              <a:rPr lang="es-CO" sz="1200" b="1" dirty="0">
                <a:solidFill>
                  <a:srgbClr val="B43E00"/>
                </a:solidFill>
                <a:latin typeface="Arial"/>
                <a:ea typeface="Arial"/>
                <a:cs typeface="Arial"/>
              </a:rPr>
              <a:t>36</a:t>
            </a: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La luz entra, el calor se queda">
    <p:bg>
      <p:bgPr>
        <a:solidFill>
          <a:srgbClr val="FBF4E8"/>
        </a:solidFill>
        <a:effectLst/>
      </p:bgPr>
    </p:bg>
    <p:spTree>
      <p:nvGrpSpPr>
        <p:cNvPr id="1" name=""/>
        <p:cNvGrpSpPr/>
        <p:nvPr/>
      </p:nvGrpSpPr>
      <p:grpSpPr>
        <a:xfrm>
          <a:off x="0" y="0"/>
          <a:ext cx="0" cy="0"/>
          <a:chOff x="0" y="0"/>
          <a:chExt cx="0" cy="0"/>
        </a:xfrm>
      </p:grpSpPr>
      <p:sp>
        <p:nvSpPr>
          <p:cNvPr id="2" name="Kicker"/>
          <p:cNvSpPr txBox="1"/>
          <p:nvPr/>
        </p:nvSpPr>
        <p:spPr>
          <a:xfrm>
            <a:off x="812800" y="812800"/>
            <a:ext cx="10881360" cy="274320"/>
          </a:xfrm>
          <a:prstGeom prst="rect">
            <a:avLst/>
          </a:prstGeom>
          <a:noFill/>
        </p:spPr>
        <p:txBody>
          <a:bodyPr wrap="square" lIns="0" tIns="0" rIns="0" bIns="0" rtlCol="0" anchor="t">
            <a:noAutofit/>
          </a:bodyPr>
          <a:lstStyle/>
          <a:p>
            <a:pPr algn="l" indent="0" marL="0">
              <a:lnSpc>
                <a:spcPts val="1960"/>
              </a:lnSpc>
              <a:buNone/>
            </a:pPr>
            <a:r>
              <a:rPr lang="es-CO" sz="1400" b="1" spc="150" dirty="0">
                <a:solidFill>
                  <a:srgbClr val="B43E00"/>
                </a:solidFill>
                <a:latin typeface="Arial"/>
                <a:ea typeface="Arial"/>
                <a:cs typeface="Arial"/>
              </a:rPr>
              <a:t>PUNTO 2 · EL EFECTO INVERNADERO EN MOVIMIENTO</a:t>
            </a:r>
          </a:p>
        </p:txBody>
      </p:sp>
      <p:sp>
        <p:nvSpPr>
          <p:cNvPr id="3" name="Title"/>
          <p:cNvSpPr txBox="1"/>
          <p:nvPr>
            <p:ph type="title"/>
          </p:nvPr>
        </p:nvSpPr>
        <p:spPr>
          <a:xfrm>
            <a:off x="812800" y="1264915"/>
            <a:ext cx="10881360" cy="475488"/>
          </a:xfrm>
          <a:prstGeom prst="rect">
            <a:avLst/>
          </a:prstGeom>
          <a:noFill/>
        </p:spPr>
        <p:txBody>
          <a:bodyPr wrap="square" lIns="0" tIns="0" rIns="0" bIns="0" rtlCol="0" anchor="t">
            <a:noAutofit/>
          </a:bodyPr>
          <a:lstStyle/>
          <a:p>
            <a:pPr algn="l" indent="0" marL="0">
              <a:lnSpc>
                <a:spcPts val="3520"/>
              </a:lnSpc>
              <a:buNone/>
            </a:pPr>
            <a:r>
              <a:rPr lang="es-CO" sz="3200" b="1" dirty="0">
                <a:solidFill>
                  <a:srgbClr val="2A1810"/>
                </a:solidFill>
                <a:latin typeface="Arial"/>
                <a:ea typeface="Arial"/>
                <a:cs typeface="Arial"/>
              </a:rPr>
              <a:t>La luz entra, el calor se queda</a:t>
            </a:r>
          </a:p>
        </p:txBody>
      </p:sp>
      <p:pic>
        <p:nvPicPr>
          <p:cNvPr id="4" name="GIF animado" descr="Animación: ondas cortas de luz solar atraviesan el vidrio y calientan la placa; las ondas largas infrarrojas de la placa rebotan en el vidrio y el termómetro sube"/>
          <p:cNvPicPr>
            <a:picLocks noChangeAspect="1"/>
          </p:cNvPicPr>
          <p:nvPr/>
        </p:nvPicPr>
        <p:blipFill>
          <a:blip r:embed="rId1"/>
          <a:stretch>
            <a:fillRect/>
          </a:stretch>
        </p:blipFill>
        <p:spPr>
          <a:xfrm>
            <a:off x="813816" y="1911096"/>
            <a:ext cx="6345936" cy="3569818"/>
          </a:xfrm>
          <a:prstGeom prst="roundRect">
            <a:avLst>
              <a:gd name="adj" fmla="val 3000"/>
            </a:avLst>
          </a:prstGeom>
          <a:ln w="9525">
            <a:solidFill>
              <a:srgbClr val="EADBC4"/>
            </a:solidFill>
          </a:ln>
        </p:spPr>
      </p:pic>
      <p:sp>
        <p:nvSpPr>
          <p:cNvPr id="5" name="Fuente del GIF"/>
          <p:cNvSpPr txBox="1"/>
          <p:nvPr/>
        </p:nvSpPr>
        <p:spPr>
          <a:xfrm>
            <a:off x="813816" y="5550408"/>
            <a:ext cx="6345936"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animación de elaboración propia; temperaturas ilustrativas. Fuente: Duffie et al. (2020).</a:t>
            </a:r>
          </a:p>
        </p:txBody>
      </p:sp>
      <p:sp>
        <p:nvSpPr>
          <p:cNvPr id="6" name="Texto"/>
          <p:cNvSpPr txBox="1"/>
          <p:nvPr/>
        </p:nvSpPr>
        <p:spPr>
          <a:xfrm>
            <a:off x="7434072" y="1911096"/>
            <a:ext cx="3941064" cy="2331720"/>
          </a:xfrm>
          <a:prstGeom prst="rect">
            <a:avLst/>
          </a:prstGeom>
          <a:noFill/>
        </p:spPr>
        <p:txBody>
          <a:bodyPr wrap="square" lIns="0" tIns="0" rIns="0" bIns="0" rtlCol="0" anchor="t">
            <a:noAutofit/>
          </a:bodyPr>
          <a:lstStyle/>
          <a:p>
            <a:pPr algn="l" indent="0" marL="0">
              <a:spcAft>
                <a:spcPts val="900"/>
              </a:spcAft>
              <a:buNone/>
            </a:pPr>
            <a:r>
              <a:rPr lang="es-CO" sz="1500" dirty="0">
                <a:solidFill>
                  <a:srgbClr val="2A1810"/>
                </a:solidFill>
                <a:latin typeface="Arial"/>
                <a:ea typeface="Arial"/>
                <a:cs typeface="Arial"/>
              </a:rPr>
              <a:t>La luz solar llega en </a:t>
            </a:r>
            <a:r>
              <a:rPr lang="es-CO" sz="1500" b="1" dirty="0">
                <a:solidFill>
                  <a:srgbClr val="2A1810"/>
                </a:solidFill>
                <a:latin typeface="Arial"/>
                <a:ea typeface="Arial"/>
                <a:cs typeface="Arial"/>
              </a:rPr>
              <a:t>onda corta</a:t>
            </a:r>
            <a:r>
              <a:rPr lang="es-CO" sz="1500" dirty="0">
                <a:solidFill>
                  <a:srgbClr val="2A1810"/>
                </a:solidFill>
                <a:latin typeface="Arial"/>
                <a:ea typeface="Arial"/>
                <a:cs typeface="Arial"/>
              </a:rPr>
              <a:t>, atraviesa el vidrio y la placa oscura la absorbe (Duffie et al., 2020).</a:t>
            </a:r>
          </a:p>
          <a:p>
            <a:pPr algn="l" indent="0" marL="0">
              <a:spcAft>
                <a:spcPts val="900"/>
              </a:spcAft>
              <a:buNone/>
            </a:pPr>
            <a:r>
              <a:rPr lang="es-CO" sz="1500" dirty="0">
                <a:solidFill>
                  <a:srgbClr val="2A1810"/>
                </a:solidFill>
                <a:latin typeface="Arial"/>
                <a:ea typeface="Arial"/>
                <a:cs typeface="Arial"/>
              </a:rPr>
              <a:t>La placa caliente emite </a:t>
            </a:r>
            <a:r>
              <a:rPr lang="es-CO" sz="1500" b="1" dirty="0">
                <a:solidFill>
                  <a:srgbClr val="2A1810"/>
                </a:solidFill>
                <a:latin typeface="Arial"/>
                <a:ea typeface="Arial"/>
                <a:cs typeface="Arial"/>
              </a:rPr>
              <a:t>infrarrojo de onda larga</a:t>
            </a:r>
            <a:r>
              <a:rPr lang="es-CO" sz="1500" dirty="0">
                <a:solidFill>
                  <a:srgbClr val="2A1810"/>
                </a:solidFill>
                <a:latin typeface="Arial"/>
                <a:ea typeface="Arial"/>
                <a:cs typeface="Arial"/>
              </a:rPr>
              <a:t>; el vidrio es casi opaco a esa radiación y la devuelve (Duffie et al., 2020).</a:t>
            </a:r>
          </a:p>
          <a:p>
            <a:pPr algn="l" indent="0" marL="0">
              <a:spcAft>
                <a:spcPts val="900"/>
              </a:spcAft>
              <a:buNone/>
            </a:pPr>
            <a:r>
              <a:rPr lang="es-CO" sz="1500" dirty="0">
                <a:solidFill>
                  <a:srgbClr val="2A1810"/>
                </a:solidFill>
                <a:latin typeface="Arial"/>
                <a:ea typeface="Arial"/>
                <a:cs typeface="Arial"/>
              </a:rPr>
              <a:t>Resultado: la placa sube de temperatura y entrega más calor al fluido.</a:t>
            </a:r>
          </a:p>
        </p:txBody>
      </p:sp>
      <p:sp>
        <p:nvSpPr>
          <p:cNvPr id="10" name="Footer"/>
          <p:cNvSpPr txBox="1"/>
          <p:nvPr/>
        </p:nvSpPr>
        <p:spPr>
          <a:xfrm>
            <a:off x="813816" y="6236208"/>
            <a:ext cx="9683496" cy="237744"/>
          </a:xfrm>
          <a:prstGeom prst="rect">
            <a:avLst/>
          </a:prstGeom>
          <a:noFill/>
        </p:spPr>
        <p:txBody>
          <a:bodyPr wrap="square" lIns="0" tIns="0" rIns="0" bIns="0" rtlCol="0" anchor="t">
            <a:noAutofit/>
          </a:bodyPr>
          <a:lstStyle/>
          <a:p>
            <a:pPr algn="l" indent="0" marL="0">
              <a:buNone/>
            </a:pPr>
            <a:r>
              <a:rPr lang="es-CO" sz="1200" dirty="0">
                <a:solidFill>
                  <a:srgbClr val="6A5444"/>
                </a:solidFill>
                <a:latin typeface="Arial"/>
                <a:ea typeface="Arial"/>
                <a:cs typeface="Arial"/>
              </a:rPr>
              <a:t>Tomado de: Duffie et al. (2020); Kalogirou (2009). Animación de elaboración propia.</a:t>
            </a:r>
          </a:p>
        </p:txBody>
      </p:sp>
      <p:sp>
        <p:nvSpPr>
          <p:cNvPr id="11" name="Número"/>
          <p:cNvSpPr txBox="1"/>
          <p:nvPr/>
        </p:nvSpPr>
        <p:spPr>
          <a:xfrm>
            <a:off x="10972800" y="6236208"/>
            <a:ext cx="402336" cy="237744"/>
          </a:xfrm>
          <a:prstGeom prst="rect">
            <a:avLst/>
          </a:prstGeom>
          <a:noFill/>
        </p:spPr>
        <p:txBody>
          <a:bodyPr wrap="square" lIns="0" tIns="0" rIns="0" bIns="0" rtlCol="0" anchor="t">
            <a:noAutofit/>
          </a:bodyPr>
          <a:lstStyle/>
          <a:p>
            <a:pPr algn="r" indent="0" marL="0">
              <a:buNone/>
            </a:pPr>
            <a:r>
              <a:rPr lang="es-CO" sz="1200" b="1" dirty="0">
                <a:solidFill>
                  <a:srgbClr val="B43E00"/>
                </a:solidFill>
                <a:latin typeface="Arial"/>
                <a:ea typeface="Arial"/>
                <a:cs typeface="Arial"/>
              </a:rPr>
              <a:t>26</a:t>
            </a: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Así circula el agua sin bomba">
    <p:bg>
      <p:bgPr>
        <a:solidFill>
          <a:srgbClr val="FBF4E8"/>
        </a:solidFill>
        <a:effectLst/>
      </p:bgPr>
    </p:bg>
    <p:spTree>
      <p:nvGrpSpPr>
        <p:cNvPr id="1" name=""/>
        <p:cNvGrpSpPr/>
        <p:nvPr/>
      </p:nvGrpSpPr>
      <p:grpSpPr>
        <a:xfrm>
          <a:off x="0" y="0"/>
          <a:ext cx="0" cy="0"/>
          <a:chOff x="0" y="0"/>
          <a:chExt cx="0" cy="0"/>
        </a:xfrm>
      </p:grpSpPr>
      <p:sp>
        <p:nvSpPr>
          <p:cNvPr id="2" name="Kicker"/>
          <p:cNvSpPr txBox="1"/>
          <p:nvPr/>
        </p:nvSpPr>
        <p:spPr>
          <a:xfrm>
            <a:off x="812800" y="812800"/>
            <a:ext cx="10881360" cy="274320"/>
          </a:xfrm>
          <a:prstGeom prst="rect">
            <a:avLst/>
          </a:prstGeom>
          <a:noFill/>
        </p:spPr>
        <p:txBody>
          <a:bodyPr wrap="square" lIns="0" tIns="0" rIns="0" bIns="0" rtlCol="0" anchor="t">
            <a:noAutofit/>
          </a:bodyPr>
          <a:lstStyle/>
          <a:p>
            <a:pPr algn="l" indent="0" marL="0">
              <a:lnSpc>
                <a:spcPts val="1960"/>
              </a:lnSpc>
              <a:buNone/>
            </a:pPr>
            <a:r>
              <a:rPr lang="es-CO" sz="1400" b="1" spc="150" dirty="0">
                <a:solidFill>
                  <a:srgbClr val="B43E00"/>
                </a:solidFill>
                <a:latin typeface="Arial"/>
                <a:ea typeface="Arial"/>
                <a:cs typeface="Arial"/>
              </a:rPr>
              <a:t>PUNTO 1 · EL TERMOSIFÓN EN MOVIMIENTO</a:t>
            </a:r>
          </a:p>
        </p:txBody>
      </p:sp>
      <p:sp>
        <p:nvSpPr>
          <p:cNvPr id="3" name="Title"/>
          <p:cNvSpPr txBox="1"/>
          <p:nvPr>
            <p:ph type="title"/>
          </p:nvPr>
        </p:nvSpPr>
        <p:spPr>
          <a:xfrm>
            <a:off x="812800" y="1264915"/>
            <a:ext cx="10881360" cy="475488"/>
          </a:xfrm>
          <a:prstGeom prst="rect">
            <a:avLst/>
          </a:prstGeom>
          <a:noFill/>
        </p:spPr>
        <p:txBody>
          <a:bodyPr wrap="square" lIns="0" tIns="0" rIns="0" bIns="0" rtlCol="0" anchor="t">
            <a:noAutofit/>
          </a:bodyPr>
          <a:lstStyle/>
          <a:p>
            <a:pPr algn="l" indent="0" marL="0">
              <a:lnSpc>
                <a:spcPts val="3520"/>
              </a:lnSpc>
              <a:buNone/>
            </a:pPr>
            <a:r>
              <a:rPr lang="es-CO" sz="3200" b="1" dirty="0">
                <a:solidFill>
                  <a:srgbClr val="2A1810"/>
                </a:solidFill>
                <a:latin typeface="Arial"/>
                <a:ea typeface="Arial"/>
                <a:cs typeface="Arial"/>
              </a:rPr>
              <a:t>Así circula el agua sin bomba</a:t>
            </a:r>
          </a:p>
        </p:txBody>
      </p:sp>
      <p:pic>
        <p:nvPicPr>
          <p:cNvPr id="4" name="GIF animado" descr="Animación de un termosifón: el agua se calienta en el colector, sube al tanque por la tubería roja y el agua fría baja por la tubería azul"/>
          <p:cNvPicPr>
            <a:picLocks noChangeAspect="1"/>
          </p:cNvPicPr>
          <p:nvPr/>
        </p:nvPicPr>
        <p:blipFill>
          <a:blip r:embed="rId1"/>
          <a:stretch>
            <a:fillRect/>
          </a:stretch>
        </p:blipFill>
        <p:spPr>
          <a:xfrm>
            <a:off x="813816" y="1911096"/>
            <a:ext cx="6345936" cy="3569818"/>
          </a:xfrm>
          <a:prstGeom prst="roundRect">
            <a:avLst>
              <a:gd name="adj" fmla="val 3000"/>
            </a:avLst>
          </a:prstGeom>
          <a:ln w="9525">
            <a:solidFill>
              <a:srgbClr val="EADBC4"/>
            </a:solidFill>
          </a:ln>
        </p:spPr>
      </p:pic>
      <p:sp>
        <p:nvSpPr>
          <p:cNvPr id="5" name="Fuente del GIF"/>
          <p:cNvSpPr txBox="1"/>
          <p:nvPr/>
        </p:nvSpPr>
        <p:spPr>
          <a:xfrm>
            <a:off x="813816" y="5550408"/>
            <a:ext cx="6345936"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animación de elaboración propia. Fuente: Duffie et al. (2020); Kalogirou (2009).</a:t>
            </a:r>
          </a:p>
        </p:txBody>
      </p:sp>
      <p:sp>
        <p:nvSpPr>
          <p:cNvPr id="6" name="Texto"/>
          <p:cNvSpPr txBox="1"/>
          <p:nvPr/>
        </p:nvSpPr>
        <p:spPr>
          <a:xfrm>
            <a:off x="7434072" y="1911096"/>
            <a:ext cx="3941064" cy="2331720"/>
          </a:xfrm>
          <a:prstGeom prst="rect">
            <a:avLst/>
          </a:prstGeom>
          <a:noFill/>
        </p:spPr>
        <p:txBody>
          <a:bodyPr wrap="square" lIns="0" tIns="0" rIns="0" bIns="0" rtlCol="0" anchor="t">
            <a:noAutofit/>
          </a:bodyPr>
          <a:lstStyle/>
          <a:p>
            <a:pPr algn="l" indent="0" marL="0">
              <a:spcAft>
                <a:spcPts val="900"/>
              </a:spcAft>
              <a:buNone/>
            </a:pPr>
            <a:r>
              <a:rPr lang="es-CO" sz="1500" dirty="0">
                <a:solidFill>
                  <a:srgbClr val="2A1810"/>
                </a:solidFill>
                <a:latin typeface="Arial"/>
                <a:ea typeface="Arial"/>
                <a:cs typeface="Arial"/>
              </a:rPr>
              <a:t>El agua se calienta en el colector, se vuelve </a:t>
            </a:r>
            <a:r>
              <a:rPr lang="es-CO" sz="1500" b="1" dirty="0">
                <a:solidFill>
                  <a:srgbClr val="2A1810"/>
                </a:solidFill>
                <a:latin typeface="Arial"/>
                <a:ea typeface="Arial"/>
                <a:cs typeface="Arial"/>
              </a:rPr>
              <a:t>menos densa</a:t>
            </a:r>
            <a:r>
              <a:rPr lang="es-CO" sz="1500" dirty="0">
                <a:solidFill>
                  <a:srgbClr val="2A1810"/>
                </a:solidFill>
                <a:latin typeface="Arial"/>
                <a:ea typeface="Arial"/>
                <a:cs typeface="Arial"/>
              </a:rPr>
              <a:t> y sube al tanque; la fría del fondo baja a reemplazarla (Duffie et al., 2020).</a:t>
            </a:r>
          </a:p>
          <a:p>
            <a:pPr algn="l" indent="0" marL="0">
              <a:spcAft>
                <a:spcPts val="900"/>
              </a:spcAft>
              <a:buNone/>
            </a:pPr>
            <a:r>
              <a:rPr lang="es-CO" sz="1500" dirty="0">
                <a:solidFill>
                  <a:srgbClr val="2A1810"/>
                </a:solidFill>
                <a:latin typeface="Arial"/>
                <a:ea typeface="Arial"/>
                <a:cs typeface="Arial"/>
              </a:rPr>
              <a:t>Por eso el tanque va siempre más alto que el colector.</a:t>
            </a:r>
          </a:p>
        </p:txBody>
      </p:sp>
      <p:sp>
        <p:nvSpPr>
          <p:cNvPr id="7" name="Enlace a vídeo">
            <a:hlinkClick r:id="rId4"/>
          </p:cNvPr>
          <p:cNvSpPr/>
          <p:nvPr/>
        </p:nvSpPr>
        <p:spPr>
          <a:xfrm>
            <a:off x="7434072" y="4370832"/>
            <a:ext cx="3941064" cy="566928"/>
          </a:xfrm>
          <a:prstGeom prst="roundRect">
            <a:avLst>
              <a:gd name="adj" fmla="val 8000"/>
            </a:avLst>
          </a:prstGeom>
          <a:solidFill>
            <a:srgbClr val="FFFFFF"/>
          </a:solidFill>
          <a:ln w="9525">
            <a:solidFill>
              <a:srgbClr val="EADBC4"/>
            </a:solidFill>
          </a:ln>
        </p:spPr>
        <p:txBody>
          <a:bodyPr wrap="square" lIns="164592" tIns="0" rIns="164592" bIns="0" anchor="ctr">
            <a:noAutofit/>
          </a:bodyPr>
          <a:lstStyle/>
          <a:p>
            <a:pPr algn="l" indent="0" marL="0">
              <a:buNone/>
            </a:pPr>
            <a:r>
              <a:rPr lang="es-CO" sz="1400" b="1" dirty="0">
                <a:solidFill>
                  <a:srgbClr val="B43E00"/>
                </a:solidFill>
                <a:latin typeface="Arial"/>
                <a:ea typeface="Arial"/>
                <a:cs typeface="Arial"/>
                <a:hlinkClick r:id="rId4"/>
              </a:rPr>
              <a:t>▶  Ver vídeo: calentador solar</a:t>
            </a:r>
          </a:p>
        </p:txBody>
      </p:sp>
      <p:sp>
        <p:nvSpPr>
          <p:cNvPr id="8" name="Fuente del vídeo"/>
          <p:cNvSpPr txBox="1"/>
          <p:nvPr/>
        </p:nvSpPr>
        <p:spPr>
          <a:xfrm>
            <a:off x="7434072" y="5010912"/>
            <a:ext cx="3941064"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YouTube, «Solar Water Heating – How It Works». Fuente: Western Cape Education Department (s. f.), ePortal.</a:t>
            </a:r>
          </a:p>
        </p:txBody>
      </p:sp>
      <p:sp>
        <p:nvSpPr>
          <p:cNvPr id="10" name="Footer"/>
          <p:cNvSpPr txBox="1"/>
          <p:nvPr/>
        </p:nvSpPr>
        <p:spPr>
          <a:xfrm>
            <a:off x="813816" y="6236208"/>
            <a:ext cx="9683496" cy="237744"/>
          </a:xfrm>
          <a:prstGeom prst="rect">
            <a:avLst/>
          </a:prstGeom>
          <a:noFill/>
        </p:spPr>
        <p:txBody>
          <a:bodyPr wrap="square" lIns="0" tIns="0" rIns="0" bIns="0" rtlCol="0" anchor="t">
            <a:noAutofit/>
          </a:bodyPr>
          <a:lstStyle/>
          <a:p>
            <a:pPr algn="l" indent="0" marL="0">
              <a:buNone/>
            </a:pPr>
            <a:r>
              <a:rPr lang="es-CO" sz="1200" dirty="0">
                <a:solidFill>
                  <a:srgbClr val="6A5444"/>
                </a:solidFill>
                <a:latin typeface="Arial"/>
                <a:ea typeface="Arial"/>
                <a:cs typeface="Arial"/>
              </a:rPr>
              <a:t>Tomado de: Duffie et al. (2020); Kalogirou (2009). Animación de elaboración propia.</a:t>
            </a:r>
          </a:p>
        </p:txBody>
      </p:sp>
      <p:sp>
        <p:nvSpPr>
          <p:cNvPr id="11" name="Número"/>
          <p:cNvSpPr txBox="1"/>
          <p:nvPr/>
        </p:nvSpPr>
        <p:spPr>
          <a:xfrm>
            <a:off x="10972800" y="6236208"/>
            <a:ext cx="402336" cy="237744"/>
          </a:xfrm>
          <a:prstGeom prst="rect">
            <a:avLst/>
          </a:prstGeom>
          <a:noFill/>
        </p:spPr>
        <p:txBody>
          <a:bodyPr wrap="square" lIns="0" tIns="0" rIns="0" bIns="0" rtlCol="0" anchor="t">
            <a:noAutofit/>
          </a:bodyPr>
          <a:lstStyle/>
          <a:p>
            <a:pPr algn="r" indent="0" marL="0">
              <a:buNone/>
            </a:pPr>
            <a:r>
              <a:rPr lang="es-CO" sz="1200" b="1" dirty="0">
                <a:solidFill>
                  <a:srgbClr val="B43E00"/>
                </a:solidFill>
                <a:latin typeface="Arial"/>
                <a:ea typeface="Arial"/>
                <a:cs typeface="Arial"/>
              </a:rPr>
              <a:t>24</a:t>
            </a: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Muchos espejos apuntando a un solo punto">
    <p:bg>
      <p:bgPr>
        <a:solidFill>
          <a:srgbClr val="FBF4E8"/>
        </a:solidFill>
        <a:effectLst/>
      </p:bgPr>
    </p:bg>
    <p:spTree>
      <p:nvGrpSpPr>
        <p:cNvPr id="1" name=""/>
        <p:cNvGrpSpPr/>
        <p:nvPr/>
      </p:nvGrpSpPr>
      <p:grpSpPr>
        <a:xfrm>
          <a:off x="0" y="0"/>
          <a:ext cx="0" cy="0"/>
          <a:chOff x="0" y="0"/>
          <a:chExt cx="0" cy="0"/>
        </a:xfrm>
      </p:grpSpPr>
      <p:sp>
        <p:nvSpPr>
          <p:cNvPr id="2" name="Kicker"/>
          <p:cNvSpPr txBox="1"/>
          <p:nvPr/>
        </p:nvSpPr>
        <p:spPr>
          <a:xfrm>
            <a:off x="812800" y="812800"/>
            <a:ext cx="10881360" cy="274320"/>
          </a:xfrm>
          <a:prstGeom prst="rect">
            <a:avLst/>
          </a:prstGeom>
          <a:noFill/>
        </p:spPr>
        <p:txBody>
          <a:bodyPr wrap="square" lIns="0" tIns="0" rIns="0" bIns="0" rtlCol="0" anchor="t">
            <a:noAutofit/>
          </a:bodyPr>
          <a:lstStyle/>
          <a:p>
            <a:pPr algn="l" indent="0" marL="0">
              <a:lnSpc>
                <a:spcPts val="1960"/>
              </a:lnSpc>
              <a:buNone/>
            </a:pPr>
            <a:r>
              <a:rPr lang="es-CO" sz="1400" b="1" spc="150" dirty="0">
                <a:solidFill>
                  <a:srgbClr val="B43E00"/>
                </a:solidFill>
                <a:latin typeface="Arial"/>
                <a:ea typeface="Arial"/>
                <a:cs typeface="Arial"/>
              </a:rPr>
              <a:t>PUNTO 1 · CONCENTRACIÓN PUNTUAL EN MOVIMIENTO</a:t>
            </a:r>
          </a:p>
        </p:txBody>
      </p:sp>
      <p:sp>
        <p:nvSpPr>
          <p:cNvPr id="3" name="Title"/>
          <p:cNvSpPr txBox="1"/>
          <p:nvPr>
            <p:ph type="title"/>
          </p:nvPr>
        </p:nvSpPr>
        <p:spPr>
          <a:xfrm>
            <a:off x="812800" y="1264915"/>
            <a:ext cx="10881360" cy="475488"/>
          </a:xfrm>
          <a:prstGeom prst="rect">
            <a:avLst/>
          </a:prstGeom>
          <a:noFill/>
        </p:spPr>
        <p:txBody>
          <a:bodyPr wrap="square" lIns="0" tIns="0" rIns="0" bIns="0" rtlCol="0" anchor="t">
            <a:noAutofit/>
          </a:bodyPr>
          <a:lstStyle/>
          <a:p>
            <a:pPr algn="l" indent="0" marL="0">
              <a:lnSpc>
                <a:spcPts val="3520"/>
              </a:lnSpc>
              <a:buNone/>
            </a:pPr>
            <a:r>
              <a:rPr lang="es-CO" sz="3200" b="1" dirty="0">
                <a:solidFill>
                  <a:srgbClr val="2A1810"/>
                </a:solidFill>
                <a:latin typeface="Arial"/>
                <a:ea typeface="Arial"/>
                <a:cs typeface="Arial"/>
              </a:rPr>
              <a:t>Muchos espejos apuntando a un solo punto</a:t>
            </a:r>
          </a:p>
        </p:txBody>
      </p:sp>
      <p:pic>
        <p:nvPicPr>
          <p:cNvPr id="4" name="GIF animado" descr="Animación: los rayos del sol se reflejan en los heliostatos y llegan al receptor de la torre, que se calienta de 290 a 565 °C"/>
          <p:cNvPicPr>
            <a:picLocks noChangeAspect="1"/>
          </p:cNvPicPr>
          <p:nvPr/>
        </p:nvPicPr>
        <p:blipFill>
          <a:blip r:embed="rId1"/>
          <a:stretch>
            <a:fillRect/>
          </a:stretch>
        </p:blipFill>
        <p:spPr>
          <a:xfrm>
            <a:off x="813816" y="1911096"/>
            <a:ext cx="6345936" cy="3569818"/>
          </a:xfrm>
          <a:prstGeom prst="roundRect">
            <a:avLst>
              <a:gd name="adj" fmla="val 3000"/>
            </a:avLst>
          </a:prstGeom>
          <a:ln w="9525">
            <a:solidFill>
              <a:srgbClr val="EADBC4"/>
            </a:solidFill>
          </a:ln>
        </p:spPr>
      </p:pic>
      <p:sp>
        <p:nvSpPr>
          <p:cNvPr id="5" name="Fuente del GIF"/>
          <p:cNvSpPr txBox="1"/>
          <p:nvPr/>
        </p:nvSpPr>
        <p:spPr>
          <a:xfrm>
            <a:off x="813816" y="5550408"/>
            <a:ext cx="6345936"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animación de elaboración propia, esquema no a escala. Fuente: Kalogirou (2009); REN21 (2025).</a:t>
            </a:r>
          </a:p>
        </p:txBody>
      </p:sp>
      <p:sp>
        <p:nvSpPr>
          <p:cNvPr id="6" name="Texto"/>
          <p:cNvSpPr txBox="1"/>
          <p:nvPr/>
        </p:nvSpPr>
        <p:spPr>
          <a:xfrm>
            <a:off x="7434072" y="1911096"/>
            <a:ext cx="3941064" cy="2331720"/>
          </a:xfrm>
          <a:prstGeom prst="rect">
            <a:avLst/>
          </a:prstGeom>
          <a:noFill/>
        </p:spPr>
        <p:txBody>
          <a:bodyPr wrap="square" lIns="0" tIns="0" rIns="0" bIns="0" rtlCol="0" anchor="t">
            <a:noAutofit/>
          </a:bodyPr>
          <a:lstStyle/>
          <a:p>
            <a:pPr algn="l" indent="0" marL="0">
              <a:spcAft>
                <a:spcPts val="900"/>
              </a:spcAft>
              <a:buNone/>
            </a:pPr>
            <a:r>
              <a:rPr lang="es-CO" sz="1500" dirty="0">
                <a:solidFill>
                  <a:srgbClr val="2A1810"/>
                </a:solidFill>
                <a:latin typeface="Arial"/>
                <a:ea typeface="Arial"/>
                <a:cs typeface="Arial"/>
              </a:rPr>
              <a:t>Cada </a:t>
            </a:r>
            <a:r>
              <a:rPr lang="es-CO" sz="1500" b="1" dirty="0">
                <a:solidFill>
                  <a:srgbClr val="2A1810"/>
                </a:solidFill>
                <a:latin typeface="Arial"/>
                <a:ea typeface="Arial"/>
                <a:cs typeface="Arial"/>
              </a:rPr>
              <a:t>heliostato</a:t>
            </a:r>
            <a:r>
              <a:rPr lang="es-CO" sz="1500" dirty="0">
                <a:solidFill>
                  <a:srgbClr val="2A1810"/>
                </a:solidFill>
                <a:latin typeface="Arial"/>
                <a:ea typeface="Arial"/>
                <a:cs typeface="Arial"/>
              </a:rPr>
              <a:t> gira en dos ejes para reflejar el sol siempre hacia el receptor de la torre (Kalogirou, 2009).</a:t>
            </a:r>
          </a:p>
          <a:p>
            <a:pPr algn="l" indent="0" marL="0">
              <a:spcAft>
                <a:spcPts val="900"/>
              </a:spcAft>
              <a:buNone/>
            </a:pPr>
            <a:r>
              <a:rPr lang="es-CO" sz="1500" dirty="0">
                <a:solidFill>
                  <a:srgbClr val="2A1810"/>
                </a:solidFill>
                <a:latin typeface="Arial"/>
                <a:ea typeface="Arial"/>
                <a:cs typeface="Arial"/>
              </a:rPr>
              <a:t>En el receptor la sal fundida pasa de unos 290 °C a 565 °C (Kalogirou, 2009; REN21, 2025).</a:t>
            </a:r>
          </a:p>
        </p:txBody>
      </p:sp>
      <p:sp>
        <p:nvSpPr>
          <p:cNvPr id="7" name="Enlace a vídeo">
            <a:hlinkClick r:id="rId4"/>
          </p:cNvPr>
          <p:cNvSpPr/>
          <p:nvPr/>
        </p:nvSpPr>
        <p:spPr>
          <a:xfrm>
            <a:off x="7434072" y="4370832"/>
            <a:ext cx="3941064" cy="566928"/>
          </a:xfrm>
          <a:prstGeom prst="roundRect">
            <a:avLst>
              <a:gd name="adj" fmla="val 8000"/>
            </a:avLst>
          </a:prstGeom>
          <a:solidFill>
            <a:srgbClr val="FFFFFF"/>
          </a:solidFill>
          <a:ln w="9525">
            <a:solidFill>
              <a:srgbClr val="EADBC4"/>
            </a:solidFill>
          </a:ln>
        </p:spPr>
        <p:txBody>
          <a:bodyPr wrap="square" lIns="164592" tIns="0" rIns="164592" bIns="0" anchor="ctr">
            <a:noAutofit/>
          </a:bodyPr>
          <a:lstStyle/>
          <a:p>
            <a:pPr algn="l" indent="0" marL="0">
              <a:buNone/>
            </a:pPr>
            <a:r>
              <a:rPr lang="es-CO" sz="1400" b="1" dirty="0">
                <a:solidFill>
                  <a:srgbClr val="B43E00"/>
                </a:solidFill>
                <a:latin typeface="Arial"/>
                <a:ea typeface="Arial"/>
                <a:cs typeface="Arial"/>
                <a:hlinkClick r:id="rId4"/>
              </a:rPr>
              <a:t>▶  Ver la planta Gemasolar</a:t>
            </a:r>
          </a:p>
        </p:txBody>
      </p:sp>
      <p:sp>
        <p:nvSpPr>
          <p:cNvPr id="8" name="Fuente del vídeo"/>
          <p:cNvSpPr txBox="1"/>
          <p:nvPr/>
        </p:nvSpPr>
        <p:spPr>
          <a:xfrm>
            <a:off x="7434072" y="5010912"/>
            <a:ext cx="3941064"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Wikipedia (artículo con fotos de la planta). Fuente: «Gemasolar Thermosolar Plant» (s. f.).</a:t>
            </a:r>
          </a:p>
        </p:txBody>
      </p:sp>
      <p:sp>
        <p:nvSpPr>
          <p:cNvPr id="10" name="Footer"/>
          <p:cNvSpPr txBox="1"/>
          <p:nvPr/>
        </p:nvSpPr>
        <p:spPr>
          <a:xfrm>
            <a:off x="813816" y="6236208"/>
            <a:ext cx="9683496" cy="237744"/>
          </a:xfrm>
          <a:prstGeom prst="rect">
            <a:avLst/>
          </a:prstGeom>
          <a:noFill/>
        </p:spPr>
        <p:txBody>
          <a:bodyPr wrap="square" lIns="0" tIns="0" rIns="0" bIns="0" rtlCol="0" anchor="t">
            <a:noAutofit/>
          </a:bodyPr>
          <a:lstStyle/>
          <a:p>
            <a:pPr algn="l" indent="0" marL="0">
              <a:buNone/>
            </a:pPr>
            <a:r>
              <a:rPr lang="es-CO" sz="1200" dirty="0">
                <a:solidFill>
                  <a:srgbClr val="6A5444"/>
                </a:solidFill>
                <a:latin typeface="Arial"/>
                <a:ea typeface="Arial"/>
                <a:cs typeface="Arial"/>
              </a:rPr>
              <a:t>Tomado de: Kalogirou (2009); REN21 (2025); «Gemasolar Thermosolar Plant» (s. f.). Animación propia.</a:t>
            </a:r>
          </a:p>
        </p:txBody>
      </p:sp>
      <p:sp>
        <p:nvSpPr>
          <p:cNvPr id="11" name="Número"/>
          <p:cNvSpPr txBox="1"/>
          <p:nvPr/>
        </p:nvSpPr>
        <p:spPr>
          <a:xfrm>
            <a:off x="10972800" y="6236208"/>
            <a:ext cx="402336" cy="237744"/>
          </a:xfrm>
          <a:prstGeom prst="rect">
            <a:avLst/>
          </a:prstGeom>
          <a:noFill/>
        </p:spPr>
        <p:txBody>
          <a:bodyPr wrap="square" lIns="0" tIns="0" rIns="0" bIns="0" rtlCol="0" anchor="t">
            <a:noAutofit/>
          </a:bodyPr>
          <a:lstStyle/>
          <a:p>
            <a:pPr algn="r" indent="0" marL="0">
              <a:buNone/>
            </a:pPr>
            <a:r>
              <a:rPr lang="es-CO" sz="1200" b="1" dirty="0">
                <a:solidFill>
                  <a:srgbClr val="B43E00"/>
                </a:solidFill>
                <a:latin typeface="Arial"/>
                <a:ea typeface="Arial"/>
                <a:cs typeface="Arial"/>
              </a:rPr>
              <a:t>20</a:t>
            </a: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Un día de sol: de la irradiancia a las horas sol pico">
    <p:bg>
      <p:bgPr>
        <a:solidFill>
          <a:srgbClr val="FBF4E8"/>
        </a:solidFill>
        <a:effectLst/>
      </p:bgPr>
    </p:bg>
    <p:spTree>
      <p:nvGrpSpPr>
        <p:cNvPr id="1" name=""/>
        <p:cNvGrpSpPr/>
        <p:nvPr/>
      </p:nvGrpSpPr>
      <p:grpSpPr>
        <a:xfrm>
          <a:off x="0" y="0"/>
          <a:ext cx="0" cy="0"/>
          <a:chOff x="0" y="0"/>
          <a:chExt cx="0" cy="0"/>
        </a:xfrm>
      </p:grpSpPr>
      <p:sp>
        <p:nvSpPr>
          <p:cNvPr id="2" name="Kicker"/>
          <p:cNvSpPr txBox="1"/>
          <p:nvPr/>
        </p:nvSpPr>
        <p:spPr>
          <a:xfrm>
            <a:off x="812800" y="812800"/>
            <a:ext cx="10881360" cy="274320"/>
          </a:xfrm>
          <a:prstGeom prst="rect">
            <a:avLst/>
          </a:prstGeom>
          <a:noFill/>
        </p:spPr>
        <p:txBody>
          <a:bodyPr wrap="square" lIns="0" tIns="0" rIns="0" bIns="0" rtlCol="0" anchor="t">
            <a:noAutofit/>
          </a:bodyPr>
          <a:lstStyle/>
          <a:p>
            <a:pPr algn="l" indent="0" marL="0">
              <a:lnSpc>
                <a:spcPts val="1960"/>
              </a:lnSpc>
              <a:buNone/>
            </a:pPr>
            <a:r>
              <a:rPr lang="es-CO" sz="1400" b="1" spc="150" dirty="0">
                <a:solidFill>
                  <a:srgbClr val="B43E00"/>
                </a:solidFill>
                <a:latin typeface="Arial"/>
                <a:ea typeface="Arial"/>
                <a:cs typeface="Arial"/>
              </a:rPr>
              <a:t>CONTEXTO · EL RECURSO SOLAR EN MOVIMIENTO</a:t>
            </a:r>
          </a:p>
        </p:txBody>
      </p:sp>
      <p:sp>
        <p:nvSpPr>
          <p:cNvPr id="3" name="Title"/>
          <p:cNvSpPr txBox="1"/>
          <p:nvPr>
            <p:ph type="title"/>
          </p:nvPr>
        </p:nvSpPr>
        <p:spPr>
          <a:xfrm>
            <a:off x="812800" y="1264915"/>
            <a:ext cx="10881360" cy="475488"/>
          </a:xfrm>
          <a:prstGeom prst="rect">
            <a:avLst/>
          </a:prstGeom>
          <a:noFill/>
        </p:spPr>
        <p:txBody>
          <a:bodyPr wrap="square" lIns="0" tIns="0" rIns="0" bIns="0" rtlCol="0" anchor="t">
            <a:noAutofit/>
          </a:bodyPr>
          <a:lstStyle/>
          <a:p>
            <a:pPr algn="l" indent="0" marL="0">
              <a:lnSpc>
                <a:spcPts val="3520"/>
              </a:lnSpc>
              <a:buNone/>
            </a:pPr>
            <a:r>
              <a:rPr lang="es-CO" sz="3200" b="1" dirty="0">
                <a:solidFill>
                  <a:srgbClr val="2A1810"/>
                </a:solidFill>
                <a:latin typeface="Arial"/>
                <a:ea typeface="Arial"/>
                <a:cs typeface="Arial"/>
              </a:rPr>
              <a:t>Un día de sol: de la irradiancia a las horas sol pico</a:t>
            </a:r>
          </a:p>
        </p:txBody>
      </p:sp>
      <p:pic>
        <p:nvPicPr>
          <p:cNvPr id="4" name="GIF animado" descr="Animación: la irradiancia G sube y baja durante el día y el área bajo la curva se acumula hasta 5,2 kWh/m², equivalente a 5,2 horas a 1000 W/m²"/>
          <p:cNvPicPr>
            <a:picLocks noChangeAspect="1"/>
          </p:cNvPicPr>
          <p:nvPr/>
        </p:nvPicPr>
        <p:blipFill>
          <a:blip r:embed="rId1"/>
          <a:stretch>
            <a:fillRect/>
          </a:stretch>
        </p:blipFill>
        <p:spPr>
          <a:xfrm>
            <a:off x="813816" y="1911096"/>
            <a:ext cx="6345936" cy="3569818"/>
          </a:xfrm>
          <a:prstGeom prst="roundRect">
            <a:avLst>
              <a:gd name="adj" fmla="val 3000"/>
            </a:avLst>
          </a:prstGeom>
          <a:ln w="9525">
            <a:solidFill>
              <a:srgbClr val="EADBC4"/>
            </a:solidFill>
          </a:ln>
        </p:spPr>
      </p:pic>
      <p:sp>
        <p:nvSpPr>
          <p:cNvPr id="5" name="Fuente del GIF"/>
          <p:cNvSpPr txBox="1"/>
          <p:nvPr/>
        </p:nvSpPr>
        <p:spPr>
          <a:xfrm>
            <a:off x="813816" y="5550408"/>
            <a:ext cx="6345936"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animación de elaboración propia con un perfil senoidal de G. Fuente: Duffie et al. (2020); H = 5,2 kWh/m²·día, supuesto didáctico.</a:t>
            </a:r>
          </a:p>
        </p:txBody>
      </p:sp>
      <p:sp>
        <p:nvSpPr>
          <p:cNvPr id="6" name="Texto"/>
          <p:cNvSpPr txBox="1"/>
          <p:nvPr/>
        </p:nvSpPr>
        <p:spPr>
          <a:xfrm>
            <a:off x="7434072" y="1911096"/>
            <a:ext cx="3941064" cy="2331720"/>
          </a:xfrm>
          <a:prstGeom prst="rect">
            <a:avLst/>
          </a:prstGeom>
          <a:noFill/>
        </p:spPr>
        <p:txBody>
          <a:bodyPr wrap="square" lIns="0" tIns="0" rIns="0" bIns="0" rtlCol="0" anchor="t">
            <a:noAutofit/>
          </a:bodyPr>
          <a:lstStyle/>
          <a:p>
            <a:pPr algn="l" indent="0" marL="0">
              <a:spcAft>
                <a:spcPts val="900"/>
              </a:spcAft>
              <a:buNone/>
            </a:pPr>
            <a:r>
              <a:rPr lang="es-CO" sz="1500" dirty="0">
                <a:solidFill>
                  <a:srgbClr val="2A1810"/>
                </a:solidFill>
                <a:latin typeface="Arial"/>
                <a:ea typeface="Arial"/>
                <a:cs typeface="Arial"/>
              </a:rPr>
              <a:t>G cambia en el día: sube al amanecer, llega al máximo al mediodía y baja al atardecer (Duffie et al., 2020).</a:t>
            </a:r>
          </a:p>
          <a:p>
            <a:pPr algn="l" indent="0" marL="0">
              <a:spcAft>
                <a:spcPts val="900"/>
              </a:spcAft>
              <a:buNone/>
            </a:pPr>
            <a:r>
              <a:rPr lang="es-CO" sz="1500" dirty="0">
                <a:solidFill>
                  <a:srgbClr val="2A1810"/>
                </a:solidFill>
                <a:latin typeface="Arial"/>
                <a:ea typeface="Arial"/>
                <a:cs typeface="Arial"/>
              </a:rPr>
              <a:t>El área bajo la curva es la </a:t>
            </a:r>
            <a:r>
              <a:rPr lang="es-CO" sz="1500" b="1" dirty="0">
                <a:solidFill>
                  <a:srgbClr val="2A1810"/>
                </a:solidFill>
                <a:latin typeface="Arial"/>
                <a:ea typeface="Arial"/>
                <a:cs typeface="Arial"/>
              </a:rPr>
              <a:t>irradiación H</a:t>
            </a:r>
            <a:r>
              <a:rPr lang="es-CO" sz="1500" dirty="0">
                <a:solidFill>
                  <a:srgbClr val="2A1810"/>
                </a:solidFill>
                <a:latin typeface="Arial"/>
                <a:ea typeface="Arial"/>
                <a:cs typeface="Arial"/>
              </a:rPr>
              <a:t>. Si H = 5,2 kWh/m²·día, equivale a 5,2 horas a 1000 W/m²: las </a:t>
            </a:r>
            <a:r>
              <a:rPr lang="es-CO" sz="1500" b="1" dirty="0">
                <a:solidFill>
                  <a:srgbClr val="2A1810"/>
                </a:solidFill>
                <a:latin typeface="Arial"/>
                <a:ea typeface="Arial"/>
                <a:cs typeface="Arial"/>
              </a:rPr>
              <a:t>horas sol pico</a:t>
            </a:r>
            <a:r>
              <a:rPr lang="es-CO" sz="1500" dirty="0">
                <a:solidFill>
                  <a:srgbClr val="2A1810"/>
                </a:solidFill>
                <a:latin typeface="Arial"/>
                <a:ea typeface="Arial"/>
                <a:cs typeface="Arial"/>
              </a:rPr>
              <a:t>.</a:t>
            </a:r>
          </a:p>
        </p:txBody>
      </p:sp>
      <p:sp>
        <p:nvSpPr>
          <p:cNvPr id="7" name="Enlace a vídeo">
            <a:hlinkClick r:id="rId4"/>
          </p:cNvPr>
          <p:cNvSpPr/>
          <p:nvPr/>
        </p:nvSpPr>
        <p:spPr>
          <a:xfrm>
            <a:off x="7434072" y="4370832"/>
            <a:ext cx="3941064" cy="566928"/>
          </a:xfrm>
          <a:prstGeom prst="roundRect">
            <a:avLst>
              <a:gd name="adj" fmla="val 8000"/>
            </a:avLst>
          </a:prstGeom>
          <a:solidFill>
            <a:srgbClr val="FFFFFF"/>
          </a:solidFill>
          <a:ln w="9525">
            <a:solidFill>
              <a:srgbClr val="EADBC4"/>
            </a:solidFill>
          </a:ln>
        </p:spPr>
        <p:txBody>
          <a:bodyPr wrap="square" lIns="164592" tIns="0" rIns="164592" bIns="0" anchor="ctr">
            <a:noAutofit/>
          </a:bodyPr>
          <a:lstStyle/>
          <a:p>
            <a:pPr algn="l" indent="0" marL="0">
              <a:buNone/>
            </a:pPr>
            <a:r>
              <a:rPr lang="es-CO" sz="1400" b="1" dirty="0">
                <a:solidFill>
                  <a:srgbClr val="B43E00"/>
                </a:solidFill>
                <a:latin typeface="Arial"/>
                <a:ea typeface="Arial"/>
                <a:cs typeface="Arial"/>
                <a:hlinkClick r:id="rId4"/>
              </a:rPr>
              <a:t>▶  Explorar el Global Solar Atlas</a:t>
            </a:r>
          </a:p>
        </p:txBody>
      </p:sp>
      <p:sp>
        <p:nvSpPr>
          <p:cNvPr id="8" name="Fuente del vídeo"/>
          <p:cNvSpPr txBox="1"/>
          <p:nvPr/>
        </p:nvSpPr>
        <p:spPr>
          <a:xfrm>
            <a:off x="7434072" y="5010912"/>
            <a:ext cx="3941064" cy="457200"/>
          </a:xfrm>
          <a:prstGeom prst="rect">
            <a:avLst/>
          </a:prstGeom>
          <a:noFill/>
        </p:spPr>
        <p:txBody>
          <a:bodyPr wrap="square" lIns="0" tIns="0" rIns="0" bIns="0" rtlCol="0" anchor="t">
            <a:noAutofit/>
          </a:bodyPr>
          <a:lstStyle/>
          <a:p>
            <a:pPr algn="l" indent="0" marL="0">
              <a:lnSpc>
                <a:spcPct val="95000"/>
              </a:lnSpc>
              <a:buNone/>
            </a:pPr>
            <a:r>
              <a:rPr lang="es-CO" sz="1100" dirty="0">
                <a:solidFill>
                  <a:srgbClr val="6A5444"/>
                </a:solidFill>
                <a:latin typeface="Arial"/>
                <a:ea typeface="Arial"/>
                <a:cs typeface="Arial"/>
              </a:rPr>
              <a:t>Tomado de: globalsolaratlas.info (mapa interactivo). Fuente: Banco Mundial y Solargis (s. f.).</a:t>
            </a:r>
          </a:p>
        </p:txBody>
      </p:sp>
      <p:sp>
        <p:nvSpPr>
          <p:cNvPr id="10" name="Footer"/>
          <p:cNvSpPr txBox="1"/>
          <p:nvPr/>
        </p:nvSpPr>
        <p:spPr>
          <a:xfrm>
            <a:off x="813816" y="6236208"/>
            <a:ext cx="9683496" cy="237744"/>
          </a:xfrm>
          <a:prstGeom prst="rect">
            <a:avLst/>
          </a:prstGeom>
          <a:noFill/>
        </p:spPr>
        <p:txBody>
          <a:bodyPr wrap="square" lIns="0" tIns="0" rIns="0" bIns="0" rtlCol="0" anchor="t">
            <a:noAutofit/>
          </a:bodyPr>
          <a:lstStyle/>
          <a:p>
            <a:pPr algn="l" indent="0" marL="0">
              <a:buNone/>
            </a:pPr>
            <a:r>
              <a:rPr lang="es-CO" sz="1200" dirty="0">
                <a:solidFill>
                  <a:srgbClr val="6A5444"/>
                </a:solidFill>
                <a:latin typeface="Arial"/>
                <a:ea typeface="Arial"/>
                <a:cs typeface="Arial"/>
              </a:rPr>
              <a:t>Tomado de: Duffie et al. (2020); Banco Mundial y Solargis (s. f.). Animación de elaboración propia.</a:t>
            </a:r>
          </a:p>
        </p:txBody>
      </p:sp>
      <p:sp>
        <p:nvSpPr>
          <p:cNvPr id="11" name="Número"/>
          <p:cNvSpPr txBox="1"/>
          <p:nvPr/>
        </p:nvSpPr>
        <p:spPr>
          <a:xfrm>
            <a:off x="10972800" y="6236208"/>
            <a:ext cx="402336" cy="237744"/>
          </a:xfrm>
          <a:prstGeom prst="rect">
            <a:avLst/>
          </a:prstGeom>
          <a:noFill/>
        </p:spPr>
        <p:txBody>
          <a:bodyPr wrap="square" lIns="0" tIns="0" rIns="0" bIns="0" rtlCol="0" anchor="t">
            <a:noAutofit/>
          </a:bodyPr>
          <a:lstStyle/>
          <a:p>
            <a:pPr algn="r" indent="0" marL="0">
              <a:buNone/>
            </a:pPr>
            <a:r>
              <a:rPr lang="es-CO" sz="1200" b="1" dirty="0">
                <a:solidFill>
                  <a:srgbClr val="B43E00"/>
                </a:solidFill>
                <a:latin typeface="Arial"/>
                <a:ea typeface="Arial"/>
                <a:cs typeface="Arial"/>
              </a:rPr>
              <a:t>12</a:t>
            </a:r>
          </a:p>
        </p:txBody>
      </p:sp>
    </p:spTree>
  </p:cSld>
  <p:clrMapOvr>
    <a:masterClrMapping/>
  </p:clrMapOvr>
  <p:transition spd="med">
    <p:fade/>
  </p:transition>
</p:sld>
</file>

<file path=ppt/theme/theme1.xml><?xml version="1.0" encoding="utf-8"?>
<a:theme xmlns:a="http://schemas.openxmlformats.org/drawingml/2006/main" name="Energía solar térmica">
  <a:themeElements>
    <a:clrScheme name="Energía solar térmica">
      <a:dk1>
        <a:srgbClr val="2A1810"/>
      </a:dk1>
      <a:lt1>
        <a:srgbClr val="FBF4E8"/>
      </a:lt1>
      <a:dk2>
        <a:srgbClr val="5E4F46"/>
      </a:dk2>
      <a:lt2>
        <a:srgbClr val="E6DED2"/>
      </a:lt2>
      <a:accent1>
        <a:srgbClr val="B43E00"/>
      </a:accent1>
      <a:accent2>
        <a:srgbClr val="FFB347"/>
      </a:accent2>
      <a:accent3>
        <a:srgbClr val="44261A"/>
      </a:accent3>
      <a:accent4>
        <a:srgbClr val="E8CDB0"/>
      </a:accent4>
      <a:accent5>
        <a:srgbClr val="1D7A8C"/>
      </a:accent5>
      <a:accent6>
        <a:srgbClr val="E08A1E"/>
      </a:accent6>
      <a:hlink>
        <a:srgbClr val="0563C1"/>
      </a:hlink>
      <a:folHlink>
        <a:srgbClr val="954F72"/>
      </a:folHlink>
    </a:clrScheme>
    <a:fontScheme name="Energía solar térmic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Energía solar térmica</dc:title>
  <dc:subject/>
  <dc:creator/>
  <cp:lastModifiedBy/>
  <cp:revision>1</cp:revision>
  <dcterms:created xsi:type="dcterms:W3CDTF">2026-10-12T13:57:28Z</dcterms:created>
  <dcterms:modified xsi:type="dcterms:W3CDTF">2026-10-12T13:57:28Z</dcterms:modified>
</cp:coreProperties>
</file>